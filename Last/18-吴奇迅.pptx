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484848"/>
    <a:srgbClr val="555555"/>
    <a:srgbClr val="CF3B4C"/>
    <a:srgbClr val="344F66"/>
    <a:srgbClr val="444444"/>
    <a:srgbClr val="5E5E5E"/>
    <a:srgbClr val="355067"/>
    <a:srgbClr val="D03C4D"/>
    <a:srgbClr val="375269"/>
    <a:srgbClr val="38536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2382" autoAdjust="0"/>
    <p:restoredTop sz="96314" autoAdjust="0"/>
  </p:normalViewPr>
  <p:slideViewPr>
    <p:cSldViewPr snapToGrid="0">
      <p:cViewPr varScale="1">
        <p:scale>
          <a:sx n="84" d="100"/>
          <a:sy n="84" d="100"/>
        </p:scale>
        <p:origin x="576" y="120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5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986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9328C92E-F6BC-41C6-ADE4-045FC7806329}" type="datetimeFigureOut">
              <a:rPr altLang="en-US" lang="zh-CN" smtClean="0"/>
              <a:t>2025/12/11</a:t>
            </a:fld>
            <a:endParaRPr altLang="en-US" lang="zh-CN"/>
          </a:p>
        </p:txBody>
      </p:sp>
      <p:sp>
        <p:nvSpPr>
          <p:cNvPr id="1048987" name="幻灯片图像占位符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altLang="en-US" lang="zh-CN"/>
          </a:p>
        </p:txBody>
      </p:sp>
      <p:sp>
        <p:nvSpPr>
          <p:cNvPr id="1048988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989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990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5A4EA62F-52E9-49A1-AF7F-BFF2F138A557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图片 49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/>
          <a:srcRect l="6659" t="6677" r="6720" b="6693"/>
          <a:stretch>
            <a:fillRect/>
          </a:stretch>
        </p:blipFill>
        <p:spPr>
          <a:xfrm>
            <a:off x="-1" y="0"/>
            <a:ext cx="12192001" cy="6858000"/>
          </a:xfrm>
          <a:prstGeom prst="rect"/>
        </p:spPr>
      </p:pic>
      <p:grpSp>
        <p:nvGrpSpPr>
          <p:cNvPr id="55" name="组合 50"/>
          <p:cNvGrpSpPr/>
          <p:nvPr userDrawn="1"/>
        </p:nvGrpSpPr>
        <p:grpSpPr>
          <a:xfrm>
            <a:off x="-4151" y="6748272"/>
            <a:ext cx="3001030" cy="109728"/>
            <a:chOff x="0" y="0"/>
            <a:chExt cx="3001030" cy="109728"/>
          </a:xfrm>
        </p:grpSpPr>
        <p:sp>
          <p:nvSpPr>
            <p:cNvPr id="1048649" name="矩形 51"/>
            <p:cNvSpPr/>
            <p:nvPr/>
          </p:nvSpPr>
          <p:spPr>
            <a:xfrm flipV="1">
              <a:off x="0" y="0"/>
              <a:ext cx="1367596" cy="109728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  <p:sp>
          <p:nvSpPr>
            <p:cNvPr id="1048650" name="矩形 52"/>
            <p:cNvSpPr/>
            <p:nvPr/>
          </p:nvSpPr>
          <p:spPr>
            <a:xfrm flipV="1">
              <a:off x="1367596" y="0"/>
              <a:ext cx="1633434" cy="109728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</p:grpSp>
      <p:grpSp>
        <p:nvGrpSpPr>
          <p:cNvPr id="56" name="组合 53"/>
          <p:cNvGrpSpPr/>
          <p:nvPr userDrawn="1"/>
        </p:nvGrpSpPr>
        <p:grpSpPr>
          <a:xfrm>
            <a:off x="5993758" y="6748272"/>
            <a:ext cx="3001030" cy="109728"/>
            <a:chOff x="0" y="0"/>
            <a:chExt cx="3001030" cy="109728"/>
          </a:xfrm>
        </p:grpSpPr>
        <p:sp>
          <p:nvSpPr>
            <p:cNvPr id="1048651" name="矩形 54"/>
            <p:cNvSpPr/>
            <p:nvPr/>
          </p:nvSpPr>
          <p:spPr>
            <a:xfrm flipV="1">
              <a:off x="0" y="0"/>
              <a:ext cx="1367596" cy="109728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  <p:sp>
          <p:nvSpPr>
            <p:cNvPr id="1048652" name="矩形 55"/>
            <p:cNvSpPr/>
            <p:nvPr/>
          </p:nvSpPr>
          <p:spPr>
            <a:xfrm flipV="1">
              <a:off x="1367596" y="0"/>
              <a:ext cx="1633434" cy="109728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</p:grpSp>
      <p:grpSp>
        <p:nvGrpSpPr>
          <p:cNvPr id="57" name="组合 56"/>
          <p:cNvGrpSpPr/>
          <p:nvPr userDrawn="1"/>
        </p:nvGrpSpPr>
        <p:grpSpPr>
          <a:xfrm>
            <a:off x="2992728" y="6748272"/>
            <a:ext cx="3001030" cy="109728"/>
            <a:chOff x="0" y="0"/>
            <a:chExt cx="3001030" cy="109728"/>
          </a:xfrm>
        </p:grpSpPr>
        <p:sp>
          <p:nvSpPr>
            <p:cNvPr id="1048653" name="矩形 57"/>
            <p:cNvSpPr/>
            <p:nvPr/>
          </p:nvSpPr>
          <p:spPr>
            <a:xfrm flipV="1">
              <a:off x="0" y="0"/>
              <a:ext cx="1367596" cy="109728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  <p:sp>
          <p:nvSpPr>
            <p:cNvPr id="1048654" name="矩形 58"/>
            <p:cNvSpPr/>
            <p:nvPr/>
          </p:nvSpPr>
          <p:spPr>
            <a:xfrm flipV="1">
              <a:off x="1367596" y="0"/>
              <a:ext cx="1633434" cy="109728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</p:grpSp>
      <p:grpSp>
        <p:nvGrpSpPr>
          <p:cNvPr id="58" name="组合 59"/>
          <p:cNvGrpSpPr/>
          <p:nvPr userDrawn="1"/>
        </p:nvGrpSpPr>
        <p:grpSpPr>
          <a:xfrm>
            <a:off x="8994788" y="6748272"/>
            <a:ext cx="3197212" cy="109728"/>
            <a:chOff x="0" y="0"/>
            <a:chExt cx="3001030" cy="109728"/>
          </a:xfrm>
        </p:grpSpPr>
        <p:sp>
          <p:nvSpPr>
            <p:cNvPr id="1048655" name="矩形 60"/>
            <p:cNvSpPr/>
            <p:nvPr/>
          </p:nvSpPr>
          <p:spPr>
            <a:xfrm flipV="1">
              <a:off x="0" y="0"/>
              <a:ext cx="1367596" cy="109728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  <p:sp>
          <p:nvSpPr>
            <p:cNvPr id="1048656" name="矩形 61"/>
            <p:cNvSpPr/>
            <p:nvPr/>
          </p:nvSpPr>
          <p:spPr>
            <a:xfrm flipV="1">
              <a:off x="1367596" y="0"/>
              <a:ext cx="1633434" cy="109728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</p:grpSp>
      <p:pic>
        <p:nvPicPr>
          <p:cNvPr id="2097174" name="图片 62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-510284" y="-210898"/>
            <a:ext cx="2690446" cy="1513197"/>
          </a:xfrm>
          <a:prstGeom prst="rect"/>
        </p:spPr>
      </p:pic>
      <p:cxnSp>
        <p:nvCxnSpPr>
          <p:cNvPr id="3145728" name="直接连接符 18"/>
          <p:cNvCxnSpPr>
            <a:cxnSpLocks/>
          </p:cNvCxnSpPr>
          <p:nvPr userDrawn="1"/>
        </p:nvCxnSpPr>
        <p:spPr bwMode="auto">
          <a:xfrm>
            <a:off x="1145215" y="883628"/>
            <a:ext cx="9569060" cy="0"/>
          </a:xfrm>
          <a:prstGeom prst="line"/>
          <a:solidFill>
            <a:schemeClr val="accent1"/>
          </a:solidFill>
          <a:ln w="9525" cap="flat" cmpd="sng" algn="ctr">
            <a:solidFill>
              <a:srgbClr val="444444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C00F5-FCF0-4349-83A1-01C5FA13001E}" type="datetimeFigureOut">
              <a:rPr altLang="en-US" lang="zh-CN" smtClean="0"/>
              <a:t>2025/12/11</a:t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67CC6-4928-458E-94BA-DE18EA2C279C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3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l="6659" t="6677" r="6720" b="6693"/>
          <a:stretch>
            <a:fillRect/>
          </a:stretch>
        </p:blipFill>
        <p:spPr>
          <a:xfrm>
            <a:off x="-1" y="0"/>
            <a:ext cx="12192001" cy="6858000"/>
          </a:xfrm>
          <a:prstGeom prst="rect"/>
        </p:spPr>
      </p:pic>
      <p:pic>
        <p:nvPicPr>
          <p:cNvPr id="2097153" name="图片 6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2" cstate="print"/>
          <a:srcRect l="37397" t="24071" r="37290" b="24627"/>
          <a:stretch>
            <a:fillRect/>
          </a:stretch>
        </p:blipFill>
        <p:spPr>
          <a:xfrm>
            <a:off x="5424034" y="164902"/>
            <a:ext cx="1473200" cy="1679326"/>
          </a:xfrm>
          <a:prstGeom prst="rect"/>
        </p:spPr>
      </p:pic>
      <p:sp>
        <p:nvSpPr>
          <p:cNvPr id="1048581" name="文本框 16"/>
          <p:cNvSpPr txBox="1"/>
          <p:nvPr/>
        </p:nvSpPr>
        <p:spPr>
          <a:xfrm>
            <a:off x="1022558" y="1965349"/>
            <a:ext cx="10146878" cy="1691641"/>
          </a:xfrm>
          <a:prstGeom prst="rect"/>
          <a:noFill/>
        </p:spPr>
        <p:txBody>
          <a:bodyPr rtlCol="0" wrap="square">
            <a:spAutoFit/>
          </a:bodyPr>
          <a:p>
            <a:pPr algn="dist"/>
            <a:r>
              <a:rPr altLang="en-US" dirty="0" sz="5400" lang="zh-CN">
                <a:solidFill>
                  <a:srgbClr val="484848"/>
                </a:solidFill>
                <a:cs typeface="+mn-ea"/>
                <a:sym typeface="+mn-lt"/>
              </a:rPr>
              <a:t>基于</a:t>
            </a:r>
            <a:r>
              <a:rPr altLang="zh-CN" dirty="0" sz="5400" lang="en-US">
                <a:solidFill>
                  <a:srgbClr val="484848"/>
                </a:solidFill>
                <a:cs typeface="+mn-ea"/>
                <a:sym typeface="+mn-lt"/>
              </a:rPr>
              <a:t>unity</a:t>
            </a:r>
            <a:r>
              <a:rPr altLang="en-US" dirty="0" sz="5400" lang="zh-CN">
                <a:solidFill>
                  <a:srgbClr val="484848"/>
                </a:solidFill>
                <a:cs typeface="+mn-ea"/>
                <a:sym typeface="+mn-lt"/>
              </a:rPr>
              <a:t>的类银河恶魔城</a:t>
            </a:r>
            <a:endParaRPr altLang="zh-CN" dirty="0" sz="5400" lang="en-US">
              <a:solidFill>
                <a:srgbClr val="484848"/>
              </a:solidFill>
              <a:cs typeface="+mn-ea"/>
              <a:sym typeface="+mn-lt"/>
            </a:endParaRPr>
          </a:p>
          <a:p>
            <a:pPr algn="dist"/>
            <a:r>
              <a:rPr altLang="en-US" dirty="0" sz="5400" lang="zh-CN">
                <a:solidFill>
                  <a:srgbClr val="484848"/>
                </a:solidFill>
                <a:cs typeface="+mn-ea"/>
                <a:sym typeface="+mn-lt"/>
              </a:rPr>
              <a:t>游戏设计与实现</a:t>
            </a:r>
          </a:p>
        </p:txBody>
      </p:sp>
      <p:sp>
        <p:nvSpPr>
          <p:cNvPr id="1048582" name="文本框 17"/>
          <p:cNvSpPr txBox="1"/>
          <p:nvPr/>
        </p:nvSpPr>
        <p:spPr>
          <a:xfrm>
            <a:off x="2477068" y="4330970"/>
            <a:ext cx="7237857" cy="400110"/>
          </a:xfrm>
          <a:prstGeom prst="rect"/>
          <a:noFill/>
        </p:spPr>
        <p:txBody>
          <a:bodyPr rtlCol="0" wrap="square">
            <a:spAutoFit/>
          </a:bodyPr>
          <a:p>
            <a:pPr algn="dist"/>
            <a:r>
              <a:rPr altLang="zh-CN" dirty="0" sz="2000" lang="en-US">
                <a:solidFill>
                  <a:srgbClr val="484848"/>
                </a:solidFill>
                <a:cs typeface="+mn-ea"/>
                <a:sym typeface="+mn-lt"/>
              </a:rPr>
              <a:t>GRADUATION THESIS PROPOSAL</a:t>
            </a:r>
            <a:endParaRPr altLang="en-US" dirty="0" sz="2000" lang="zh-CN">
              <a:solidFill>
                <a:srgbClr val="484848"/>
              </a:solidFill>
              <a:cs typeface="+mn-ea"/>
              <a:sym typeface="+mn-lt"/>
            </a:endParaRPr>
          </a:p>
        </p:txBody>
      </p:sp>
      <p:sp>
        <p:nvSpPr>
          <p:cNvPr id="1048583" name="文本框 19"/>
          <p:cNvSpPr txBox="1"/>
          <p:nvPr/>
        </p:nvSpPr>
        <p:spPr>
          <a:xfrm>
            <a:off x="4384683" y="5702889"/>
            <a:ext cx="1717900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1400" lang="zh-CN">
                <a:solidFill>
                  <a:srgbClr val="484848"/>
                </a:solidFill>
                <a:cs typeface="+mn-ea"/>
                <a:sym typeface="+mn-lt"/>
              </a:rPr>
              <a:t>答辩人：吴奇迅</a:t>
            </a:r>
          </a:p>
        </p:txBody>
      </p:sp>
      <p:sp>
        <p:nvSpPr>
          <p:cNvPr id="1048584" name="文本框 20"/>
          <p:cNvSpPr txBox="1"/>
          <p:nvPr/>
        </p:nvSpPr>
        <p:spPr>
          <a:xfrm>
            <a:off x="7095221" y="5702889"/>
            <a:ext cx="1282465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1400" lang="zh-CN">
                <a:solidFill>
                  <a:srgbClr val="484848"/>
                </a:solidFill>
                <a:cs typeface="+mn-ea"/>
                <a:sym typeface="+mn-lt"/>
              </a:rPr>
              <a:t>导师：陈应霞</a:t>
            </a:r>
          </a:p>
        </p:txBody>
      </p:sp>
      <p:pic>
        <p:nvPicPr>
          <p:cNvPr id="2097154" name="图片 22"/>
          <p:cNvPicPr>
            <a:picLocks noChangeAspect="1"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6512247" y="5578010"/>
            <a:ext cx="769973" cy="433059"/>
          </a:xfrm>
          <a:prstGeom prst="rect"/>
        </p:spPr>
      </p:pic>
      <p:pic>
        <p:nvPicPr>
          <p:cNvPr id="2097155" name="图片 24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3736753" y="5578010"/>
            <a:ext cx="769257" cy="432656"/>
          </a:xfrm>
          <a:prstGeom prst="rect"/>
        </p:spPr>
      </p:pic>
      <p:grpSp>
        <p:nvGrpSpPr>
          <p:cNvPr id="18" name="组合 1"/>
          <p:cNvGrpSpPr/>
          <p:nvPr/>
        </p:nvGrpSpPr>
        <p:grpSpPr>
          <a:xfrm>
            <a:off x="-1" y="3989457"/>
            <a:ext cx="12195977" cy="71730"/>
            <a:chOff x="-1" y="3794229"/>
            <a:chExt cx="12195977" cy="71730"/>
          </a:xfrm>
        </p:grpSpPr>
        <p:sp>
          <p:nvSpPr>
            <p:cNvPr id="1048585" name="矩形 8"/>
            <p:cNvSpPr/>
            <p:nvPr/>
          </p:nvSpPr>
          <p:spPr>
            <a:xfrm>
              <a:off x="-1" y="3794229"/>
              <a:ext cx="1316485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586" name="矩形 9"/>
            <p:cNvSpPr/>
            <p:nvPr/>
          </p:nvSpPr>
          <p:spPr>
            <a:xfrm>
              <a:off x="1304630" y="3794229"/>
              <a:ext cx="1572388" cy="71730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587" name="矩形 25"/>
            <p:cNvSpPr/>
            <p:nvPr/>
          </p:nvSpPr>
          <p:spPr>
            <a:xfrm>
              <a:off x="2877018" y="3794229"/>
              <a:ext cx="1316485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588" name="矩形 26"/>
            <p:cNvSpPr/>
            <p:nvPr/>
          </p:nvSpPr>
          <p:spPr>
            <a:xfrm>
              <a:off x="4181649" y="3794229"/>
              <a:ext cx="1572388" cy="71730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589" name="矩形 27"/>
            <p:cNvSpPr/>
            <p:nvPr/>
          </p:nvSpPr>
          <p:spPr>
            <a:xfrm>
              <a:off x="5754037" y="3794229"/>
              <a:ext cx="1316485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590" name="矩形 28"/>
            <p:cNvSpPr/>
            <p:nvPr/>
          </p:nvSpPr>
          <p:spPr>
            <a:xfrm>
              <a:off x="7058668" y="3794229"/>
              <a:ext cx="1572388" cy="71730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591" name="矩形 29"/>
            <p:cNvSpPr/>
            <p:nvPr/>
          </p:nvSpPr>
          <p:spPr>
            <a:xfrm>
              <a:off x="8631056" y="3794229"/>
              <a:ext cx="1316485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592" name="矩形 30"/>
            <p:cNvSpPr/>
            <p:nvPr/>
          </p:nvSpPr>
          <p:spPr>
            <a:xfrm>
              <a:off x="9935687" y="3794229"/>
              <a:ext cx="1572388" cy="71730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593" name="矩形 31"/>
            <p:cNvSpPr/>
            <p:nvPr/>
          </p:nvSpPr>
          <p:spPr>
            <a:xfrm>
              <a:off x="11508076" y="3794229"/>
              <a:ext cx="687900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</p:grpSp>
      <p:pic>
        <p:nvPicPr>
          <p:cNvPr id="2097156" name="图片 7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209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1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7" tmFilter="0,0; .5, 1; 1, 1"/>
                                        <p:tgtEl>
                                          <p:spTgt spid="104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8">
                            <p:stCondLst>
                              <p:cond delay="2000"/>
                            </p:stCondLst>
                            <p:childTnLst>
                              <p:par>
                                <p:cTn fill="hold" id="19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23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5"/>
                                        <p:tgtEl>
                                          <p:spTgt spid="104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6">
                            <p:stCondLst>
                              <p:cond delay="3000"/>
                            </p:stCondLst>
                            <p:childTnLst>
                              <p:par>
                                <p:cTn fill="hold" grpId="0" id="27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9"/>
                                        <p:tgtEl>
                                          <p:spTgt spid="1048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3"/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4"/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7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8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3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1"/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2"/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1" grpId="0"/>
      <p:bldP spid="1048582" grpId="0"/>
      <p:bldP spid="1048583" grpId="0"/>
      <p:bldP spid="104858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图片 66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l="6659" t="6677" r="6720" b="6693"/>
          <a:stretch>
            <a:fillRect/>
          </a:stretch>
        </p:blipFill>
        <p:spPr>
          <a:xfrm>
            <a:off x="-1" y="0"/>
            <a:ext cx="12192001" cy="6858000"/>
          </a:xfrm>
          <a:prstGeom prst="rect"/>
        </p:spPr>
      </p:pic>
      <p:pic>
        <p:nvPicPr>
          <p:cNvPr id="2097158" name="图片 3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2" cstate="print"/>
          <a:srcRect l="37397" t="24071" r="37290" b="24627"/>
          <a:stretch>
            <a:fillRect/>
          </a:stretch>
        </p:blipFill>
        <p:spPr>
          <a:xfrm>
            <a:off x="1745762" y="1220061"/>
            <a:ext cx="1473200" cy="1679326"/>
          </a:xfrm>
          <a:prstGeom prst="rect"/>
        </p:spPr>
      </p:pic>
      <p:sp>
        <p:nvSpPr>
          <p:cNvPr id="1048594" name="文本框 4"/>
          <p:cNvSpPr txBox="1"/>
          <p:nvPr/>
        </p:nvSpPr>
        <p:spPr>
          <a:xfrm>
            <a:off x="1542292" y="3330211"/>
            <a:ext cx="2055986" cy="1069340"/>
          </a:xfrm>
          <a:prstGeom prst="rect"/>
          <a:noFill/>
        </p:spPr>
        <p:txBody>
          <a:bodyPr rtlCol="0" wrap="square">
            <a:spAutoFit/>
          </a:bodyPr>
          <a:p>
            <a:pPr algn="dist"/>
            <a:r>
              <a:rPr altLang="en-US" b="1" dirty="0" sz="6600" lang="zh-CN">
                <a:solidFill>
                  <a:srgbClr val="484848"/>
                </a:solidFill>
                <a:cs typeface="+mn-ea"/>
                <a:sym typeface="+mn-lt"/>
              </a:rPr>
              <a:t>目录</a:t>
            </a:r>
          </a:p>
        </p:txBody>
      </p:sp>
      <p:pic>
        <p:nvPicPr>
          <p:cNvPr id="2097159" name="图片 22"/>
          <p:cNvPicPr>
            <a:picLocks noChangeAspect="1"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5618775" y="2059724"/>
            <a:ext cx="625231" cy="625231"/>
          </a:xfrm>
          <a:prstGeom prst="rect"/>
        </p:spPr>
      </p:pic>
      <p:pic>
        <p:nvPicPr>
          <p:cNvPr id="2097160" name="图片 23"/>
          <p:cNvPicPr>
            <a:picLocks noChangeAspect="1"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5627076" y="894137"/>
            <a:ext cx="625231" cy="625231"/>
          </a:xfrm>
          <a:prstGeom prst="rect"/>
        </p:spPr>
      </p:pic>
      <p:pic>
        <p:nvPicPr>
          <p:cNvPr id="2097161" name="图片 24"/>
          <p:cNvPicPr>
            <a:picLocks noChangeAspect="1"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5627309" y="3507018"/>
            <a:ext cx="625231" cy="625231"/>
          </a:xfrm>
          <a:prstGeom prst="rect"/>
        </p:spPr>
      </p:pic>
      <p:pic>
        <p:nvPicPr>
          <p:cNvPr id="2097162" name="图片 25"/>
          <p:cNvPicPr>
            <a:picLocks noChangeAspect="1"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5627076" y="4713401"/>
            <a:ext cx="625231" cy="625231"/>
          </a:xfrm>
          <a:prstGeom prst="rect"/>
        </p:spPr>
      </p:pic>
      <p:grpSp>
        <p:nvGrpSpPr>
          <p:cNvPr id="27" name="组合 29"/>
          <p:cNvGrpSpPr/>
          <p:nvPr/>
        </p:nvGrpSpPr>
        <p:grpSpPr>
          <a:xfrm>
            <a:off x="-4151" y="0"/>
            <a:ext cx="12196151" cy="6858000"/>
            <a:chOff x="-4151" y="0"/>
            <a:chExt cx="12196151" cy="6858000"/>
          </a:xfrm>
        </p:grpSpPr>
        <p:grpSp>
          <p:nvGrpSpPr>
            <p:cNvPr id="28" name="组合 30"/>
            <p:cNvGrpSpPr/>
            <p:nvPr/>
          </p:nvGrpSpPr>
          <p:grpSpPr>
            <a:xfrm>
              <a:off x="0" y="0"/>
              <a:ext cx="3001030" cy="109728"/>
              <a:chOff x="0" y="0"/>
              <a:chExt cx="3001030" cy="109728"/>
            </a:xfrm>
          </p:grpSpPr>
          <p:sp>
            <p:nvSpPr>
              <p:cNvPr id="1048595" name="矩形 6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596" name="矩形 6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29" name="组合 31"/>
            <p:cNvGrpSpPr/>
            <p:nvPr/>
          </p:nvGrpSpPr>
          <p:grpSpPr>
            <a:xfrm>
              <a:off x="8994788" y="0"/>
              <a:ext cx="3197212" cy="109728"/>
              <a:chOff x="0" y="0"/>
              <a:chExt cx="3001030" cy="109728"/>
            </a:xfrm>
          </p:grpSpPr>
          <p:sp>
            <p:nvSpPr>
              <p:cNvPr id="1048597" name="矩形 6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598" name="矩形 6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0" name="组合 32"/>
            <p:cNvGrpSpPr/>
            <p:nvPr/>
          </p:nvGrpSpPr>
          <p:grpSpPr>
            <a:xfrm>
              <a:off x="5997909" y="0"/>
              <a:ext cx="3001030" cy="109728"/>
              <a:chOff x="0" y="0"/>
              <a:chExt cx="3001030" cy="109728"/>
            </a:xfrm>
          </p:grpSpPr>
          <p:sp>
            <p:nvSpPr>
              <p:cNvPr id="1048599" name="矩形 6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00" name="矩形 6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组合 33"/>
            <p:cNvGrpSpPr/>
            <p:nvPr/>
          </p:nvGrpSpPr>
          <p:grpSpPr>
            <a:xfrm>
              <a:off x="2996879" y="0"/>
              <a:ext cx="3001030" cy="109728"/>
              <a:chOff x="0" y="0"/>
              <a:chExt cx="3001030" cy="109728"/>
            </a:xfrm>
          </p:grpSpPr>
          <p:sp>
            <p:nvSpPr>
              <p:cNvPr id="1048601" name="矩形 5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02" name="矩形 5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2" name="组合 34"/>
            <p:cNvGrpSpPr/>
            <p:nvPr/>
          </p:nvGrpSpPr>
          <p:grpSpPr>
            <a:xfrm>
              <a:off x="-4151" y="6748272"/>
              <a:ext cx="3001030" cy="109728"/>
              <a:chOff x="0" y="0"/>
              <a:chExt cx="3001030" cy="109728"/>
            </a:xfrm>
          </p:grpSpPr>
          <p:sp>
            <p:nvSpPr>
              <p:cNvPr id="1048603" name="矩形 5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04" name="矩形 5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3" name="组合 35"/>
            <p:cNvGrpSpPr/>
            <p:nvPr/>
          </p:nvGrpSpPr>
          <p:grpSpPr>
            <a:xfrm>
              <a:off x="5993758" y="6748272"/>
              <a:ext cx="3001030" cy="109728"/>
              <a:chOff x="0" y="0"/>
              <a:chExt cx="3001030" cy="109728"/>
            </a:xfrm>
          </p:grpSpPr>
          <p:sp>
            <p:nvSpPr>
              <p:cNvPr id="1048605" name="矩形 5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06" name="矩形 5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组合 36"/>
            <p:cNvGrpSpPr/>
            <p:nvPr/>
          </p:nvGrpSpPr>
          <p:grpSpPr>
            <a:xfrm>
              <a:off x="2992728" y="6748272"/>
              <a:ext cx="3001030" cy="109728"/>
              <a:chOff x="0" y="0"/>
              <a:chExt cx="3001030" cy="109728"/>
            </a:xfrm>
          </p:grpSpPr>
          <p:sp>
            <p:nvSpPr>
              <p:cNvPr id="1048607" name="矩形 5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08" name="矩形 5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组合 37"/>
            <p:cNvGrpSpPr/>
            <p:nvPr/>
          </p:nvGrpSpPr>
          <p:grpSpPr>
            <a:xfrm>
              <a:off x="8994788" y="6748272"/>
              <a:ext cx="3197212" cy="109728"/>
              <a:chOff x="0" y="0"/>
              <a:chExt cx="3001030" cy="109728"/>
            </a:xfrm>
          </p:grpSpPr>
          <p:sp>
            <p:nvSpPr>
              <p:cNvPr id="1048609" name="矩形 5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10" name="矩形 5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组合 38"/>
            <p:cNvGrpSpPr/>
            <p:nvPr/>
          </p:nvGrpSpPr>
          <p:grpSpPr>
            <a:xfrm rot="16200000">
              <a:off x="-1543742" y="1653470"/>
              <a:ext cx="3197212" cy="109728"/>
              <a:chOff x="0" y="0"/>
              <a:chExt cx="3001030" cy="109728"/>
            </a:xfrm>
          </p:grpSpPr>
          <p:sp>
            <p:nvSpPr>
              <p:cNvPr id="1048611" name="矩形 4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12" name="矩形 4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7" name="组合 39"/>
            <p:cNvGrpSpPr/>
            <p:nvPr/>
          </p:nvGrpSpPr>
          <p:grpSpPr>
            <a:xfrm rot="16200000">
              <a:off x="-1667877" y="4970666"/>
              <a:ext cx="3441332" cy="113879"/>
              <a:chOff x="0" y="0"/>
              <a:chExt cx="3001030" cy="109728"/>
            </a:xfrm>
          </p:grpSpPr>
          <p:sp>
            <p:nvSpPr>
              <p:cNvPr id="1048613" name="矩形 4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14" name="矩形 4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40"/>
            <p:cNvGrpSpPr/>
            <p:nvPr/>
          </p:nvGrpSpPr>
          <p:grpSpPr>
            <a:xfrm rot="16200000">
              <a:off x="10538530" y="1653470"/>
              <a:ext cx="3197212" cy="109728"/>
              <a:chOff x="0" y="0"/>
              <a:chExt cx="3001030" cy="109728"/>
            </a:xfrm>
          </p:grpSpPr>
          <p:sp>
            <p:nvSpPr>
              <p:cNvPr id="1048615" name="矩形 4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16" name="矩形 4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39" name="组合 41"/>
            <p:cNvGrpSpPr/>
            <p:nvPr/>
          </p:nvGrpSpPr>
          <p:grpSpPr>
            <a:xfrm rot="16200000">
              <a:off x="10414395" y="4970666"/>
              <a:ext cx="3441332" cy="113879"/>
              <a:chOff x="0" y="0"/>
              <a:chExt cx="3001030" cy="109728"/>
            </a:xfrm>
          </p:grpSpPr>
          <p:sp>
            <p:nvSpPr>
              <p:cNvPr id="1048617" name="矩形 4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18" name="矩形 4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097163" name="图片 67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>
            <a:duotone>
              <a:prstClr val="black"/>
              <a:srgbClr val="38536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194092" y="1590572"/>
            <a:ext cx="5301002" cy="145020"/>
          </a:xfrm>
          <a:prstGeom prst="rect"/>
        </p:spPr>
      </p:pic>
      <p:sp>
        <p:nvSpPr>
          <p:cNvPr id="1048619" name="TextBox 47"/>
          <p:cNvSpPr txBox="1"/>
          <p:nvPr/>
        </p:nvSpPr>
        <p:spPr>
          <a:xfrm>
            <a:off x="6606855" y="989107"/>
            <a:ext cx="5112568" cy="52322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研究背景与意义</a:t>
            </a:r>
          </a:p>
        </p:txBody>
      </p:sp>
      <p:sp>
        <p:nvSpPr>
          <p:cNvPr id="1048620" name="TextBox 48"/>
          <p:cNvSpPr txBox="1"/>
          <p:nvPr/>
        </p:nvSpPr>
        <p:spPr>
          <a:xfrm>
            <a:off x="6606855" y="2161735"/>
            <a:ext cx="5112568" cy="52322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2800" lang="zh-CN">
                <a:solidFill>
                  <a:srgbClr val="484848"/>
                </a:solidFill>
                <a:latin typeface="+mn-lt"/>
                <a:ea typeface="+mn-ea"/>
                <a:cs typeface="+mn-ea"/>
              </a:rPr>
              <a:t>研究目标与研究思路</a:t>
            </a:r>
            <a:endParaRPr altLang="en-US" dirty="0" sz="2800" lang="zh-CN">
              <a:solidFill>
                <a:srgbClr val="48484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621" name="TextBox 55"/>
          <p:cNvSpPr txBox="1"/>
          <p:nvPr/>
        </p:nvSpPr>
        <p:spPr>
          <a:xfrm>
            <a:off x="6606855" y="3564334"/>
            <a:ext cx="5112568" cy="52322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28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理论基础与研究内容</a:t>
            </a:r>
          </a:p>
        </p:txBody>
      </p:sp>
      <p:sp>
        <p:nvSpPr>
          <p:cNvPr id="1048622" name="TextBox 56"/>
          <p:cNvSpPr txBox="1"/>
          <p:nvPr/>
        </p:nvSpPr>
        <p:spPr>
          <a:xfrm>
            <a:off x="6606855" y="4800053"/>
            <a:ext cx="5112568" cy="52322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sz="28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技术路线与进度安排</a:t>
            </a:r>
            <a:endParaRPr altLang="en-US" dirty="0" sz="2800" lang="zh-CN">
              <a:solidFill>
                <a:srgbClr val="484848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097164" name="图片 74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94092" y="2901179"/>
            <a:ext cx="5301002" cy="145020"/>
          </a:xfrm>
          <a:prstGeom prst="rect"/>
        </p:spPr>
      </p:pic>
      <p:pic>
        <p:nvPicPr>
          <p:cNvPr id="2097165" name="图片 75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94092" y="4265103"/>
            <a:ext cx="5301002" cy="145020"/>
          </a:xfrm>
          <a:prstGeom prst="rect"/>
        </p:spPr>
      </p:pic>
      <p:pic>
        <p:nvPicPr>
          <p:cNvPr id="2097166" name="图片 76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94092" y="5509411"/>
            <a:ext cx="5301002" cy="145020"/>
          </a:xfrm>
          <a:prstGeom prst="rect"/>
        </p:spPr>
      </p:pic>
      <p:pic>
        <p:nvPicPr>
          <p:cNvPr id="2097167" name="图片 5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2000"/>
                            </p:stCondLst>
                            <p:childTnLst>
                              <p:par>
                                <p:cTn fill="hold" id="9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209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15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1" tmFilter="0,0; .5, 1; 1, 1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>
                            <p:stCondLst>
                              <p:cond delay="3050"/>
                            </p:stCondLst>
                            <p:childTnLst>
                              <p:par>
                                <p:cTn fill="hold" id="23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5"/>
                                        <p:tgtEl>
                                          <p:spTgt spid="209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6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1000" id="28"/>
                                        <p:tgtEl>
                                          <p:spTgt spid="209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accel="50000" decel="50000" fill="hold" id="29" nodeType="withEffect" presetClass="path" presetID="63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0118 L 0.47487 0.0118 " pathEditMode="relative" rAng="0" ptsTypes="AA">
                                      <p:cBhvr>
                                        <p:cTn dur="1000" fill="hold" id="30"/>
                                        <p:tgtEl>
                                          <p:spTgt spid="2097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1">
                            <p:stCondLst>
                              <p:cond delay="4050"/>
                            </p:stCondLst>
                            <p:childTnLst>
                              <p:par>
                                <p:cTn fill="hold" grpId="0" id="32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4"/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5"/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6"/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7"/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8" tmFilter="0,0; .5, 1; 1, 1"/>
                                        <p:tgtEl>
                                          <p:spTgt spid="104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9">
                            <p:stCondLst>
                              <p:cond delay="4850"/>
                            </p:stCondLst>
                            <p:childTnLst>
                              <p:par>
                                <p:cTn fill="hold" id="40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2"/>
                                        <p:tgtEl>
                                          <p:spTgt spid="209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3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1000" id="45"/>
                                        <p:tgtEl>
                                          <p:spTgt spid="209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accel="50000" decel="50000" fill="hold" id="46" nodeType="withEffect" presetClass="path" presetID="63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47409 4.07407E-6 " pathEditMode="relative" rAng="0" ptsTypes="AA">
                                      <p:cBhvr>
                                        <p:cTn dur="1000" fill="hold" id="47"/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8">
                            <p:stCondLst>
                              <p:cond delay="5850"/>
                            </p:stCondLst>
                            <p:childTnLst>
                              <p:par>
                                <p:cTn fill="hold" grpId="0" id="49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1"/>
                                        <p:tgtEl>
                                          <p:spTgt spid="1048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2"/>
                                        <p:tgtEl>
                                          <p:spTgt spid="1048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3"/>
                                        <p:tgtEl>
                                          <p:spTgt spid="1048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4"/>
                                        <p:tgtEl>
                                          <p:spTgt spid="1048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5" tmFilter="0,0; .5, 1; 1, 1"/>
                                        <p:tgtEl>
                                          <p:spTgt spid="104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6">
                            <p:stCondLst>
                              <p:cond delay="6750"/>
                            </p:stCondLst>
                            <p:childTnLst>
                              <p:par>
                                <p:cTn fill="hold" id="5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59"/>
                                        <p:tgtEl>
                                          <p:spTgt spid="209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60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1000" id="62"/>
                                        <p:tgtEl>
                                          <p:spTgt spid="209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accel="50000" decel="50000" fill="hold" id="63" nodeType="withEffect" presetClass="path" presetID="63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47409 4.07407E-6 " pathEditMode="relative" rAng="0" ptsTypes="AA">
                                      <p:cBhvr>
                                        <p:cTn dur="1000" fill="hold" id="64"/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5">
                            <p:stCondLst>
                              <p:cond delay="7750"/>
                            </p:stCondLst>
                            <p:childTnLst>
                              <p:par>
                                <p:cTn fill="hold" grpId="0" id="66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68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69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70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71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72" tmFilter="0,0; .5, 1; 1, 1"/>
                                        <p:tgtEl>
                                          <p:spTgt spid="104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3">
                            <p:stCondLst>
                              <p:cond delay="8650"/>
                            </p:stCondLst>
                            <p:childTnLst>
                              <p:par>
                                <p:cTn fill="hold" id="74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6"/>
                                        <p:tgtEl>
                                          <p:spTgt spid="209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1000" id="79"/>
                                        <p:tgtEl>
                                          <p:spTgt spid="209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accel="50000" decel="50000" fill="hold" id="80" nodeType="withEffect" presetClass="path" presetID="63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47409 4.07407E-6 " pathEditMode="relative" rAng="0" ptsTypes="AA">
                                      <p:cBhvr>
                                        <p:cTn dur="1000" fill="hold" id="81"/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2">
                            <p:stCondLst>
                              <p:cond delay="9650"/>
                            </p:stCondLst>
                            <p:childTnLst>
                              <p:par>
                                <p:cTn fill="hold" grpId="0" id="83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8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85"/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6"/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7"/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8"/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89" tmFilter="0,0; .5, 1; 1, 1"/>
                                        <p:tgtEl>
                                          <p:spTgt spid="104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4" grpId="0"/>
      <p:bldP spid="1048619" grpId="0"/>
      <p:bldP spid="1048620" grpId="0"/>
      <p:bldP spid="1048621" grpId="0"/>
      <p:bldP spid="10486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图片 5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l="6659" t="6677" r="6720" b="6693"/>
          <a:stretch>
            <a:fillRect/>
          </a:stretch>
        </p:blipFill>
        <p:spPr>
          <a:xfrm>
            <a:off x="-1" y="0"/>
            <a:ext cx="12192001" cy="6858000"/>
          </a:xfrm>
          <a:prstGeom prst="rect"/>
        </p:spPr>
      </p:pic>
      <p:pic>
        <p:nvPicPr>
          <p:cNvPr id="2097169" name="图片 4"/>
          <p:cNvPicPr>
            <a:picLocks noChangeAspect="1"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9274592" y="6060713"/>
            <a:ext cx="2734062" cy="539497"/>
          </a:xfrm>
          <a:prstGeom prst="rect"/>
        </p:spPr>
      </p:pic>
      <p:pic>
        <p:nvPicPr>
          <p:cNvPr id="2097170" name="图片 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3" cstate="print"/>
          <a:srcRect l="36510" t="24114" r="34678" b="22737"/>
          <a:stretch>
            <a:fillRect/>
          </a:stretch>
        </p:blipFill>
        <p:spPr>
          <a:xfrm>
            <a:off x="1651394" y="1134208"/>
            <a:ext cx="2094129" cy="2172731"/>
          </a:xfrm>
          <a:prstGeom prst="rect"/>
        </p:spPr>
      </p:pic>
      <p:sp>
        <p:nvSpPr>
          <p:cNvPr id="1048623" name="TextBox 12"/>
          <p:cNvSpPr txBox="1"/>
          <p:nvPr/>
        </p:nvSpPr>
        <p:spPr>
          <a:xfrm>
            <a:off x="2472996" y="1849942"/>
            <a:ext cx="8067610" cy="106934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ctr">
              <a:defRPr b="1"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66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第一部分</a:t>
            </a:r>
          </a:p>
        </p:txBody>
      </p:sp>
      <p:grpSp>
        <p:nvGrpSpPr>
          <p:cNvPr id="41" name="组合 17"/>
          <p:cNvGrpSpPr/>
          <p:nvPr/>
        </p:nvGrpSpPr>
        <p:grpSpPr>
          <a:xfrm>
            <a:off x="-4151" y="0"/>
            <a:ext cx="12196151" cy="6858000"/>
            <a:chOff x="-4151" y="0"/>
            <a:chExt cx="12196151" cy="6858000"/>
          </a:xfrm>
        </p:grpSpPr>
        <p:grpSp>
          <p:nvGrpSpPr>
            <p:cNvPr id="42" name="组合 18"/>
            <p:cNvGrpSpPr/>
            <p:nvPr/>
          </p:nvGrpSpPr>
          <p:grpSpPr>
            <a:xfrm>
              <a:off x="0" y="0"/>
              <a:ext cx="3001030" cy="109728"/>
              <a:chOff x="0" y="0"/>
              <a:chExt cx="3001030" cy="109728"/>
            </a:xfrm>
          </p:grpSpPr>
          <p:sp>
            <p:nvSpPr>
              <p:cNvPr id="1048624" name="矩形 5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25" name="矩形 5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43" name="组合 19"/>
            <p:cNvGrpSpPr/>
            <p:nvPr/>
          </p:nvGrpSpPr>
          <p:grpSpPr>
            <a:xfrm>
              <a:off x="8994788" y="0"/>
              <a:ext cx="3197212" cy="109728"/>
              <a:chOff x="0" y="0"/>
              <a:chExt cx="3001030" cy="109728"/>
            </a:xfrm>
          </p:grpSpPr>
          <p:sp>
            <p:nvSpPr>
              <p:cNvPr id="1048626" name="矩形 5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27" name="矩形 5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44" name="组合 20"/>
            <p:cNvGrpSpPr/>
            <p:nvPr/>
          </p:nvGrpSpPr>
          <p:grpSpPr>
            <a:xfrm>
              <a:off x="5997909" y="0"/>
              <a:ext cx="3001030" cy="109728"/>
              <a:chOff x="0" y="0"/>
              <a:chExt cx="3001030" cy="109728"/>
            </a:xfrm>
          </p:grpSpPr>
          <p:sp>
            <p:nvSpPr>
              <p:cNvPr id="1048628" name="矩形 4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29" name="矩形 4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45" name="组合 21"/>
            <p:cNvGrpSpPr/>
            <p:nvPr/>
          </p:nvGrpSpPr>
          <p:grpSpPr>
            <a:xfrm>
              <a:off x="2996879" y="0"/>
              <a:ext cx="3001030" cy="109728"/>
              <a:chOff x="0" y="0"/>
              <a:chExt cx="3001030" cy="109728"/>
            </a:xfrm>
          </p:grpSpPr>
          <p:sp>
            <p:nvSpPr>
              <p:cNvPr id="1048630" name="矩形 4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31" name="矩形 4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46" name="组合 22"/>
            <p:cNvGrpSpPr/>
            <p:nvPr/>
          </p:nvGrpSpPr>
          <p:grpSpPr>
            <a:xfrm>
              <a:off x="-4151" y="6748272"/>
              <a:ext cx="3001030" cy="109728"/>
              <a:chOff x="0" y="0"/>
              <a:chExt cx="3001030" cy="109728"/>
            </a:xfrm>
          </p:grpSpPr>
          <p:sp>
            <p:nvSpPr>
              <p:cNvPr id="1048632" name="矩形 4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33" name="矩形 4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47" name="组合 23"/>
            <p:cNvGrpSpPr/>
            <p:nvPr/>
          </p:nvGrpSpPr>
          <p:grpSpPr>
            <a:xfrm>
              <a:off x="5993758" y="6748272"/>
              <a:ext cx="3001030" cy="109728"/>
              <a:chOff x="0" y="0"/>
              <a:chExt cx="3001030" cy="109728"/>
            </a:xfrm>
          </p:grpSpPr>
          <p:sp>
            <p:nvSpPr>
              <p:cNvPr id="1048634" name="矩形 4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35" name="矩形 4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24"/>
            <p:cNvGrpSpPr/>
            <p:nvPr/>
          </p:nvGrpSpPr>
          <p:grpSpPr>
            <a:xfrm>
              <a:off x="2992728" y="6748272"/>
              <a:ext cx="3001030" cy="109728"/>
              <a:chOff x="0" y="0"/>
              <a:chExt cx="3001030" cy="109728"/>
            </a:xfrm>
          </p:grpSpPr>
          <p:sp>
            <p:nvSpPr>
              <p:cNvPr id="1048636" name="矩形 4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37" name="矩形 4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49" name="组合 25"/>
            <p:cNvGrpSpPr/>
            <p:nvPr/>
          </p:nvGrpSpPr>
          <p:grpSpPr>
            <a:xfrm>
              <a:off x="8994788" y="6748272"/>
              <a:ext cx="3197212" cy="109728"/>
              <a:chOff x="0" y="0"/>
              <a:chExt cx="3001030" cy="109728"/>
            </a:xfrm>
          </p:grpSpPr>
          <p:sp>
            <p:nvSpPr>
              <p:cNvPr id="1048638" name="矩形 3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39" name="矩形 3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50" name="组合 26"/>
            <p:cNvGrpSpPr/>
            <p:nvPr/>
          </p:nvGrpSpPr>
          <p:grpSpPr>
            <a:xfrm rot="16200000">
              <a:off x="-1543742" y="1653470"/>
              <a:ext cx="3197212" cy="109728"/>
              <a:chOff x="0" y="0"/>
              <a:chExt cx="3001030" cy="109728"/>
            </a:xfrm>
          </p:grpSpPr>
          <p:sp>
            <p:nvSpPr>
              <p:cNvPr id="1048640" name="矩形 3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41" name="矩形 3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27"/>
            <p:cNvGrpSpPr/>
            <p:nvPr/>
          </p:nvGrpSpPr>
          <p:grpSpPr>
            <a:xfrm rot="16200000">
              <a:off x="-1667877" y="4970666"/>
              <a:ext cx="3441332" cy="113879"/>
              <a:chOff x="0" y="0"/>
              <a:chExt cx="3001030" cy="109728"/>
            </a:xfrm>
          </p:grpSpPr>
          <p:sp>
            <p:nvSpPr>
              <p:cNvPr id="1048642" name="矩形 3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43" name="矩形 3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52" name="组合 28"/>
            <p:cNvGrpSpPr/>
            <p:nvPr/>
          </p:nvGrpSpPr>
          <p:grpSpPr>
            <a:xfrm rot="16200000">
              <a:off x="10538530" y="1653470"/>
              <a:ext cx="3197212" cy="109728"/>
              <a:chOff x="0" y="0"/>
              <a:chExt cx="3001030" cy="109728"/>
            </a:xfrm>
          </p:grpSpPr>
          <p:sp>
            <p:nvSpPr>
              <p:cNvPr id="1048644" name="矩形 3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45" name="矩形 3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53" name="组合 29"/>
            <p:cNvGrpSpPr/>
            <p:nvPr/>
          </p:nvGrpSpPr>
          <p:grpSpPr>
            <a:xfrm rot="16200000">
              <a:off x="10414395" y="4970666"/>
              <a:ext cx="3441332" cy="113879"/>
              <a:chOff x="0" y="0"/>
              <a:chExt cx="3001030" cy="109728"/>
            </a:xfrm>
          </p:grpSpPr>
          <p:sp>
            <p:nvSpPr>
              <p:cNvPr id="1048646" name="矩形 3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647" name="矩形 3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097171" name="图片 54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>
            <a:duotone>
              <a:prstClr val="black"/>
              <a:srgbClr val="38536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856300" y="2960980"/>
            <a:ext cx="5301002" cy="145020"/>
          </a:xfrm>
          <a:prstGeom prst="rect"/>
        </p:spPr>
      </p:pic>
      <p:sp>
        <p:nvSpPr>
          <p:cNvPr id="1048648" name="TextBox 12"/>
          <p:cNvSpPr txBox="1"/>
          <p:nvPr/>
        </p:nvSpPr>
        <p:spPr>
          <a:xfrm>
            <a:off x="2232214" y="3346064"/>
            <a:ext cx="8067610" cy="106934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ctr">
              <a:defRPr b="1"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66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研究背景及意义</a:t>
            </a:r>
          </a:p>
        </p:txBody>
      </p:sp>
      <p:pic>
        <p:nvPicPr>
          <p:cNvPr id="2097172" name="图片 2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2000"/>
                            </p:stCondLst>
                            <p:childTnLst>
                              <p:par>
                                <p:cTn fill="hold" id="9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209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15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9"/>
                                        <p:tgtEl>
                                          <p:spTgt spid="104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0">
                            <p:stCondLst>
                              <p:cond delay="3000"/>
                            </p:stCondLst>
                            <p:childTnLst>
                              <p:par>
                                <p:cTn fill="hold" id="21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3"/>
                                        <p:tgtEl>
                                          <p:spTgt spid="209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3500"/>
                            </p:stCondLst>
                            <p:childTnLst>
                              <p:par>
                                <p:cTn fill="hold" grpId="0" id="25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1" tmFilter="0,0; .5, 1; 1, 1"/>
                                        <p:tgtEl>
                                          <p:spTgt spid="104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2">
                            <p:stCondLst>
                              <p:cond delay="4300"/>
                            </p:stCondLst>
                            <p:childTnLst>
                              <p:par>
                                <p:cTn fill="hold" id="33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5"/>
                                        <p:tgtEl>
                                          <p:spTgt spid="209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3" grpId="0"/>
      <p:bldP spid="10486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等腰三角形 45"/>
          <p:cNvSpPr/>
          <p:nvPr/>
        </p:nvSpPr>
        <p:spPr>
          <a:xfrm>
            <a:off x="1535744" y="3799455"/>
            <a:ext cx="1773057" cy="1201944"/>
          </a:xfrm>
          <a:custGeom>
            <a:avLst/>
            <a:ahLst/>
            <a:rect l="l" t="t" r="r" b="b"/>
            <a:pathLst>
              <a:path w="1773057" h="959867">
                <a:moveTo>
                  <a:pt x="886528" y="0"/>
                </a:moveTo>
                <a:lnTo>
                  <a:pt x="953045" y="84733"/>
                </a:lnTo>
                <a:lnTo>
                  <a:pt x="1627198" y="84733"/>
                </a:lnTo>
                <a:cubicBezTo>
                  <a:pt x="1707754" y="84733"/>
                  <a:pt x="1773057" y="150036"/>
                  <a:pt x="1773057" y="230592"/>
                </a:cubicBezTo>
                <a:lnTo>
                  <a:pt x="1773057" y="814008"/>
                </a:lnTo>
                <a:cubicBezTo>
                  <a:pt x="1773057" y="894564"/>
                  <a:pt x="1707754" y="959867"/>
                  <a:pt x="1627198" y="959867"/>
                </a:cubicBezTo>
                <a:lnTo>
                  <a:pt x="145859" y="959867"/>
                </a:lnTo>
                <a:cubicBezTo>
                  <a:pt x="65303" y="959867"/>
                  <a:pt x="0" y="894564"/>
                  <a:pt x="0" y="814008"/>
                </a:cubicBezTo>
                <a:lnTo>
                  <a:pt x="0" y="230592"/>
                </a:lnTo>
                <a:cubicBezTo>
                  <a:pt x="0" y="150036"/>
                  <a:pt x="65303" y="84733"/>
                  <a:pt x="145859" y="84733"/>
                </a:cubicBezTo>
                <a:lnTo>
                  <a:pt x="820011" y="84733"/>
                </a:lnTo>
                <a:close/>
              </a:path>
            </a:pathLst>
          </a:custGeom>
          <a:noFill/>
          <a:ln w="12700">
            <a:solidFill>
              <a:srgbClr val="344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58" name="TextBox 2"/>
          <p:cNvSpPr txBox="1"/>
          <p:nvPr/>
        </p:nvSpPr>
        <p:spPr>
          <a:xfrm>
            <a:off x="1489837" y="5192042"/>
            <a:ext cx="9737489" cy="477951"/>
          </a:xfrm>
          <a:prstGeom prst="rect"/>
          <a:noFill/>
        </p:spPr>
        <p:txBody>
          <a:bodyPr bIns="0" lIns="0" rIns="0" rtlCol="0" tIns="0" wrap="square">
            <a:spAutoFit/>
          </a:bodyPr>
          <a:p>
            <a:pPr algn="just">
              <a:lnSpc>
                <a:spcPct val="150000"/>
              </a:lnSpc>
            </a:pPr>
            <a:r>
              <a:rPr altLang="en-US" dirty="0" sz="1100" lang="zh-CN"/>
              <a:t>综上，可以看出中国游戏行业持续增长且逐步进入精品化阶段，类银河恶魔城赛道用户规模扩张、增长率高、留存表现亮眼，且国内优质内容供给不足。开发一款基于</a:t>
            </a:r>
            <a:r>
              <a:rPr altLang="zh-CN" dirty="0" sz="1100" lang="en-US"/>
              <a:t>Unity</a:t>
            </a:r>
            <a:r>
              <a:rPr altLang="en-US" dirty="0" sz="1100" lang="zh-CN"/>
              <a:t>的类银河恶魔城游戏既顺应行业趋势，也能满足玩家对高完成度动作探索体验的现实需求，具有明确的市场价值与研发意义。</a:t>
            </a:r>
            <a:endParaRPr altLang="zh-CN" dirty="0" sz="1100" lang="en-US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659" name="TextBox 10"/>
          <p:cNvSpPr txBox="1"/>
          <p:nvPr/>
        </p:nvSpPr>
        <p:spPr>
          <a:xfrm>
            <a:off x="1724720" y="3967517"/>
            <a:ext cx="1440160" cy="838201"/>
          </a:xfrm>
          <a:prstGeom prst="rect"/>
          <a:noFill/>
        </p:spPr>
        <p:txBody>
          <a:bodyPr bIns="0" lIns="0" rIns="0" rtlCol="0" tIns="0"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just"/>
            <a:r>
              <a:rPr altLang="en-US" dirty="0" sz="1050" lang="zh-CN"/>
              <a:t>市场规模稳定增长，行业持续向好</a:t>
            </a:r>
            <a:r>
              <a:rPr altLang="en-US" b="1" dirty="0" sz="1050" lang="zh-CN">
                <a:cs typeface="+mn-ea"/>
                <a:sym typeface="+mn-lt"/>
              </a:rPr>
              <a:t>。</a:t>
            </a:r>
            <a:r>
              <a:rPr altLang="en-US" dirty="0" sz="1050" lang="zh-CN"/>
              <a:t>类银河恶魔城赛道快速升温，用户量持续攀升</a:t>
            </a:r>
            <a:endParaRPr altLang="en-US" b="1" dirty="0" sz="1050" lang="zh-CN">
              <a:cs typeface="+mn-ea"/>
              <a:sym typeface="+mn-lt"/>
            </a:endParaRPr>
          </a:p>
        </p:txBody>
      </p:sp>
      <p:sp>
        <p:nvSpPr>
          <p:cNvPr id="1048660" name="TextBox 16"/>
          <p:cNvSpPr txBox="1"/>
          <p:nvPr/>
        </p:nvSpPr>
        <p:spPr>
          <a:xfrm>
            <a:off x="5469335" y="3967515"/>
            <a:ext cx="1559859" cy="838201"/>
          </a:xfrm>
          <a:prstGeom prst="rect"/>
          <a:noFill/>
        </p:spPr>
        <p:txBody>
          <a:bodyPr bIns="0" lIns="0" rIns="0" rtlCol="0" tIns="0"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just"/>
            <a:r>
              <a:rPr altLang="en-US" dirty="0" sz="1050" lang="zh-CN"/>
              <a:t>玩家对深度玩法与可探索内容需求增强，市场缺乏高质量国产代表作，存在突破窗口</a:t>
            </a:r>
            <a:endParaRPr altLang="en-US" b="1" dirty="0" sz="1050" lang="zh-CN">
              <a:cs typeface="+mn-ea"/>
              <a:sym typeface="+mn-lt"/>
            </a:endParaRPr>
          </a:p>
        </p:txBody>
      </p:sp>
      <p:sp>
        <p:nvSpPr>
          <p:cNvPr id="1048661" name="TextBox 22"/>
          <p:cNvSpPr txBox="1"/>
          <p:nvPr/>
        </p:nvSpPr>
        <p:spPr>
          <a:xfrm>
            <a:off x="9307814" y="3967516"/>
            <a:ext cx="1456961" cy="628650"/>
          </a:xfrm>
          <a:prstGeom prst="rect"/>
          <a:noFill/>
        </p:spPr>
        <p:txBody>
          <a:bodyPr bIns="0" lIns="0" rIns="0" rtlCol="0" tIns="0"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just"/>
            <a:r>
              <a:rPr altLang="en-US" dirty="0" sz="1050" lang="zh-CN">
                <a:cs typeface="+mn-ea"/>
                <a:sym typeface="+mn-lt"/>
              </a:rPr>
              <a:t>玩家结构年轻化且消费能力强，</a:t>
            </a:r>
            <a:r>
              <a:rPr altLang="en-US" dirty="0" sz="1050" lang="zh-CN"/>
              <a:t>游戏行业精品化趋势推动独立开发机会扩大</a:t>
            </a:r>
            <a:endParaRPr altLang="en-US" b="1" dirty="0" sz="1050" lang="zh-CN">
              <a:cs typeface="+mn-ea"/>
              <a:sym typeface="+mn-lt"/>
            </a:endParaRPr>
          </a:p>
        </p:txBody>
      </p:sp>
      <p:grpSp>
        <p:nvGrpSpPr>
          <p:cNvPr id="60" name="组合 6"/>
          <p:cNvGrpSpPr/>
          <p:nvPr/>
        </p:nvGrpSpPr>
        <p:grpSpPr>
          <a:xfrm>
            <a:off x="1558273" y="1778149"/>
            <a:ext cx="1728000" cy="1838115"/>
            <a:chOff x="1280133" y="1276560"/>
            <a:chExt cx="1728000" cy="1838115"/>
          </a:xfrm>
        </p:grpSpPr>
        <p:sp>
          <p:nvSpPr>
            <p:cNvPr id="1048662" name="椭圆 7"/>
            <p:cNvSpPr/>
            <p:nvPr/>
          </p:nvSpPr>
          <p:spPr>
            <a:xfrm>
              <a:off x="1280133" y="1276560"/>
              <a:ext cx="1728000" cy="1728000"/>
            </a:xfrm>
            <a:prstGeom prst="ellipse"/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sz="3600" lang="zh-CN"/>
            </a:p>
          </p:txBody>
        </p:sp>
        <p:sp>
          <p:nvSpPr>
            <p:cNvPr id="1048663" name="TextBox 30"/>
            <p:cNvSpPr txBox="1"/>
            <p:nvPr/>
          </p:nvSpPr>
          <p:spPr>
            <a:xfrm>
              <a:off x="1389110" y="1730425"/>
              <a:ext cx="1555101" cy="984885"/>
            </a:xfrm>
            <a:prstGeom prst="rect"/>
            <a:noFill/>
          </p:spPr>
          <p:txBody>
            <a:bodyPr bIns="0" lIns="0" rIns="0" rtlCol="0" tIns="0" wrap="square">
              <a:spAutoFit/>
            </a:bodyPr>
            <a:lstStyle>
              <a:defPPr>
                <a:defRPr lang="zh-CN"/>
              </a:defPPr>
              <a:lvl1pPr algn="ctr">
                <a:defRPr b="1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altLang="en-US" dirty="0" sz="3200" lang="zh-CN"/>
                <a:t>发展趋势</a:t>
              </a:r>
              <a:endParaRPr altLang="en-US" dirty="0" sz="5400" lang="zh-CN"/>
            </a:p>
          </p:txBody>
        </p:sp>
        <p:sp>
          <p:nvSpPr>
            <p:cNvPr id="1048664" name="等腰三角形 9"/>
            <p:cNvSpPr/>
            <p:nvPr/>
          </p:nvSpPr>
          <p:spPr>
            <a:xfrm flipV="1">
              <a:off x="2034816" y="2975421"/>
              <a:ext cx="218634" cy="139254"/>
            </a:xfrm>
            <a:prstGeom prst="triangle"/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sz="3600" lang="zh-CN"/>
            </a:p>
          </p:txBody>
        </p:sp>
      </p:grpSp>
      <p:grpSp>
        <p:nvGrpSpPr>
          <p:cNvPr id="61" name="组合 10"/>
          <p:cNvGrpSpPr/>
          <p:nvPr/>
        </p:nvGrpSpPr>
        <p:grpSpPr>
          <a:xfrm>
            <a:off x="5376549" y="1771870"/>
            <a:ext cx="1728000" cy="1844394"/>
            <a:chOff x="3616599" y="1270281"/>
            <a:chExt cx="1728000" cy="1844394"/>
          </a:xfrm>
          <a:solidFill>
            <a:srgbClr val="CF3B4C"/>
          </a:solidFill>
        </p:grpSpPr>
        <p:sp>
          <p:nvSpPr>
            <p:cNvPr id="1048665" name="椭圆 11"/>
            <p:cNvSpPr/>
            <p:nvPr/>
          </p:nvSpPr>
          <p:spPr>
            <a:xfrm>
              <a:off x="3616599" y="1270281"/>
              <a:ext cx="1728000" cy="1728000"/>
            </a:xfrm>
            <a:prstGeom prst="ellipse"/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sz="3600" lang="zh-CN"/>
            </a:p>
          </p:txBody>
        </p:sp>
        <p:sp>
          <p:nvSpPr>
            <p:cNvPr id="1048666" name="TextBox 31"/>
            <p:cNvSpPr txBox="1"/>
            <p:nvPr/>
          </p:nvSpPr>
          <p:spPr>
            <a:xfrm>
              <a:off x="3818911" y="1764949"/>
              <a:ext cx="1323376" cy="984885"/>
            </a:xfrm>
            <a:prstGeom prst="rect"/>
            <a:noFill/>
          </p:spPr>
          <p:txBody>
            <a:bodyPr bIns="0" lIns="0" rIns="0" rtlCol="0" tIns="0" wrap="square">
              <a:spAutoFit/>
            </a:bodyPr>
            <a:lstStyle>
              <a:defPPr>
                <a:defRPr lang="zh-CN"/>
              </a:defPPr>
              <a:lvl1pPr algn="ctr">
                <a:defRPr b="1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altLang="en-US" dirty="0" sz="3200" lang="zh-CN"/>
                <a:t>国内市场</a:t>
              </a:r>
              <a:endParaRPr altLang="en-US" dirty="0" sz="5400" lang="zh-CN"/>
            </a:p>
          </p:txBody>
        </p:sp>
        <p:sp>
          <p:nvSpPr>
            <p:cNvPr id="1048667" name="等腰三角形 13"/>
            <p:cNvSpPr/>
            <p:nvPr/>
          </p:nvSpPr>
          <p:spPr>
            <a:xfrm flipV="1">
              <a:off x="4379998" y="2975421"/>
              <a:ext cx="218634" cy="139254"/>
            </a:xfrm>
            <a:prstGeom prst="triangle"/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sz="3600" lang="zh-CN"/>
            </a:p>
          </p:txBody>
        </p:sp>
      </p:grpSp>
      <p:grpSp>
        <p:nvGrpSpPr>
          <p:cNvPr id="62" name="组合 14"/>
          <p:cNvGrpSpPr/>
          <p:nvPr/>
        </p:nvGrpSpPr>
        <p:grpSpPr>
          <a:xfrm>
            <a:off x="9194824" y="1778825"/>
            <a:ext cx="1728000" cy="1837439"/>
            <a:chOff x="5990153" y="1277236"/>
            <a:chExt cx="1728000" cy="1837439"/>
          </a:xfrm>
          <a:solidFill>
            <a:srgbClr val="344F66"/>
          </a:solidFill>
        </p:grpSpPr>
        <p:sp>
          <p:nvSpPr>
            <p:cNvPr id="1048668" name="椭圆 15"/>
            <p:cNvSpPr/>
            <p:nvPr/>
          </p:nvSpPr>
          <p:spPr>
            <a:xfrm>
              <a:off x="5990153" y="1277236"/>
              <a:ext cx="1728000" cy="1728000"/>
            </a:xfrm>
            <a:prstGeom prst="ellipse"/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sz="3600" lang="zh-CN"/>
            </a:p>
          </p:txBody>
        </p:sp>
        <p:sp>
          <p:nvSpPr>
            <p:cNvPr id="1048669" name="TextBox 32"/>
            <p:cNvSpPr txBox="1"/>
            <p:nvPr/>
          </p:nvSpPr>
          <p:spPr>
            <a:xfrm>
              <a:off x="6189054" y="1781527"/>
              <a:ext cx="1330199" cy="984885"/>
            </a:xfrm>
            <a:prstGeom prst="rect"/>
            <a:noFill/>
          </p:spPr>
          <p:txBody>
            <a:bodyPr bIns="0" lIns="0" rIns="0" rtlCol="0" tIns="0" wrap="square">
              <a:spAutoFit/>
            </a:bodyPr>
            <a:lstStyle>
              <a:defPPr>
                <a:defRPr lang="zh-CN"/>
              </a:defPPr>
              <a:lvl1pPr algn="ctr">
                <a:defRPr b="1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altLang="en-US" dirty="0" sz="3200" lang="zh-CN"/>
                <a:t>内在需求</a:t>
              </a:r>
              <a:endParaRPr altLang="en-US" dirty="0" sz="5400" lang="zh-CN"/>
            </a:p>
          </p:txBody>
        </p:sp>
        <p:sp>
          <p:nvSpPr>
            <p:cNvPr id="1048670" name="等腰三角形 17"/>
            <p:cNvSpPr/>
            <p:nvPr/>
          </p:nvSpPr>
          <p:spPr>
            <a:xfrm flipV="1">
              <a:off x="6744504" y="2975421"/>
              <a:ext cx="218634" cy="139254"/>
            </a:xfrm>
            <a:prstGeom prst="triangle"/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sz="3600" lang="zh-CN"/>
            </a:p>
          </p:txBody>
        </p:sp>
      </p:grpSp>
      <p:sp>
        <p:nvSpPr>
          <p:cNvPr id="1048671" name="等腰三角形 45"/>
          <p:cNvSpPr/>
          <p:nvPr/>
        </p:nvSpPr>
        <p:spPr>
          <a:xfrm>
            <a:off x="5331566" y="3799455"/>
            <a:ext cx="1773057" cy="1201944"/>
          </a:xfrm>
          <a:custGeom>
            <a:avLst/>
            <a:ahLst/>
            <a:rect l="l" t="t" r="r" b="b"/>
            <a:pathLst>
              <a:path w="1773057" h="959867">
                <a:moveTo>
                  <a:pt x="886528" y="0"/>
                </a:moveTo>
                <a:lnTo>
                  <a:pt x="953045" y="84733"/>
                </a:lnTo>
                <a:lnTo>
                  <a:pt x="1627198" y="84733"/>
                </a:lnTo>
                <a:cubicBezTo>
                  <a:pt x="1707754" y="84733"/>
                  <a:pt x="1773057" y="150036"/>
                  <a:pt x="1773057" y="230592"/>
                </a:cubicBezTo>
                <a:lnTo>
                  <a:pt x="1773057" y="814008"/>
                </a:lnTo>
                <a:cubicBezTo>
                  <a:pt x="1773057" y="894564"/>
                  <a:pt x="1707754" y="959867"/>
                  <a:pt x="1627198" y="959867"/>
                </a:cubicBezTo>
                <a:lnTo>
                  <a:pt x="145859" y="959867"/>
                </a:lnTo>
                <a:cubicBezTo>
                  <a:pt x="65303" y="959867"/>
                  <a:pt x="0" y="894564"/>
                  <a:pt x="0" y="814008"/>
                </a:cubicBezTo>
                <a:lnTo>
                  <a:pt x="0" y="230592"/>
                </a:lnTo>
                <a:cubicBezTo>
                  <a:pt x="0" y="150036"/>
                  <a:pt x="65303" y="84733"/>
                  <a:pt x="145859" y="84733"/>
                </a:cubicBezTo>
                <a:lnTo>
                  <a:pt x="820011" y="84733"/>
                </a:lnTo>
                <a:close/>
              </a:path>
            </a:pathLst>
          </a:custGeom>
          <a:noFill/>
          <a:ln w="12700">
            <a:solidFill>
              <a:srgbClr val="CF3B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72" name="等腰三角形 45"/>
          <p:cNvSpPr/>
          <p:nvPr/>
        </p:nvSpPr>
        <p:spPr>
          <a:xfrm>
            <a:off x="9149767" y="3803181"/>
            <a:ext cx="1773057" cy="1201944"/>
          </a:xfrm>
          <a:custGeom>
            <a:avLst/>
            <a:ahLst/>
            <a:rect l="l" t="t" r="r" b="b"/>
            <a:pathLst>
              <a:path w="1773057" h="959867">
                <a:moveTo>
                  <a:pt x="886528" y="0"/>
                </a:moveTo>
                <a:lnTo>
                  <a:pt x="953045" y="84733"/>
                </a:lnTo>
                <a:lnTo>
                  <a:pt x="1627198" y="84733"/>
                </a:lnTo>
                <a:cubicBezTo>
                  <a:pt x="1707754" y="84733"/>
                  <a:pt x="1773057" y="150036"/>
                  <a:pt x="1773057" y="230592"/>
                </a:cubicBezTo>
                <a:lnTo>
                  <a:pt x="1773057" y="814008"/>
                </a:lnTo>
                <a:cubicBezTo>
                  <a:pt x="1773057" y="894564"/>
                  <a:pt x="1707754" y="959867"/>
                  <a:pt x="1627198" y="959867"/>
                </a:cubicBezTo>
                <a:lnTo>
                  <a:pt x="145859" y="959867"/>
                </a:lnTo>
                <a:cubicBezTo>
                  <a:pt x="65303" y="959867"/>
                  <a:pt x="0" y="894564"/>
                  <a:pt x="0" y="814008"/>
                </a:cubicBezTo>
                <a:lnTo>
                  <a:pt x="0" y="230592"/>
                </a:lnTo>
                <a:cubicBezTo>
                  <a:pt x="0" y="150036"/>
                  <a:pt x="65303" y="84733"/>
                  <a:pt x="145859" y="84733"/>
                </a:cubicBezTo>
                <a:lnTo>
                  <a:pt x="820011" y="84733"/>
                </a:lnTo>
                <a:close/>
              </a:path>
            </a:pathLst>
          </a:custGeom>
          <a:noFill/>
          <a:ln w="12700">
            <a:solidFill>
              <a:srgbClr val="344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73" name="TextBox 42"/>
          <p:cNvSpPr txBox="1"/>
          <p:nvPr/>
        </p:nvSpPr>
        <p:spPr>
          <a:xfrm>
            <a:off x="1311470" y="315858"/>
            <a:ext cx="3649369" cy="430887"/>
          </a:xfrm>
          <a:prstGeom prst="rect"/>
          <a:noFill/>
          <a:ln>
            <a:noFill/>
          </a:ln>
        </p:spPr>
        <p:txBody>
          <a:bodyPr anchor="t" anchorCtr="0" bIns="0" compatLnSpc="1" lIns="0" numCol="1" rIns="0" tIns="0" vert="horz" wrap="square">
            <a:spAutoFit/>
          </a:bodyPr>
          <a:lstStyle>
            <a:defPPr>
              <a:defRPr lang="zh-CN"/>
            </a:defPPr>
            <a:lvl1pPr defTabSz="914400" eaLnBrk="1" hangingPunct="1" indent="0" latinLnBrk="0" lvl="0" marL="0" marR="0">
              <a:lnSpc>
                <a:spcPct val="100000"/>
              </a:lnSpc>
              <a:buClrTx/>
              <a:buSzTx/>
              <a:buFontTx/>
              <a:buNone/>
              <a:defRPr baseline="0" b="1" cap="none" sz="2800" i="0" kumimoji="0" normalizeH="0" strike="noStrike" u="none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1.1 </a:t>
            </a:r>
            <a:r>
              <a:rPr altLang="en-US" b="0" dirty="0" lang="zh-CN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研究背景</a:t>
            </a:r>
          </a:p>
        </p:txBody>
      </p:sp>
      <p:pic>
        <p:nvPicPr>
          <p:cNvPr id="2097175" name="图片 2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919563" y="1376176"/>
            <a:ext cx="7446429" cy="3815866"/>
          </a:xfrm>
          <a:prstGeom prst="rect"/>
        </p:spPr>
      </p:pic>
      <p:pic>
        <p:nvPicPr>
          <p:cNvPr id="2097176" name="图片 27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4518" y="1752815"/>
            <a:ext cx="7312123" cy="3343906"/>
          </a:xfrm>
          <a:prstGeom prst="rect"/>
        </p:spPr>
      </p:pic>
      <p:pic>
        <p:nvPicPr>
          <p:cNvPr id="2097177" name="图片 22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47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3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6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8"/>
                                        <p:tgtEl>
                                          <p:spTgt spid="1048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9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0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1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23"/>
                                        <p:tgtEl>
                                          <p:spTgt spid="1048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4"/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5"/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6">
                            <p:stCondLst>
                              <p:cond delay="1000"/>
                            </p:stCondLst>
                            <p:childTnLst>
                              <p:par>
                                <p:cTn fill="hold" id="27" nodeType="afterEffect" presetClass="entr" presetID="47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29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3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1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32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34"/>
                                        <p:tgtEl>
                                          <p:spTgt spid="10486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35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6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37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39"/>
                                        <p:tgtEl>
                                          <p:spTgt spid="1048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40"/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41"/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2">
                            <p:stCondLst>
                              <p:cond delay="2000"/>
                            </p:stCondLst>
                            <p:childTnLst>
                              <p:par>
                                <p:cTn fill="hold" id="43" nodeType="afterEffect" presetClass="entr" presetID="47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45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46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47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48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50"/>
                                        <p:tgtEl>
                                          <p:spTgt spid="10486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51"/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52"/>
                                        <p:tgtEl>
                                          <p:spTgt spid="1048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53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55"/>
                                        <p:tgtEl>
                                          <p:spTgt spid="1048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56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57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8">
                            <p:stCondLst>
                              <p:cond delay="3000"/>
                            </p:stCondLst>
                            <p:childTnLst>
                              <p:par>
                                <p:cTn fill="hold" grpId="0" id="59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3">
                      <p:stCondLst>
                        <p:cond delay="indefinite"/>
                      </p:stCondLst>
                      <p:childTnLst>
                        <p:par>
                          <p:cTn fill="hold" id="64">
                            <p:stCondLst>
                              <p:cond delay="0"/>
                            </p:stCondLst>
                            <p:childTnLst>
                              <p:par>
                                <p:cTn fill="hold" id="6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7"/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8"/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9">
                      <p:stCondLst>
                        <p:cond delay="indefinite"/>
                      </p:stCondLst>
                      <p:childTnLst>
                        <p:par>
                          <p:cTn fill="hold" id="70">
                            <p:stCondLst>
                              <p:cond delay="0"/>
                            </p:stCondLst>
                            <p:childTnLst>
                              <p:par>
                                <p:cTn fill="hold" id="71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dur="500" id="72"/>
                                        <p:tgtEl>
                                          <p:spTgt spid="2097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 id="73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4">
                      <p:stCondLst>
                        <p:cond delay="indefinite"/>
                      </p:stCondLst>
                      <p:childTnLst>
                        <p:par>
                          <p:cTn fill="hold" id="75">
                            <p:stCondLst>
                              <p:cond delay="0"/>
                            </p:stCondLst>
                            <p:childTnLst>
                              <p:par>
                                <p:cTn fill="hold" id="76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8"/>
                                        <p:tgtEl>
                                          <p:spTgt spid="209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9">
                      <p:stCondLst>
                        <p:cond delay="indefinite"/>
                      </p:stCondLst>
                      <p:childTnLst>
                        <p:par>
                          <p:cTn fill="hold" id="80">
                            <p:stCondLst>
                              <p:cond delay="0"/>
                            </p:stCondLst>
                            <p:childTnLst>
                              <p:par>
                                <p:cTn fill="hold" id="81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dur="500" id="82"/>
                                        <p:tgtEl>
                                          <p:spTgt spid="2097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 id="83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7" grpId="0" animBg="1"/>
      <p:bldP spid="1048658" grpId="0"/>
      <p:bldP spid="1048659" grpId="0"/>
      <p:bldP spid="1048660" grpId="0"/>
      <p:bldP spid="1048661" grpId="0"/>
      <p:bldP spid="1048671" grpId="0" animBg="1"/>
      <p:bldP spid="1048672" grpId="0" animBg="1"/>
      <p:bldP spid="10486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1"/>
          <p:cNvGrpSpPr/>
          <p:nvPr/>
        </p:nvGrpSpPr>
        <p:grpSpPr>
          <a:xfrm>
            <a:off x="943429" y="4930222"/>
            <a:ext cx="10309654" cy="1364343"/>
            <a:chOff x="943429" y="4849537"/>
            <a:chExt cx="10309654" cy="1364343"/>
          </a:xfrm>
        </p:grpSpPr>
        <p:sp>
          <p:nvSpPr>
            <p:cNvPr id="1048674" name="圆角矩形 6"/>
            <p:cNvSpPr/>
            <p:nvPr/>
          </p:nvSpPr>
          <p:spPr>
            <a:xfrm>
              <a:off x="943429" y="4849537"/>
              <a:ext cx="9844020" cy="1364343"/>
            </a:xfrm>
            <a:prstGeom prst="roundRect"/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b="1" sz="2000" 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75" name="五边形 7"/>
            <p:cNvSpPr/>
            <p:nvPr/>
          </p:nvSpPr>
          <p:spPr>
            <a:xfrm>
              <a:off x="9830683" y="5158690"/>
              <a:ext cx="1422400" cy="746036"/>
            </a:xfrm>
            <a:prstGeom prst="homePlate">
              <a:avLst>
                <a:gd name="adj" fmla="val 31490"/>
              </a:avLst>
            </a:prstGeom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bIns="108000" lIns="0" rIns="216000" rtlCol="0" tIns="144000"/>
            <a:p>
              <a:pPr algn="ctr"/>
              <a:r>
                <a:rPr altLang="zh-CN" b="1" dirty="0" sz="4400" lang="en-US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altLang="en-US" b="1" dirty="0" sz="4400" lang="zh-CN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676" name="TextBox 33"/>
            <p:cNvSpPr txBox="1"/>
            <p:nvPr/>
          </p:nvSpPr>
          <p:spPr>
            <a:xfrm>
              <a:off x="3079312" y="5119170"/>
              <a:ext cx="5977601" cy="931409"/>
            </a:xfrm>
            <a:prstGeom prst="rect"/>
            <a:noFill/>
          </p:spPr>
          <p:txBody>
            <a:bodyPr bIns="0" lIns="0" rIns="0" rtlCol="0" tIns="0" wrap="square">
              <a:spAutoFit/>
            </a:bodyPr>
            <a:p>
              <a:pPr>
                <a:lnSpc>
                  <a:spcPct val="150000"/>
                </a:lnSpc>
              </a:pPr>
              <a:r>
                <a:rPr altLang="en-US" b="1" dirty="0" sz="1400" lang="zh-CN">
                  <a:solidFill>
                    <a:srgbClr val="555555"/>
                  </a:solidFill>
                  <a:cs typeface="+mn-ea"/>
                </a:rPr>
                <a:t>在中国游戏市场持续增长背景下，该类型玩家规模扩大且需求旺盛，本研究成果有助于提升国产原创游戏质量与创新能力，推动本土游戏生态发展，具有良好的应用前景与推广意义</a:t>
              </a:r>
              <a:endParaRPr altLang="en-US" b="1" dirty="0" sz="1400" lang="zh-CN">
                <a:solidFill>
                  <a:srgbClr val="555555"/>
                </a:solidFill>
                <a:cs typeface="+mn-ea"/>
                <a:sym typeface="+mn-lt"/>
              </a:endParaRPr>
            </a:p>
          </p:txBody>
        </p:sp>
        <p:sp>
          <p:nvSpPr>
            <p:cNvPr id="1048677" name="椭圆 5"/>
            <p:cNvSpPr/>
            <p:nvPr/>
          </p:nvSpPr>
          <p:spPr>
            <a:xfrm>
              <a:off x="1554484" y="5148332"/>
              <a:ext cx="766752" cy="766752"/>
            </a:xfrm>
            <a:prstGeom prst="ellipse"/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b="1" sz="2000" 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5" name="组合 6"/>
            <p:cNvGrpSpPr/>
            <p:nvPr/>
          </p:nvGrpSpPr>
          <p:grpSpPr>
            <a:xfrm>
              <a:off x="1679904" y="5268632"/>
              <a:ext cx="486104" cy="526152"/>
              <a:chOff x="3714875" y="1883685"/>
              <a:chExt cx="486104" cy="526152"/>
            </a:xfrm>
          </p:grpSpPr>
          <p:sp>
            <p:nvSpPr>
              <p:cNvPr id="1048678" name="Oval 92"/>
              <p:cNvSpPr>
                <a:spLocks noChangeArrowheads="1"/>
              </p:cNvSpPr>
              <p:nvPr/>
            </p:nvSpPr>
            <p:spPr bwMode="auto">
              <a:xfrm>
                <a:off x="4028357" y="1925114"/>
                <a:ext cx="75954" cy="92526"/>
              </a:xfrm>
              <a:prstGeom prst="ellipse"/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79" name="Freeform 93"/>
              <p:cNvSpPr>
                <a:spLocks noEditPoints="1"/>
              </p:cNvSpPr>
              <p:nvPr/>
            </p:nvSpPr>
            <p:spPr bwMode="auto">
              <a:xfrm>
                <a:off x="3970356" y="1990020"/>
                <a:ext cx="230623" cy="419817"/>
              </a:xfrm>
              <a:custGeom>
                <a:avLst/>
                <a:gdLst>
                  <a:gd name="T0" fmla="*/ 83 w 84"/>
                  <a:gd name="T1" fmla="*/ 42 h 153"/>
                  <a:gd name="T2" fmla="*/ 83 w 84"/>
                  <a:gd name="T3" fmla="*/ 42 h 153"/>
                  <a:gd name="T4" fmla="*/ 83 w 84"/>
                  <a:gd name="T5" fmla="*/ 42 h 153"/>
                  <a:gd name="T6" fmla="*/ 60 w 84"/>
                  <a:gd name="T7" fmla="*/ 17 h 153"/>
                  <a:gd name="T8" fmla="*/ 54 w 84"/>
                  <a:gd name="T9" fmla="*/ 14 h 153"/>
                  <a:gd name="T10" fmla="*/ 47 w 84"/>
                  <a:gd name="T11" fmla="*/ 14 h 153"/>
                  <a:gd name="T12" fmla="*/ 52 w 84"/>
                  <a:gd name="T13" fmla="*/ 18 h 153"/>
                  <a:gd name="T14" fmla="*/ 45 w 84"/>
                  <a:gd name="T15" fmla="*/ 21 h 153"/>
                  <a:gd name="T16" fmla="*/ 48 w 84"/>
                  <a:gd name="T17" fmla="*/ 27 h 153"/>
                  <a:gd name="T18" fmla="*/ 39 w 84"/>
                  <a:gd name="T19" fmla="*/ 47 h 153"/>
                  <a:gd name="T20" fmla="*/ 38 w 84"/>
                  <a:gd name="T21" fmla="*/ 19 h 153"/>
                  <a:gd name="T22" fmla="*/ 39 w 84"/>
                  <a:gd name="T23" fmla="*/ 18 h 153"/>
                  <a:gd name="T24" fmla="*/ 37 w 84"/>
                  <a:gd name="T25" fmla="*/ 11 h 153"/>
                  <a:gd name="T26" fmla="*/ 32 w 84"/>
                  <a:gd name="T27" fmla="*/ 11 h 153"/>
                  <a:gd name="T28" fmla="*/ 30 w 84"/>
                  <a:gd name="T29" fmla="*/ 18 h 153"/>
                  <a:gd name="T30" fmla="*/ 31 w 84"/>
                  <a:gd name="T31" fmla="*/ 19 h 153"/>
                  <a:gd name="T32" fmla="*/ 30 w 84"/>
                  <a:gd name="T33" fmla="*/ 47 h 153"/>
                  <a:gd name="T34" fmla="*/ 20 w 84"/>
                  <a:gd name="T35" fmla="*/ 27 h 153"/>
                  <a:gd name="T36" fmla="*/ 24 w 84"/>
                  <a:gd name="T37" fmla="*/ 21 h 153"/>
                  <a:gd name="T38" fmla="*/ 17 w 84"/>
                  <a:gd name="T39" fmla="*/ 18 h 153"/>
                  <a:gd name="T40" fmla="*/ 23 w 84"/>
                  <a:gd name="T41" fmla="*/ 13 h 153"/>
                  <a:gd name="T42" fmla="*/ 22 w 84"/>
                  <a:gd name="T43" fmla="*/ 12 h 153"/>
                  <a:gd name="T44" fmla="*/ 6 w 84"/>
                  <a:gd name="T45" fmla="*/ 5 h 153"/>
                  <a:gd name="T46" fmla="*/ 0 w 84"/>
                  <a:gd name="T47" fmla="*/ 0 h 153"/>
                  <a:gd name="T48" fmla="*/ 0 w 84"/>
                  <a:gd name="T49" fmla="*/ 21 h 153"/>
                  <a:gd name="T50" fmla="*/ 13 w 84"/>
                  <a:gd name="T51" fmla="*/ 26 h 153"/>
                  <a:gd name="T52" fmla="*/ 11 w 84"/>
                  <a:gd name="T53" fmla="*/ 87 h 153"/>
                  <a:gd name="T54" fmla="*/ 11 w 84"/>
                  <a:gd name="T55" fmla="*/ 87 h 153"/>
                  <a:gd name="T56" fmla="*/ 13 w 84"/>
                  <a:gd name="T57" fmla="*/ 87 h 153"/>
                  <a:gd name="T58" fmla="*/ 15 w 84"/>
                  <a:gd name="T59" fmla="*/ 153 h 153"/>
                  <a:gd name="T60" fmla="*/ 34 w 84"/>
                  <a:gd name="T61" fmla="*/ 153 h 153"/>
                  <a:gd name="T62" fmla="*/ 34 w 84"/>
                  <a:gd name="T63" fmla="*/ 87 h 153"/>
                  <a:gd name="T64" fmla="*/ 36 w 84"/>
                  <a:gd name="T65" fmla="*/ 87 h 153"/>
                  <a:gd name="T66" fmla="*/ 38 w 84"/>
                  <a:gd name="T67" fmla="*/ 153 h 153"/>
                  <a:gd name="T68" fmla="*/ 57 w 84"/>
                  <a:gd name="T69" fmla="*/ 153 h 153"/>
                  <a:gd name="T70" fmla="*/ 57 w 84"/>
                  <a:gd name="T71" fmla="*/ 87 h 153"/>
                  <a:gd name="T72" fmla="*/ 59 w 84"/>
                  <a:gd name="T73" fmla="*/ 87 h 153"/>
                  <a:gd name="T74" fmla="*/ 59 w 84"/>
                  <a:gd name="T75" fmla="*/ 87 h 153"/>
                  <a:gd name="T76" fmla="*/ 58 w 84"/>
                  <a:gd name="T77" fmla="*/ 77 h 153"/>
                  <a:gd name="T78" fmla="*/ 69 w 84"/>
                  <a:gd name="T79" fmla="*/ 82 h 153"/>
                  <a:gd name="T80" fmla="*/ 77 w 84"/>
                  <a:gd name="T81" fmla="*/ 67 h 153"/>
                  <a:gd name="T82" fmla="*/ 80 w 84"/>
                  <a:gd name="T83" fmla="*/ 60 h 153"/>
                  <a:gd name="T84" fmla="*/ 82 w 84"/>
                  <a:gd name="T85" fmla="*/ 56 h 153"/>
                  <a:gd name="T86" fmla="*/ 83 w 84"/>
                  <a:gd name="T87" fmla="*/ 54 h 153"/>
                  <a:gd name="T88" fmla="*/ 84 w 84"/>
                  <a:gd name="T89" fmla="*/ 53 h 153"/>
                  <a:gd name="T90" fmla="*/ 84 w 84"/>
                  <a:gd name="T91" fmla="*/ 52 h 153"/>
                  <a:gd name="T92" fmla="*/ 83 w 84"/>
                  <a:gd name="T93" fmla="*/ 42 h 153"/>
                  <a:gd name="T94" fmla="*/ 65 w 84"/>
                  <a:gd name="T95" fmla="*/ 51 h 153"/>
                  <a:gd name="T96" fmla="*/ 60 w 84"/>
                  <a:gd name="T97" fmla="*/ 58 h 153"/>
                  <a:gd name="T98" fmla="*/ 58 w 84"/>
                  <a:gd name="T99" fmla="*/ 62 h 153"/>
                  <a:gd name="T100" fmla="*/ 57 w 84"/>
                  <a:gd name="T101" fmla="*/ 39 h 153"/>
                  <a:gd name="T102" fmla="*/ 66 w 84"/>
                  <a:gd name="T103" fmla="*/ 49 h 153"/>
                  <a:gd name="T104" fmla="*/ 65 w 84"/>
                  <a:gd name="T105" fmla="*/ 5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4" h="153">
                    <a:moveTo>
                      <a:pt x="83" y="42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8" y="15"/>
                      <a:pt x="56" y="14"/>
                      <a:pt x="54" y="14"/>
                    </a:cubicBezTo>
                    <a:cubicBezTo>
                      <a:pt x="54" y="14"/>
                      <a:pt x="49" y="14"/>
                      <a:pt x="47" y="14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45" y="21"/>
                      <a:pt x="45" y="21"/>
                      <a:pt x="45" y="21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0" y="47"/>
                      <a:pt x="30" y="47"/>
                      <a:pt x="30" y="4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16" y="9"/>
                      <a:pt x="8" y="6"/>
                      <a:pt x="6" y="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5" y="23"/>
                      <a:pt x="9" y="24"/>
                      <a:pt x="13" y="26"/>
                    </a:cubicBezTo>
                    <a:cubicBezTo>
                      <a:pt x="12" y="46"/>
                      <a:pt x="11" y="66"/>
                      <a:pt x="11" y="87"/>
                    </a:cubicBezTo>
                    <a:cubicBezTo>
                      <a:pt x="11" y="87"/>
                      <a:pt x="11" y="87"/>
                      <a:pt x="11" y="87"/>
                    </a:cubicBezTo>
                    <a:cubicBezTo>
                      <a:pt x="12" y="87"/>
                      <a:pt x="12" y="87"/>
                      <a:pt x="13" y="87"/>
                    </a:cubicBezTo>
                    <a:cubicBezTo>
                      <a:pt x="15" y="153"/>
                      <a:pt x="15" y="153"/>
                      <a:pt x="15" y="153"/>
                    </a:cubicBezTo>
                    <a:cubicBezTo>
                      <a:pt x="34" y="153"/>
                      <a:pt x="34" y="153"/>
                      <a:pt x="34" y="153"/>
                    </a:cubicBezTo>
                    <a:cubicBezTo>
                      <a:pt x="34" y="134"/>
                      <a:pt x="34" y="100"/>
                      <a:pt x="34" y="87"/>
                    </a:cubicBezTo>
                    <a:cubicBezTo>
                      <a:pt x="34" y="87"/>
                      <a:pt x="35" y="87"/>
                      <a:pt x="36" y="87"/>
                    </a:cubicBezTo>
                    <a:cubicBezTo>
                      <a:pt x="38" y="153"/>
                      <a:pt x="38" y="153"/>
                      <a:pt x="38" y="153"/>
                    </a:cubicBezTo>
                    <a:cubicBezTo>
                      <a:pt x="57" y="153"/>
                      <a:pt x="57" y="153"/>
                      <a:pt x="57" y="153"/>
                    </a:cubicBezTo>
                    <a:cubicBezTo>
                      <a:pt x="57" y="134"/>
                      <a:pt x="57" y="100"/>
                      <a:pt x="57" y="87"/>
                    </a:cubicBezTo>
                    <a:cubicBezTo>
                      <a:pt x="57" y="87"/>
                      <a:pt x="58" y="87"/>
                      <a:pt x="59" y="87"/>
                    </a:cubicBezTo>
                    <a:cubicBezTo>
                      <a:pt x="59" y="87"/>
                      <a:pt x="59" y="87"/>
                      <a:pt x="59" y="87"/>
                    </a:cubicBezTo>
                    <a:cubicBezTo>
                      <a:pt x="59" y="83"/>
                      <a:pt x="58" y="80"/>
                      <a:pt x="58" y="77"/>
                    </a:cubicBezTo>
                    <a:cubicBezTo>
                      <a:pt x="62" y="79"/>
                      <a:pt x="65" y="81"/>
                      <a:pt x="69" y="82"/>
                    </a:cubicBezTo>
                    <a:cubicBezTo>
                      <a:pt x="77" y="67"/>
                      <a:pt x="77" y="67"/>
                      <a:pt x="77" y="67"/>
                    </a:cubicBezTo>
                    <a:cubicBezTo>
                      <a:pt x="80" y="60"/>
                      <a:pt x="80" y="60"/>
                      <a:pt x="80" y="60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4" y="53"/>
                      <a:pt x="84" y="53"/>
                      <a:pt x="84" y="53"/>
                    </a:cubicBezTo>
                    <a:cubicBezTo>
                      <a:pt x="84" y="52"/>
                      <a:pt x="84" y="52"/>
                      <a:pt x="84" y="52"/>
                    </a:cubicBezTo>
                    <a:lnTo>
                      <a:pt x="83" y="42"/>
                    </a:lnTo>
                    <a:close/>
                    <a:moveTo>
                      <a:pt x="65" y="51"/>
                    </a:moveTo>
                    <a:cubicBezTo>
                      <a:pt x="60" y="58"/>
                      <a:pt x="60" y="58"/>
                      <a:pt x="60" y="58"/>
                    </a:cubicBezTo>
                    <a:cubicBezTo>
                      <a:pt x="58" y="62"/>
                      <a:pt x="58" y="62"/>
                      <a:pt x="58" y="62"/>
                    </a:cubicBezTo>
                    <a:cubicBezTo>
                      <a:pt x="58" y="54"/>
                      <a:pt x="58" y="47"/>
                      <a:pt x="57" y="39"/>
                    </a:cubicBezTo>
                    <a:cubicBezTo>
                      <a:pt x="66" y="49"/>
                      <a:pt x="66" y="49"/>
                      <a:pt x="66" y="49"/>
                    </a:cubicBezTo>
                    <a:lnTo>
                      <a:pt x="65" y="51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80" name="Freeform 94"/>
              <p:cNvSpPr/>
              <p:nvPr/>
            </p:nvSpPr>
            <p:spPr bwMode="auto">
              <a:xfrm>
                <a:off x="3759066" y="1998306"/>
                <a:ext cx="169860" cy="19334"/>
              </a:xfrm>
              <a:custGeom>
                <a:avLst/>
                <a:gdLst>
                  <a:gd name="T0" fmla="*/ 58 w 62"/>
                  <a:gd name="T1" fmla="*/ 7 h 7"/>
                  <a:gd name="T2" fmla="*/ 4 w 62"/>
                  <a:gd name="T3" fmla="*/ 7 h 7"/>
                  <a:gd name="T4" fmla="*/ 0 w 62"/>
                  <a:gd name="T5" fmla="*/ 4 h 7"/>
                  <a:gd name="T6" fmla="*/ 4 w 62"/>
                  <a:gd name="T7" fmla="*/ 0 h 7"/>
                  <a:gd name="T8" fmla="*/ 58 w 62"/>
                  <a:gd name="T9" fmla="*/ 0 h 7"/>
                  <a:gd name="T10" fmla="*/ 62 w 62"/>
                  <a:gd name="T11" fmla="*/ 4 h 7"/>
                  <a:gd name="T12" fmla="*/ 58 w 62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7">
                    <a:moveTo>
                      <a:pt x="58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2" y="7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1" y="0"/>
                      <a:pt x="62" y="2"/>
                      <a:pt x="62" y="4"/>
                    </a:cubicBezTo>
                    <a:cubicBezTo>
                      <a:pt x="62" y="6"/>
                      <a:pt x="61" y="7"/>
                      <a:pt x="58" y="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81" name="Freeform 95"/>
              <p:cNvSpPr/>
              <p:nvPr/>
            </p:nvSpPr>
            <p:spPr bwMode="auto">
              <a:xfrm>
                <a:off x="3759066" y="2042498"/>
                <a:ext cx="169860" cy="19334"/>
              </a:xfrm>
              <a:custGeom>
                <a:avLst/>
                <a:gdLst>
                  <a:gd name="T0" fmla="*/ 58 w 62"/>
                  <a:gd name="T1" fmla="*/ 7 h 7"/>
                  <a:gd name="T2" fmla="*/ 4 w 62"/>
                  <a:gd name="T3" fmla="*/ 7 h 7"/>
                  <a:gd name="T4" fmla="*/ 0 w 62"/>
                  <a:gd name="T5" fmla="*/ 4 h 7"/>
                  <a:gd name="T6" fmla="*/ 4 w 62"/>
                  <a:gd name="T7" fmla="*/ 0 h 7"/>
                  <a:gd name="T8" fmla="*/ 58 w 62"/>
                  <a:gd name="T9" fmla="*/ 0 h 7"/>
                  <a:gd name="T10" fmla="*/ 62 w 62"/>
                  <a:gd name="T11" fmla="*/ 4 h 7"/>
                  <a:gd name="T12" fmla="*/ 58 w 62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7">
                    <a:moveTo>
                      <a:pt x="58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2" y="7"/>
                      <a:pt x="0" y="6"/>
                      <a:pt x="0" y="4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1" y="0"/>
                      <a:pt x="62" y="1"/>
                      <a:pt x="62" y="4"/>
                    </a:cubicBezTo>
                    <a:cubicBezTo>
                      <a:pt x="62" y="6"/>
                      <a:pt x="61" y="7"/>
                      <a:pt x="58" y="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82" name="Freeform 96"/>
              <p:cNvSpPr/>
              <p:nvPr/>
            </p:nvSpPr>
            <p:spPr bwMode="auto">
              <a:xfrm>
                <a:off x="3759066" y="2086689"/>
                <a:ext cx="169860" cy="19334"/>
              </a:xfrm>
              <a:custGeom>
                <a:avLst/>
                <a:gdLst>
                  <a:gd name="T0" fmla="*/ 58 w 62"/>
                  <a:gd name="T1" fmla="*/ 7 h 7"/>
                  <a:gd name="T2" fmla="*/ 4 w 62"/>
                  <a:gd name="T3" fmla="*/ 7 h 7"/>
                  <a:gd name="T4" fmla="*/ 0 w 62"/>
                  <a:gd name="T5" fmla="*/ 3 h 7"/>
                  <a:gd name="T6" fmla="*/ 4 w 62"/>
                  <a:gd name="T7" fmla="*/ 0 h 7"/>
                  <a:gd name="T8" fmla="*/ 58 w 62"/>
                  <a:gd name="T9" fmla="*/ 0 h 7"/>
                  <a:gd name="T10" fmla="*/ 62 w 62"/>
                  <a:gd name="T11" fmla="*/ 3 h 7"/>
                  <a:gd name="T12" fmla="*/ 58 w 62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7">
                    <a:moveTo>
                      <a:pt x="58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1" y="0"/>
                      <a:pt x="62" y="1"/>
                      <a:pt x="62" y="3"/>
                    </a:cubicBezTo>
                    <a:cubicBezTo>
                      <a:pt x="62" y="5"/>
                      <a:pt x="61" y="7"/>
                      <a:pt x="58" y="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83" name="Freeform 97"/>
              <p:cNvSpPr/>
              <p:nvPr/>
            </p:nvSpPr>
            <p:spPr bwMode="auto">
              <a:xfrm>
                <a:off x="3759066" y="2130880"/>
                <a:ext cx="169860" cy="17953"/>
              </a:xfrm>
              <a:custGeom>
                <a:avLst/>
                <a:gdLst>
                  <a:gd name="T0" fmla="*/ 58 w 62"/>
                  <a:gd name="T1" fmla="*/ 7 h 7"/>
                  <a:gd name="T2" fmla="*/ 4 w 62"/>
                  <a:gd name="T3" fmla="*/ 7 h 7"/>
                  <a:gd name="T4" fmla="*/ 0 w 62"/>
                  <a:gd name="T5" fmla="*/ 3 h 7"/>
                  <a:gd name="T6" fmla="*/ 4 w 62"/>
                  <a:gd name="T7" fmla="*/ 0 h 7"/>
                  <a:gd name="T8" fmla="*/ 58 w 62"/>
                  <a:gd name="T9" fmla="*/ 0 h 7"/>
                  <a:gd name="T10" fmla="*/ 62 w 62"/>
                  <a:gd name="T11" fmla="*/ 3 h 7"/>
                  <a:gd name="T12" fmla="*/ 58 w 62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7">
                    <a:moveTo>
                      <a:pt x="58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1" y="0"/>
                      <a:pt x="62" y="1"/>
                      <a:pt x="62" y="3"/>
                    </a:cubicBezTo>
                    <a:cubicBezTo>
                      <a:pt x="62" y="5"/>
                      <a:pt x="61" y="7"/>
                      <a:pt x="58" y="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84" name="Freeform 98"/>
              <p:cNvSpPr>
                <a:spLocks noEditPoints="1"/>
              </p:cNvSpPr>
              <p:nvPr/>
            </p:nvSpPr>
            <p:spPr bwMode="auto">
              <a:xfrm>
                <a:off x="3714875" y="1883685"/>
                <a:ext cx="269291" cy="336959"/>
              </a:xfrm>
              <a:custGeom>
                <a:avLst/>
                <a:gdLst>
                  <a:gd name="T0" fmla="*/ 93 w 98"/>
                  <a:gd name="T1" fmla="*/ 0 h 123"/>
                  <a:gd name="T2" fmla="*/ 27 w 98"/>
                  <a:gd name="T3" fmla="*/ 0 h 123"/>
                  <a:gd name="T4" fmla="*/ 24 w 98"/>
                  <a:gd name="T5" fmla="*/ 2 h 123"/>
                  <a:gd name="T6" fmla="*/ 1 w 98"/>
                  <a:gd name="T7" fmla="*/ 24 h 123"/>
                  <a:gd name="T8" fmla="*/ 0 w 98"/>
                  <a:gd name="T9" fmla="*/ 27 h 123"/>
                  <a:gd name="T10" fmla="*/ 0 w 98"/>
                  <a:gd name="T11" fmla="*/ 118 h 123"/>
                  <a:gd name="T12" fmla="*/ 5 w 98"/>
                  <a:gd name="T13" fmla="*/ 123 h 123"/>
                  <a:gd name="T14" fmla="*/ 93 w 98"/>
                  <a:gd name="T15" fmla="*/ 123 h 123"/>
                  <a:gd name="T16" fmla="*/ 98 w 98"/>
                  <a:gd name="T17" fmla="*/ 118 h 123"/>
                  <a:gd name="T18" fmla="*/ 98 w 98"/>
                  <a:gd name="T19" fmla="*/ 5 h 123"/>
                  <a:gd name="T20" fmla="*/ 93 w 98"/>
                  <a:gd name="T21" fmla="*/ 0 h 123"/>
                  <a:gd name="T22" fmla="*/ 24 w 98"/>
                  <a:gd name="T23" fmla="*/ 15 h 123"/>
                  <a:gd name="T24" fmla="*/ 24 w 98"/>
                  <a:gd name="T25" fmla="*/ 23 h 123"/>
                  <a:gd name="T26" fmla="*/ 16 w 98"/>
                  <a:gd name="T27" fmla="*/ 23 h 123"/>
                  <a:gd name="T28" fmla="*/ 24 w 98"/>
                  <a:gd name="T29" fmla="*/ 15 h 123"/>
                  <a:gd name="T30" fmla="*/ 88 w 98"/>
                  <a:gd name="T31" fmla="*/ 113 h 123"/>
                  <a:gd name="T32" fmla="*/ 10 w 98"/>
                  <a:gd name="T33" fmla="*/ 113 h 123"/>
                  <a:gd name="T34" fmla="*/ 10 w 98"/>
                  <a:gd name="T35" fmla="*/ 31 h 123"/>
                  <a:gd name="T36" fmla="*/ 28 w 98"/>
                  <a:gd name="T37" fmla="*/ 31 h 123"/>
                  <a:gd name="T38" fmla="*/ 32 w 98"/>
                  <a:gd name="T39" fmla="*/ 27 h 123"/>
                  <a:gd name="T40" fmla="*/ 32 w 98"/>
                  <a:gd name="T41" fmla="*/ 10 h 123"/>
                  <a:gd name="T42" fmla="*/ 88 w 98"/>
                  <a:gd name="T43" fmla="*/ 10 h 123"/>
                  <a:gd name="T44" fmla="*/ 88 w 98"/>
                  <a:gd name="T45" fmla="*/ 11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8" h="123">
                    <a:moveTo>
                      <a:pt x="93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5" y="1"/>
                      <a:pt x="24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5"/>
                      <a:pt x="0" y="26"/>
                      <a:pt x="0" y="27"/>
                    </a:cubicBezTo>
                    <a:cubicBezTo>
                      <a:pt x="0" y="118"/>
                      <a:pt x="0" y="118"/>
                      <a:pt x="0" y="118"/>
                    </a:cubicBezTo>
                    <a:cubicBezTo>
                      <a:pt x="0" y="121"/>
                      <a:pt x="2" y="123"/>
                      <a:pt x="5" y="123"/>
                    </a:cubicBezTo>
                    <a:cubicBezTo>
                      <a:pt x="93" y="123"/>
                      <a:pt x="93" y="123"/>
                      <a:pt x="93" y="123"/>
                    </a:cubicBezTo>
                    <a:cubicBezTo>
                      <a:pt x="95" y="123"/>
                      <a:pt x="98" y="121"/>
                      <a:pt x="98" y="118"/>
                    </a:cubicBezTo>
                    <a:cubicBezTo>
                      <a:pt x="98" y="5"/>
                      <a:pt x="98" y="5"/>
                      <a:pt x="98" y="5"/>
                    </a:cubicBezTo>
                    <a:cubicBezTo>
                      <a:pt x="98" y="3"/>
                      <a:pt x="95" y="0"/>
                      <a:pt x="93" y="0"/>
                    </a:cubicBezTo>
                    <a:close/>
                    <a:moveTo>
                      <a:pt x="24" y="15"/>
                    </a:moveTo>
                    <a:cubicBezTo>
                      <a:pt x="24" y="23"/>
                      <a:pt x="24" y="23"/>
                      <a:pt x="24" y="23"/>
                    </a:cubicBezTo>
                    <a:cubicBezTo>
                      <a:pt x="16" y="23"/>
                      <a:pt x="16" y="23"/>
                      <a:pt x="16" y="23"/>
                    </a:cubicBezTo>
                    <a:lnTo>
                      <a:pt x="24" y="15"/>
                    </a:lnTo>
                    <a:close/>
                    <a:moveTo>
                      <a:pt x="88" y="113"/>
                    </a:moveTo>
                    <a:cubicBezTo>
                      <a:pt x="10" y="113"/>
                      <a:pt x="10" y="113"/>
                      <a:pt x="10" y="113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28" y="31"/>
                      <a:pt x="28" y="31"/>
                      <a:pt x="28" y="31"/>
                    </a:cubicBezTo>
                    <a:cubicBezTo>
                      <a:pt x="30" y="31"/>
                      <a:pt x="32" y="29"/>
                      <a:pt x="32" y="27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88" y="10"/>
                      <a:pt x="88" y="10"/>
                      <a:pt x="88" y="10"/>
                    </a:cubicBezTo>
                    <a:lnTo>
                      <a:pt x="88" y="113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6" name="组合 14"/>
          <p:cNvGrpSpPr/>
          <p:nvPr/>
        </p:nvGrpSpPr>
        <p:grpSpPr>
          <a:xfrm>
            <a:off x="943429" y="3377192"/>
            <a:ext cx="10309654" cy="1364343"/>
            <a:chOff x="943429" y="3296507"/>
            <a:chExt cx="10309654" cy="1364343"/>
          </a:xfrm>
        </p:grpSpPr>
        <p:sp>
          <p:nvSpPr>
            <p:cNvPr id="1048685" name="圆角矩形 19"/>
            <p:cNvSpPr/>
            <p:nvPr/>
          </p:nvSpPr>
          <p:spPr>
            <a:xfrm>
              <a:off x="943429" y="3296507"/>
              <a:ext cx="9844020" cy="1364343"/>
            </a:xfrm>
            <a:prstGeom prst="roundRect"/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b="1" sz="2000" 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86" name="五边形 20"/>
            <p:cNvSpPr/>
            <p:nvPr/>
          </p:nvSpPr>
          <p:spPr>
            <a:xfrm>
              <a:off x="9830683" y="3605660"/>
              <a:ext cx="1422400" cy="746036"/>
            </a:xfrm>
            <a:prstGeom prst="homePlate">
              <a:avLst>
                <a:gd name="adj" fmla="val 31490"/>
              </a:avLst>
            </a:prstGeom>
            <a:solidFill>
              <a:srgbClr val="CF3B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bIns="108000" lIns="0" rIns="216000" rtlCol="0" tIns="144000"/>
            <a:p>
              <a:pPr algn="ctr"/>
              <a:r>
                <a:rPr altLang="zh-CN" b="1" dirty="0" sz="4400" lang="en-US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altLang="en-US" b="1" dirty="0" sz="4400" lang="zh-CN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687" name="TextBox 33"/>
            <p:cNvSpPr txBox="1"/>
            <p:nvPr/>
          </p:nvSpPr>
          <p:spPr>
            <a:xfrm>
              <a:off x="3079311" y="3674556"/>
              <a:ext cx="5977601" cy="608243"/>
            </a:xfrm>
            <a:prstGeom prst="rect"/>
            <a:noFill/>
          </p:spPr>
          <p:txBody>
            <a:bodyPr bIns="0" lIns="0" rIns="0" rtlCol="0" tIns="0" wrap="square">
              <a:spAutoFit/>
            </a:bodyPr>
            <a:p>
              <a:pPr>
                <a:lnSpc>
                  <a:spcPct val="150000"/>
                </a:lnSpc>
              </a:pPr>
              <a:r>
                <a:rPr altLang="en-US" b="1" dirty="0" sz="1400" lang="zh-CN">
                  <a:solidFill>
                    <a:srgbClr val="555555"/>
                  </a:solidFill>
                  <a:cs typeface="+mn-ea"/>
                </a:rPr>
                <a:t>通过搭建可运行的</a:t>
              </a:r>
              <a:r>
                <a:rPr altLang="zh-CN" b="1" dirty="0" sz="1400" lang="en-US">
                  <a:solidFill>
                    <a:srgbClr val="555555"/>
                  </a:solidFill>
                  <a:cs typeface="+mn-ea"/>
                </a:rPr>
                <a:t>Unity</a:t>
              </a:r>
              <a:r>
                <a:rPr altLang="en-US" b="1" dirty="0" sz="1400" lang="zh-CN">
                  <a:solidFill>
                    <a:srgbClr val="555555"/>
                  </a:solidFill>
                  <a:cs typeface="+mn-ea"/>
                </a:rPr>
                <a:t>原型游戏，实现角色控制、地图探索、战斗系统、存档机制等功能，形成一套完整的开发流程与技术实现方案</a:t>
              </a:r>
              <a:endParaRPr altLang="en-US" b="1" dirty="0" sz="1400" lang="zh-CN">
                <a:solidFill>
                  <a:srgbClr val="555555"/>
                </a:solidFill>
                <a:cs typeface="+mn-ea"/>
                <a:sym typeface="+mn-lt"/>
              </a:endParaRPr>
            </a:p>
          </p:txBody>
        </p:sp>
        <p:sp>
          <p:nvSpPr>
            <p:cNvPr id="1048688" name="椭圆 18"/>
            <p:cNvSpPr/>
            <p:nvPr/>
          </p:nvSpPr>
          <p:spPr>
            <a:xfrm>
              <a:off x="1554484" y="3595302"/>
              <a:ext cx="766752" cy="766752"/>
            </a:xfrm>
            <a:prstGeom prst="ellipse"/>
            <a:solidFill>
              <a:srgbClr val="CF3B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b="1" sz="2000" 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7" name="组合 19"/>
            <p:cNvGrpSpPr/>
            <p:nvPr/>
          </p:nvGrpSpPr>
          <p:grpSpPr>
            <a:xfrm>
              <a:off x="1684443" y="3731869"/>
              <a:ext cx="516444" cy="493618"/>
              <a:chOff x="9682163" y="5963443"/>
              <a:chExt cx="574675" cy="549275"/>
            </a:xfrm>
            <a:solidFill>
              <a:schemeClr val="bg1"/>
            </a:solidFill>
          </p:grpSpPr>
          <p:sp>
            <p:nvSpPr>
              <p:cNvPr id="1048689" name="Freeform 864"/>
              <p:cNvSpPr/>
              <p:nvPr/>
            </p:nvSpPr>
            <p:spPr bwMode="auto">
              <a:xfrm>
                <a:off x="9855200" y="5963443"/>
                <a:ext cx="104775" cy="117475"/>
              </a:xfrm>
              <a:custGeom>
                <a:avLst/>
                <a:gdLst>
                  <a:gd name="T0" fmla="*/ 14 w 60"/>
                  <a:gd name="T1" fmla="*/ 60 h 67"/>
                  <a:gd name="T2" fmla="*/ 8 w 60"/>
                  <a:gd name="T3" fmla="*/ 21 h 67"/>
                  <a:gd name="T4" fmla="*/ 46 w 60"/>
                  <a:gd name="T5" fmla="*/ 7 h 67"/>
                  <a:gd name="T6" fmla="*/ 51 w 60"/>
                  <a:gd name="T7" fmla="*/ 46 h 67"/>
                  <a:gd name="T8" fmla="*/ 14 w 60"/>
                  <a:gd name="T9" fmla="*/ 6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67">
                    <a:moveTo>
                      <a:pt x="14" y="60"/>
                    </a:moveTo>
                    <a:cubicBezTo>
                      <a:pt x="2" y="53"/>
                      <a:pt x="0" y="35"/>
                      <a:pt x="8" y="21"/>
                    </a:cubicBezTo>
                    <a:cubicBezTo>
                      <a:pt x="17" y="6"/>
                      <a:pt x="34" y="0"/>
                      <a:pt x="46" y="7"/>
                    </a:cubicBezTo>
                    <a:cubicBezTo>
                      <a:pt x="57" y="14"/>
                      <a:pt x="60" y="31"/>
                      <a:pt x="51" y="46"/>
                    </a:cubicBezTo>
                    <a:cubicBezTo>
                      <a:pt x="43" y="61"/>
                      <a:pt x="26" y="67"/>
                      <a:pt x="14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90" name="Freeform 865"/>
              <p:cNvSpPr/>
              <p:nvPr/>
            </p:nvSpPr>
            <p:spPr bwMode="auto">
              <a:xfrm>
                <a:off x="9682163" y="6049168"/>
                <a:ext cx="569913" cy="463550"/>
              </a:xfrm>
              <a:custGeom>
                <a:avLst/>
                <a:gdLst>
                  <a:gd name="T0" fmla="*/ 4 w 326"/>
                  <a:gd name="T1" fmla="*/ 20 h 265"/>
                  <a:gd name="T2" fmla="*/ 5 w 326"/>
                  <a:gd name="T3" fmla="*/ 20 h 265"/>
                  <a:gd name="T4" fmla="*/ 16 w 326"/>
                  <a:gd name="T5" fmla="*/ 16 h 265"/>
                  <a:gd name="T6" fmla="*/ 59 w 326"/>
                  <a:gd name="T7" fmla="*/ 2 h 265"/>
                  <a:gd name="T8" fmla="*/ 98 w 326"/>
                  <a:gd name="T9" fmla="*/ 9 h 265"/>
                  <a:gd name="T10" fmla="*/ 88 w 326"/>
                  <a:gd name="T11" fmla="*/ 16 h 265"/>
                  <a:gd name="T12" fmla="*/ 85 w 326"/>
                  <a:gd name="T13" fmla="*/ 32 h 265"/>
                  <a:gd name="T14" fmla="*/ 102 w 326"/>
                  <a:gd name="T15" fmla="*/ 24 h 265"/>
                  <a:gd name="T16" fmla="*/ 108 w 326"/>
                  <a:gd name="T17" fmla="*/ 12 h 265"/>
                  <a:gd name="T18" fmla="*/ 110 w 326"/>
                  <a:gd name="T19" fmla="*/ 26 h 265"/>
                  <a:gd name="T20" fmla="*/ 89 w 326"/>
                  <a:gd name="T21" fmla="*/ 70 h 265"/>
                  <a:gd name="T22" fmla="*/ 111 w 326"/>
                  <a:gd name="T23" fmla="*/ 34 h 265"/>
                  <a:gd name="T24" fmla="*/ 118 w 326"/>
                  <a:gd name="T25" fmla="*/ 32 h 265"/>
                  <a:gd name="T26" fmla="*/ 128 w 326"/>
                  <a:gd name="T27" fmla="*/ 86 h 265"/>
                  <a:gd name="T28" fmla="*/ 162 w 326"/>
                  <a:gd name="T29" fmla="*/ 108 h 265"/>
                  <a:gd name="T30" fmla="*/ 222 w 326"/>
                  <a:gd name="T31" fmla="*/ 60 h 265"/>
                  <a:gd name="T32" fmla="*/ 326 w 326"/>
                  <a:gd name="T33" fmla="*/ 135 h 265"/>
                  <a:gd name="T34" fmla="*/ 312 w 326"/>
                  <a:gd name="T35" fmla="*/ 137 h 265"/>
                  <a:gd name="T36" fmla="*/ 156 w 326"/>
                  <a:gd name="T37" fmla="*/ 137 h 265"/>
                  <a:gd name="T38" fmla="*/ 130 w 326"/>
                  <a:gd name="T39" fmla="*/ 135 h 265"/>
                  <a:gd name="T40" fmla="*/ 121 w 326"/>
                  <a:gd name="T41" fmla="*/ 121 h 265"/>
                  <a:gd name="T42" fmla="*/ 104 w 326"/>
                  <a:gd name="T43" fmla="*/ 108 h 265"/>
                  <a:gd name="T44" fmla="*/ 103 w 326"/>
                  <a:gd name="T45" fmla="*/ 108 h 265"/>
                  <a:gd name="T46" fmla="*/ 103 w 326"/>
                  <a:gd name="T47" fmla="*/ 108 h 265"/>
                  <a:gd name="T48" fmla="*/ 97 w 326"/>
                  <a:gd name="T49" fmla="*/ 96 h 265"/>
                  <a:gd name="T50" fmla="*/ 96 w 326"/>
                  <a:gd name="T51" fmla="*/ 94 h 265"/>
                  <a:gd name="T52" fmla="*/ 95 w 326"/>
                  <a:gd name="T53" fmla="*/ 85 h 265"/>
                  <a:gd name="T54" fmla="*/ 101 w 326"/>
                  <a:gd name="T55" fmla="*/ 161 h 265"/>
                  <a:gd name="T56" fmla="*/ 77 w 326"/>
                  <a:gd name="T57" fmla="*/ 265 h 265"/>
                  <a:gd name="T58" fmla="*/ 69 w 326"/>
                  <a:gd name="T59" fmla="*/ 180 h 265"/>
                  <a:gd name="T60" fmla="*/ 68 w 326"/>
                  <a:gd name="T61" fmla="*/ 177 h 265"/>
                  <a:gd name="T62" fmla="*/ 54 w 326"/>
                  <a:gd name="T63" fmla="*/ 149 h 265"/>
                  <a:gd name="T64" fmla="*/ 8 w 326"/>
                  <a:gd name="T65" fmla="*/ 260 h 265"/>
                  <a:gd name="T66" fmla="*/ 3 w 326"/>
                  <a:gd name="T67" fmla="*/ 113 h 265"/>
                  <a:gd name="T68" fmla="*/ 25 w 326"/>
                  <a:gd name="T69" fmla="*/ 68 h 265"/>
                  <a:gd name="T70" fmla="*/ 0 w 326"/>
                  <a:gd name="T71" fmla="*/ 49 h 265"/>
                  <a:gd name="T72" fmla="*/ 0 w 326"/>
                  <a:gd name="T73" fmla="*/ 48 h 265"/>
                  <a:gd name="T74" fmla="*/ 4 w 326"/>
                  <a:gd name="T75" fmla="*/ 2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26" h="265">
                    <a:moveTo>
                      <a:pt x="4" y="20"/>
                    </a:moveTo>
                    <a:cubicBezTo>
                      <a:pt x="4" y="20"/>
                      <a:pt x="4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63" y="0"/>
                      <a:pt x="75" y="0"/>
                      <a:pt x="77" y="1"/>
                    </a:cubicBezTo>
                    <a:cubicBezTo>
                      <a:pt x="86" y="4"/>
                      <a:pt x="92" y="6"/>
                      <a:pt x="98" y="9"/>
                    </a:cubicBezTo>
                    <a:cubicBezTo>
                      <a:pt x="97" y="10"/>
                      <a:pt x="97" y="10"/>
                      <a:pt x="97" y="10"/>
                    </a:cubicBezTo>
                    <a:cubicBezTo>
                      <a:pt x="88" y="16"/>
                      <a:pt x="88" y="16"/>
                      <a:pt x="88" y="16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85" y="32"/>
                      <a:pt x="85" y="32"/>
                      <a:pt x="85" y="32"/>
                    </a:cubicBezTo>
                    <a:cubicBezTo>
                      <a:pt x="77" y="74"/>
                      <a:pt x="77" y="74"/>
                      <a:pt x="77" y="74"/>
                    </a:cubicBezTo>
                    <a:cubicBezTo>
                      <a:pt x="102" y="24"/>
                      <a:pt x="102" y="24"/>
                      <a:pt x="102" y="24"/>
                    </a:cubicBezTo>
                    <a:cubicBezTo>
                      <a:pt x="102" y="22"/>
                      <a:pt x="102" y="22"/>
                      <a:pt x="102" y="2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13" y="15"/>
                      <a:pt x="113" y="15"/>
                      <a:pt x="113" y="15"/>
                    </a:cubicBezTo>
                    <a:cubicBezTo>
                      <a:pt x="110" y="26"/>
                      <a:pt x="110" y="26"/>
                      <a:pt x="110" y="26"/>
                    </a:cubicBezTo>
                    <a:cubicBezTo>
                      <a:pt x="108" y="27"/>
                      <a:pt x="108" y="27"/>
                      <a:pt x="108" y="27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110" y="45"/>
                      <a:pt x="110" y="45"/>
                      <a:pt x="110" y="45"/>
                    </a:cubicBezTo>
                    <a:cubicBezTo>
                      <a:pt x="111" y="34"/>
                      <a:pt x="111" y="34"/>
                      <a:pt x="111" y="34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8" y="86"/>
                      <a:pt x="128" y="86"/>
                      <a:pt x="128" y="86"/>
                    </a:cubicBezTo>
                    <a:cubicBezTo>
                      <a:pt x="140" y="93"/>
                      <a:pt x="140" y="93"/>
                      <a:pt x="140" y="93"/>
                    </a:cubicBezTo>
                    <a:cubicBezTo>
                      <a:pt x="162" y="108"/>
                      <a:pt x="162" y="108"/>
                      <a:pt x="162" y="108"/>
                    </a:cubicBezTo>
                    <a:cubicBezTo>
                      <a:pt x="162" y="108"/>
                      <a:pt x="162" y="109"/>
                      <a:pt x="162" y="109"/>
                    </a:cubicBezTo>
                    <a:cubicBezTo>
                      <a:pt x="222" y="60"/>
                      <a:pt x="222" y="60"/>
                      <a:pt x="222" y="60"/>
                    </a:cubicBezTo>
                    <a:cubicBezTo>
                      <a:pt x="225" y="57"/>
                      <a:pt x="231" y="57"/>
                      <a:pt x="235" y="60"/>
                    </a:cubicBezTo>
                    <a:cubicBezTo>
                      <a:pt x="326" y="135"/>
                      <a:pt x="326" y="135"/>
                      <a:pt x="326" y="135"/>
                    </a:cubicBezTo>
                    <a:cubicBezTo>
                      <a:pt x="325" y="137"/>
                      <a:pt x="322" y="137"/>
                      <a:pt x="320" y="137"/>
                    </a:cubicBezTo>
                    <a:cubicBezTo>
                      <a:pt x="312" y="137"/>
                      <a:pt x="312" y="137"/>
                      <a:pt x="312" y="137"/>
                    </a:cubicBezTo>
                    <a:cubicBezTo>
                      <a:pt x="160" y="114"/>
                      <a:pt x="160" y="114"/>
                      <a:pt x="160" y="114"/>
                    </a:cubicBezTo>
                    <a:cubicBezTo>
                      <a:pt x="156" y="137"/>
                      <a:pt x="156" y="137"/>
                      <a:pt x="156" y="137"/>
                    </a:cubicBezTo>
                    <a:cubicBezTo>
                      <a:pt x="137" y="137"/>
                      <a:pt x="137" y="137"/>
                      <a:pt x="137" y="137"/>
                    </a:cubicBezTo>
                    <a:cubicBezTo>
                      <a:pt x="134" y="137"/>
                      <a:pt x="132" y="137"/>
                      <a:pt x="130" y="135"/>
                    </a:cubicBezTo>
                    <a:cubicBezTo>
                      <a:pt x="135" y="131"/>
                      <a:pt x="135" y="131"/>
                      <a:pt x="135" y="131"/>
                    </a:cubicBezTo>
                    <a:cubicBezTo>
                      <a:pt x="121" y="121"/>
                      <a:pt x="121" y="121"/>
                      <a:pt x="121" y="121"/>
                    </a:cubicBezTo>
                    <a:cubicBezTo>
                      <a:pt x="110" y="112"/>
                      <a:pt x="110" y="112"/>
                      <a:pt x="110" y="112"/>
                    </a:cubicBezTo>
                    <a:cubicBezTo>
                      <a:pt x="104" y="108"/>
                      <a:pt x="104" y="108"/>
                      <a:pt x="104" y="108"/>
                    </a:cubicBezTo>
                    <a:cubicBezTo>
                      <a:pt x="104" y="108"/>
                      <a:pt x="104" y="108"/>
                      <a:pt x="104" y="108"/>
                    </a:cubicBezTo>
                    <a:cubicBezTo>
                      <a:pt x="103" y="108"/>
                      <a:pt x="103" y="108"/>
                      <a:pt x="103" y="108"/>
                    </a:cubicBezTo>
                    <a:cubicBezTo>
                      <a:pt x="103" y="108"/>
                      <a:pt x="103" y="108"/>
                      <a:pt x="103" y="108"/>
                    </a:cubicBezTo>
                    <a:cubicBezTo>
                      <a:pt x="103" y="108"/>
                      <a:pt x="103" y="108"/>
                      <a:pt x="103" y="108"/>
                    </a:cubicBezTo>
                    <a:cubicBezTo>
                      <a:pt x="90" y="85"/>
                      <a:pt x="100" y="101"/>
                      <a:pt x="97" y="96"/>
                    </a:cubicBezTo>
                    <a:cubicBezTo>
                      <a:pt x="97" y="96"/>
                      <a:pt x="97" y="96"/>
                      <a:pt x="97" y="96"/>
                    </a:cubicBezTo>
                    <a:cubicBezTo>
                      <a:pt x="97" y="96"/>
                      <a:pt x="97" y="96"/>
                      <a:pt x="97" y="96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6" y="91"/>
                      <a:pt x="96" y="91"/>
                      <a:pt x="96" y="91"/>
                    </a:cubicBezTo>
                    <a:cubicBezTo>
                      <a:pt x="95" y="85"/>
                      <a:pt x="95" y="85"/>
                      <a:pt x="95" y="85"/>
                    </a:cubicBezTo>
                    <a:cubicBezTo>
                      <a:pt x="91" y="96"/>
                      <a:pt x="87" y="108"/>
                      <a:pt x="82" y="121"/>
                    </a:cubicBezTo>
                    <a:cubicBezTo>
                      <a:pt x="87" y="130"/>
                      <a:pt x="94" y="145"/>
                      <a:pt x="101" y="161"/>
                    </a:cubicBezTo>
                    <a:cubicBezTo>
                      <a:pt x="111" y="205"/>
                      <a:pt x="108" y="234"/>
                      <a:pt x="111" y="262"/>
                    </a:cubicBezTo>
                    <a:cubicBezTo>
                      <a:pt x="77" y="265"/>
                      <a:pt x="77" y="265"/>
                      <a:pt x="77" y="265"/>
                    </a:cubicBezTo>
                    <a:cubicBezTo>
                      <a:pt x="70" y="189"/>
                      <a:pt x="70" y="189"/>
                      <a:pt x="70" y="189"/>
                    </a:cubicBezTo>
                    <a:cubicBezTo>
                      <a:pt x="69" y="180"/>
                      <a:pt x="69" y="180"/>
                      <a:pt x="69" y="180"/>
                    </a:cubicBezTo>
                    <a:cubicBezTo>
                      <a:pt x="69" y="180"/>
                      <a:pt x="69" y="180"/>
                      <a:pt x="69" y="179"/>
                    </a:cubicBezTo>
                    <a:cubicBezTo>
                      <a:pt x="68" y="177"/>
                      <a:pt x="68" y="177"/>
                      <a:pt x="68" y="177"/>
                    </a:cubicBezTo>
                    <a:cubicBezTo>
                      <a:pt x="59" y="160"/>
                      <a:pt x="59" y="160"/>
                      <a:pt x="59" y="160"/>
                    </a:cubicBezTo>
                    <a:cubicBezTo>
                      <a:pt x="54" y="149"/>
                      <a:pt x="54" y="149"/>
                      <a:pt x="54" y="149"/>
                    </a:cubicBezTo>
                    <a:cubicBezTo>
                      <a:pt x="52" y="180"/>
                      <a:pt x="47" y="232"/>
                      <a:pt x="41" y="264"/>
                    </a:cubicBezTo>
                    <a:cubicBezTo>
                      <a:pt x="8" y="260"/>
                      <a:pt x="8" y="260"/>
                      <a:pt x="8" y="260"/>
                    </a:cubicBezTo>
                    <a:cubicBezTo>
                      <a:pt x="13" y="212"/>
                      <a:pt x="16" y="167"/>
                      <a:pt x="18" y="120"/>
                    </a:cubicBezTo>
                    <a:cubicBezTo>
                      <a:pt x="13" y="117"/>
                      <a:pt x="8" y="115"/>
                      <a:pt x="3" y="113"/>
                    </a:cubicBezTo>
                    <a:cubicBezTo>
                      <a:pt x="3" y="112"/>
                      <a:pt x="3" y="112"/>
                      <a:pt x="3" y="112"/>
                    </a:cubicBezTo>
                    <a:cubicBezTo>
                      <a:pt x="10" y="97"/>
                      <a:pt x="18" y="83"/>
                      <a:pt x="25" y="6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5" y="14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91" name="Freeform 866"/>
              <p:cNvSpPr>
                <a:spLocks noEditPoints="1"/>
              </p:cNvSpPr>
              <p:nvPr/>
            </p:nvSpPr>
            <p:spPr bwMode="auto">
              <a:xfrm>
                <a:off x="9904413" y="6296818"/>
                <a:ext cx="352425" cy="206375"/>
              </a:xfrm>
              <a:custGeom>
                <a:avLst/>
                <a:gdLst>
                  <a:gd name="T0" fmla="*/ 108 w 202"/>
                  <a:gd name="T1" fmla="*/ 78 h 118"/>
                  <a:gd name="T2" fmla="*/ 202 w 202"/>
                  <a:gd name="T3" fmla="*/ 0 h 118"/>
                  <a:gd name="T4" fmla="*/ 202 w 202"/>
                  <a:gd name="T5" fmla="*/ 108 h 118"/>
                  <a:gd name="T6" fmla="*/ 193 w 202"/>
                  <a:gd name="T7" fmla="*/ 118 h 118"/>
                  <a:gd name="T8" fmla="*/ 10 w 202"/>
                  <a:gd name="T9" fmla="*/ 118 h 118"/>
                  <a:gd name="T10" fmla="*/ 0 w 202"/>
                  <a:gd name="T11" fmla="*/ 108 h 118"/>
                  <a:gd name="T12" fmla="*/ 0 w 202"/>
                  <a:gd name="T13" fmla="*/ 0 h 118"/>
                  <a:gd name="T14" fmla="*/ 95 w 202"/>
                  <a:gd name="T15" fmla="*/ 78 h 118"/>
                  <a:gd name="T16" fmla="*/ 108 w 202"/>
                  <a:gd name="T17" fmla="*/ 78 h 118"/>
                  <a:gd name="T18" fmla="*/ 145 w 202"/>
                  <a:gd name="T19" fmla="*/ 67 h 118"/>
                  <a:gd name="T20" fmla="*/ 189 w 202"/>
                  <a:gd name="T21" fmla="*/ 109 h 118"/>
                  <a:gd name="T22" fmla="*/ 191 w 202"/>
                  <a:gd name="T23" fmla="*/ 110 h 118"/>
                  <a:gd name="T24" fmla="*/ 193 w 202"/>
                  <a:gd name="T25" fmla="*/ 109 h 118"/>
                  <a:gd name="T26" fmla="*/ 193 w 202"/>
                  <a:gd name="T27" fmla="*/ 104 h 118"/>
                  <a:gd name="T28" fmla="*/ 149 w 202"/>
                  <a:gd name="T29" fmla="*/ 62 h 118"/>
                  <a:gd name="T30" fmla="*/ 145 w 202"/>
                  <a:gd name="T31" fmla="*/ 62 h 118"/>
                  <a:gd name="T32" fmla="*/ 145 w 202"/>
                  <a:gd name="T33" fmla="*/ 67 h 118"/>
                  <a:gd name="T34" fmla="*/ 58 w 202"/>
                  <a:gd name="T35" fmla="*/ 62 h 118"/>
                  <a:gd name="T36" fmla="*/ 54 w 202"/>
                  <a:gd name="T37" fmla="*/ 62 h 118"/>
                  <a:gd name="T38" fmla="*/ 9 w 202"/>
                  <a:gd name="T39" fmla="*/ 104 h 118"/>
                  <a:gd name="T40" fmla="*/ 9 w 202"/>
                  <a:gd name="T41" fmla="*/ 109 h 118"/>
                  <a:gd name="T42" fmla="*/ 12 w 202"/>
                  <a:gd name="T43" fmla="*/ 110 h 118"/>
                  <a:gd name="T44" fmla="*/ 14 w 202"/>
                  <a:gd name="T45" fmla="*/ 109 h 118"/>
                  <a:gd name="T46" fmla="*/ 58 w 202"/>
                  <a:gd name="T47" fmla="*/ 67 h 118"/>
                  <a:gd name="T48" fmla="*/ 58 w 202"/>
                  <a:gd name="T49" fmla="*/ 62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02" h="118">
                    <a:moveTo>
                      <a:pt x="108" y="78"/>
                    </a:moveTo>
                    <a:cubicBezTo>
                      <a:pt x="202" y="0"/>
                      <a:pt x="202" y="0"/>
                      <a:pt x="202" y="0"/>
                    </a:cubicBezTo>
                    <a:cubicBezTo>
                      <a:pt x="202" y="108"/>
                      <a:pt x="202" y="108"/>
                      <a:pt x="202" y="108"/>
                    </a:cubicBezTo>
                    <a:cubicBezTo>
                      <a:pt x="202" y="113"/>
                      <a:pt x="198" y="118"/>
                      <a:pt x="193" y="118"/>
                    </a:cubicBezTo>
                    <a:cubicBezTo>
                      <a:pt x="10" y="118"/>
                      <a:pt x="10" y="118"/>
                      <a:pt x="10" y="118"/>
                    </a:cubicBezTo>
                    <a:cubicBezTo>
                      <a:pt x="4" y="118"/>
                      <a:pt x="0" y="113"/>
                      <a:pt x="0" y="10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5" y="78"/>
                      <a:pt x="95" y="78"/>
                      <a:pt x="95" y="78"/>
                    </a:cubicBezTo>
                    <a:cubicBezTo>
                      <a:pt x="98" y="81"/>
                      <a:pt x="104" y="81"/>
                      <a:pt x="108" y="78"/>
                    </a:cubicBezTo>
                    <a:close/>
                    <a:moveTo>
                      <a:pt x="145" y="67"/>
                    </a:moveTo>
                    <a:cubicBezTo>
                      <a:pt x="189" y="109"/>
                      <a:pt x="189" y="109"/>
                      <a:pt x="189" y="109"/>
                    </a:cubicBezTo>
                    <a:cubicBezTo>
                      <a:pt x="190" y="109"/>
                      <a:pt x="190" y="110"/>
                      <a:pt x="191" y="110"/>
                    </a:cubicBezTo>
                    <a:cubicBezTo>
                      <a:pt x="192" y="110"/>
                      <a:pt x="193" y="109"/>
                      <a:pt x="193" y="109"/>
                    </a:cubicBezTo>
                    <a:cubicBezTo>
                      <a:pt x="195" y="107"/>
                      <a:pt x="195" y="105"/>
                      <a:pt x="193" y="104"/>
                    </a:cubicBezTo>
                    <a:cubicBezTo>
                      <a:pt x="149" y="62"/>
                      <a:pt x="149" y="62"/>
                      <a:pt x="149" y="62"/>
                    </a:cubicBezTo>
                    <a:cubicBezTo>
                      <a:pt x="148" y="61"/>
                      <a:pt x="146" y="61"/>
                      <a:pt x="145" y="62"/>
                    </a:cubicBezTo>
                    <a:cubicBezTo>
                      <a:pt x="143" y="64"/>
                      <a:pt x="143" y="66"/>
                      <a:pt x="145" y="67"/>
                    </a:cubicBezTo>
                    <a:close/>
                    <a:moveTo>
                      <a:pt x="58" y="62"/>
                    </a:moveTo>
                    <a:cubicBezTo>
                      <a:pt x="57" y="61"/>
                      <a:pt x="55" y="61"/>
                      <a:pt x="54" y="62"/>
                    </a:cubicBezTo>
                    <a:cubicBezTo>
                      <a:pt x="9" y="104"/>
                      <a:pt x="9" y="104"/>
                      <a:pt x="9" y="104"/>
                    </a:cubicBezTo>
                    <a:cubicBezTo>
                      <a:pt x="8" y="105"/>
                      <a:pt x="8" y="107"/>
                      <a:pt x="9" y="109"/>
                    </a:cubicBezTo>
                    <a:cubicBezTo>
                      <a:pt x="10" y="109"/>
                      <a:pt x="11" y="110"/>
                      <a:pt x="12" y="110"/>
                    </a:cubicBezTo>
                    <a:cubicBezTo>
                      <a:pt x="12" y="110"/>
                      <a:pt x="13" y="109"/>
                      <a:pt x="14" y="109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59" y="66"/>
                      <a:pt x="59" y="64"/>
                      <a:pt x="58" y="6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92" name="Freeform 867"/>
              <p:cNvSpPr/>
              <p:nvPr/>
            </p:nvSpPr>
            <p:spPr bwMode="auto">
              <a:xfrm>
                <a:off x="9993313" y="6295231"/>
                <a:ext cx="198438" cy="49213"/>
              </a:xfrm>
              <a:custGeom>
                <a:avLst/>
                <a:gdLst>
                  <a:gd name="T0" fmla="*/ 7 w 114"/>
                  <a:gd name="T1" fmla="*/ 0 h 28"/>
                  <a:gd name="T2" fmla="*/ 109 w 114"/>
                  <a:gd name="T3" fmla="*/ 18 h 28"/>
                  <a:gd name="T4" fmla="*/ 113 w 114"/>
                  <a:gd name="T5" fmla="*/ 24 h 28"/>
                  <a:gd name="T6" fmla="*/ 108 w 114"/>
                  <a:gd name="T7" fmla="*/ 28 h 28"/>
                  <a:gd name="T8" fmla="*/ 107 w 114"/>
                  <a:gd name="T9" fmla="*/ 28 h 28"/>
                  <a:gd name="T10" fmla="*/ 5 w 114"/>
                  <a:gd name="T11" fmla="*/ 11 h 28"/>
                  <a:gd name="T12" fmla="*/ 1 w 114"/>
                  <a:gd name="T13" fmla="*/ 5 h 28"/>
                  <a:gd name="T14" fmla="*/ 7 w 114"/>
                  <a:gd name="T15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4" h="28">
                    <a:moveTo>
                      <a:pt x="7" y="0"/>
                    </a:moveTo>
                    <a:cubicBezTo>
                      <a:pt x="109" y="18"/>
                      <a:pt x="109" y="18"/>
                      <a:pt x="109" y="18"/>
                    </a:cubicBezTo>
                    <a:cubicBezTo>
                      <a:pt x="112" y="18"/>
                      <a:pt x="114" y="21"/>
                      <a:pt x="113" y="24"/>
                    </a:cubicBezTo>
                    <a:cubicBezTo>
                      <a:pt x="113" y="27"/>
                      <a:pt x="110" y="28"/>
                      <a:pt x="108" y="28"/>
                    </a:cubicBezTo>
                    <a:cubicBezTo>
                      <a:pt x="107" y="28"/>
                      <a:pt x="107" y="28"/>
                      <a:pt x="107" y="28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0"/>
                      <a:pt x="0" y="8"/>
                      <a:pt x="1" y="5"/>
                    </a:cubicBezTo>
                    <a:cubicBezTo>
                      <a:pt x="1" y="2"/>
                      <a:pt x="4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93" name="Freeform 868"/>
              <p:cNvSpPr/>
              <p:nvPr/>
            </p:nvSpPr>
            <p:spPr bwMode="auto">
              <a:xfrm>
                <a:off x="9985375" y="6331743"/>
                <a:ext cx="160338" cy="44450"/>
              </a:xfrm>
              <a:custGeom>
                <a:avLst/>
                <a:gdLst>
                  <a:gd name="T0" fmla="*/ 1 w 91"/>
                  <a:gd name="T1" fmla="*/ 5 h 25"/>
                  <a:gd name="T2" fmla="*/ 7 w 91"/>
                  <a:gd name="T3" fmla="*/ 1 h 25"/>
                  <a:gd name="T4" fmla="*/ 86 w 91"/>
                  <a:gd name="T5" fmla="*/ 14 h 25"/>
                  <a:gd name="T6" fmla="*/ 90 w 91"/>
                  <a:gd name="T7" fmla="*/ 20 h 25"/>
                  <a:gd name="T8" fmla="*/ 85 w 91"/>
                  <a:gd name="T9" fmla="*/ 25 h 25"/>
                  <a:gd name="T10" fmla="*/ 84 w 91"/>
                  <a:gd name="T11" fmla="*/ 25 h 25"/>
                  <a:gd name="T12" fmla="*/ 5 w 91"/>
                  <a:gd name="T13" fmla="*/ 11 h 25"/>
                  <a:gd name="T14" fmla="*/ 1 w 91"/>
                  <a:gd name="T15" fmla="*/ 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25">
                    <a:moveTo>
                      <a:pt x="1" y="5"/>
                    </a:moveTo>
                    <a:cubicBezTo>
                      <a:pt x="1" y="2"/>
                      <a:pt x="4" y="0"/>
                      <a:pt x="7" y="1"/>
                    </a:cubicBezTo>
                    <a:cubicBezTo>
                      <a:pt x="86" y="14"/>
                      <a:pt x="86" y="14"/>
                      <a:pt x="86" y="14"/>
                    </a:cubicBezTo>
                    <a:cubicBezTo>
                      <a:pt x="89" y="15"/>
                      <a:pt x="91" y="18"/>
                      <a:pt x="90" y="20"/>
                    </a:cubicBezTo>
                    <a:cubicBezTo>
                      <a:pt x="90" y="23"/>
                      <a:pt x="87" y="25"/>
                      <a:pt x="85" y="25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8"/>
                      <a:pt x="1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694" name="Freeform 869"/>
              <p:cNvSpPr/>
              <p:nvPr/>
            </p:nvSpPr>
            <p:spPr bwMode="auto">
              <a:xfrm>
                <a:off x="10034588" y="6379368"/>
                <a:ext cx="73025" cy="28575"/>
              </a:xfrm>
              <a:custGeom>
                <a:avLst/>
                <a:gdLst>
                  <a:gd name="T0" fmla="*/ 37 w 42"/>
                  <a:gd name="T1" fmla="*/ 5 h 16"/>
                  <a:gd name="T2" fmla="*/ 42 w 42"/>
                  <a:gd name="T3" fmla="*/ 12 h 16"/>
                  <a:gd name="T4" fmla="*/ 37 w 42"/>
                  <a:gd name="T5" fmla="*/ 16 h 16"/>
                  <a:gd name="T6" fmla="*/ 36 w 42"/>
                  <a:gd name="T7" fmla="*/ 16 h 16"/>
                  <a:gd name="T8" fmla="*/ 5 w 42"/>
                  <a:gd name="T9" fmla="*/ 11 h 16"/>
                  <a:gd name="T10" fmla="*/ 1 w 42"/>
                  <a:gd name="T11" fmla="*/ 5 h 16"/>
                  <a:gd name="T12" fmla="*/ 7 w 42"/>
                  <a:gd name="T13" fmla="*/ 1 h 16"/>
                  <a:gd name="T14" fmla="*/ 37 w 42"/>
                  <a:gd name="T15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16">
                    <a:moveTo>
                      <a:pt x="37" y="5"/>
                    </a:moveTo>
                    <a:cubicBezTo>
                      <a:pt x="40" y="6"/>
                      <a:pt x="42" y="9"/>
                      <a:pt x="42" y="12"/>
                    </a:cubicBezTo>
                    <a:cubicBezTo>
                      <a:pt x="41" y="14"/>
                      <a:pt x="39" y="16"/>
                      <a:pt x="37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3" y="11"/>
                      <a:pt x="0" y="8"/>
                      <a:pt x="1" y="5"/>
                    </a:cubicBezTo>
                    <a:cubicBezTo>
                      <a:pt x="1" y="2"/>
                      <a:pt x="4" y="0"/>
                      <a:pt x="7" y="1"/>
                    </a:cubicBezTo>
                    <a:lnTo>
                      <a:pt x="37" y="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48695" name="TextBox 33"/>
          <p:cNvSpPr txBox="1"/>
          <p:nvPr/>
        </p:nvSpPr>
        <p:spPr>
          <a:xfrm>
            <a:off x="4917554" y="1119687"/>
            <a:ext cx="2346338" cy="553998"/>
          </a:xfrm>
          <a:prstGeom prst="rect"/>
          <a:noFill/>
        </p:spPr>
        <p:txBody>
          <a:bodyPr anchor="ctr" bIns="0" lIns="0" rIns="0" rtlCol="0" tIns="0" wrap="square">
            <a:spAutoFit/>
          </a:bodyPr>
          <a:p>
            <a:pPr algn="ctr"/>
            <a:r>
              <a:rPr altLang="en-US" b="1" dirty="0" sz="3600" lang="zh-CN">
                <a:solidFill>
                  <a:srgbClr val="344F66"/>
                </a:solidFill>
                <a:cs typeface="+mn-ea"/>
                <a:sym typeface="+mn-lt"/>
              </a:rPr>
              <a:t>三个意义</a:t>
            </a:r>
            <a:endParaRPr altLang="zh-CN" b="1" dirty="0" sz="3600" lang="en-US">
              <a:solidFill>
                <a:srgbClr val="344F66"/>
              </a:solidFill>
              <a:cs typeface="+mn-ea"/>
              <a:sym typeface="+mn-lt"/>
            </a:endParaRPr>
          </a:p>
        </p:txBody>
      </p:sp>
      <p:grpSp>
        <p:nvGrpSpPr>
          <p:cNvPr id="68" name="组合 27"/>
          <p:cNvGrpSpPr/>
          <p:nvPr/>
        </p:nvGrpSpPr>
        <p:grpSpPr>
          <a:xfrm>
            <a:off x="943429" y="1824164"/>
            <a:ext cx="10309654" cy="1364343"/>
            <a:chOff x="943429" y="1743479"/>
            <a:chExt cx="10309654" cy="1364343"/>
          </a:xfrm>
        </p:grpSpPr>
        <p:sp>
          <p:nvSpPr>
            <p:cNvPr id="1048696" name="圆角矩形 32"/>
            <p:cNvSpPr/>
            <p:nvPr/>
          </p:nvSpPr>
          <p:spPr>
            <a:xfrm>
              <a:off x="943429" y="1743479"/>
              <a:ext cx="9844020" cy="1364343"/>
            </a:xfrm>
            <a:prstGeom prst="roundRect"/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b="1" sz="2000" 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97" name="五边形 33"/>
            <p:cNvSpPr/>
            <p:nvPr/>
          </p:nvSpPr>
          <p:spPr>
            <a:xfrm>
              <a:off x="9830683" y="2052632"/>
              <a:ext cx="1422400" cy="746036"/>
            </a:xfrm>
            <a:prstGeom prst="homePlate">
              <a:avLst>
                <a:gd name="adj" fmla="val 31490"/>
              </a:avLst>
            </a:prstGeom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bIns="108000" lIns="0" rIns="216000" rtlCol="0" tIns="144000"/>
            <a:p>
              <a:pPr algn="ctr"/>
              <a:r>
                <a:rPr altLang="zh-CN" b="1" dirty="0" sz="4400" lang="en-US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altLang="en-US" b="1" dirty="0" sz="4400" lang="zh-CN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698" name="TextBox 33"/>
            <p:cNvSpPr txBox="1"/>
            <p:nvPr/>
          </p:nvSpPr>
          <p:spPr>
            <a:xfrm>
              <a:off x="3079313" y="1998172"/>
              <a:ext cx="5977601" cy="931409"/>
            </a:xfrm>
            <a:prstGeom prst="rect"/>
            <a:noFill/>
          </p:spPr>
          <p:txBody>
            <a:bodyPr bIns="0" lIns="0" rIns="0" rtlCol="0" tIns="0" wrap="square">
              <a:spAutoFit/>
            </a:bodyPr>
            <a:p>
              <a:pPr>
                <a:lnSpc>
                  <a:spcPct val="150000"/>
                </a:lnSpc>
              </a:pPr>
              <a:r>
                <a:rPr altLang="en-US" b="1" dirty="0" sz="1400" lang="zh-CN">
                  <a:solidFill>
                    <a:srgbClr val="555555"/>
                  </a:solidFill>
                  <a:cs typeface="+mn-ea"/>
                </a:rPr>
                <a:t>类银河恶魔城游戏在国内研究相对较少，本课题基于</a:t>
              </a:r>
              <a:r>
                <a:rPr altLang="zh-CN" b="1" dirty="0" sz="1400" lang="en-US">
                  <a:solidFill>
                    <a:srgbClr val="555555"/>
                  </a:solidFill>
                  <a:cs typeface="+mn-ea"/>
                </a:rPr>
                <a:t>Unity</a:t>
              </a:r>
              <a:r>
                <a:rPr altLang="en-US" b="1" dirty="0" sz="1400" lang="zh-CN">
                  <a:solidFill>
                    <a:srgbClr val="555555"/>
                  </a:solidFill>
                  <a:cs typeface="+mn-ea"/>
                </a:rPr>
                <a:t>对其关卡结构、角色成长机制、探索反馈系统等进行分析与实现，可为该类型游戏设计方法和玩法机制研究提供参考，丰富相关理论体系。</a:t>
              </a:r>
              <a:endParaRPr altLang="en-US" b="1" dirty="0" sz="1400" lang="zh-CN">
                <a:solidFill>
                  <a:srgbClr val="555555"/>
                </a:solidFill>
                <a:cs typeface="+mn-ea"/>
                <a:sym typeface="+mn-lt"/>
              </a:endParaRPr>
            </a:p>
          </p:txBody>
        </p:sp>
        <p:sp>
          <p:nvSpPr>
            <p:cNvPr id="1048699" name="椭圆 31"/>
            <p:cNvSpPr/>
            <p:nvPr/>
          </p:nvSpPr>
          <p:spPr>
            <a:xfrm>
              <a:off x="1554484" y="2042274"/>
              <a:ext cx="766752" cy="766752"/>
            </a:xfrm>
            <a:prstGeom prst="ellipse"/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b="1" sz="2000" 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9" name="组合 32"/>
            <p:cNvGrpSpPr/>
            <p:nvPr/>
          </p:nvGrpSpPr>
          <p:grpSpPr>
            <a:xfrm>
              <a:off x="1682667" y="2126248"/>
              <a:ext cx="522298" cy="598804"/>
              <a:chOff x="2033588" y="4343400"/>
              <a:chExt cx="563563" cy="646113"/>
            </a:xfrm>
            <a:solidFill>
              <a:schemeClr val="bg1"/>
            </a:solidFill>
          </p:grpSpPr>
          <p:sp>
            <p:nvSpPr>
              <p:cNvPr id="1048700" name="Oval 316"/>
              <p:cNvSpPr>
                <a:spLocks noChangeArrowheads="1"/>
              </p:cNvSpPr>
              <p:nvPr/>
            </p:nvSpPr>
            <p:spPr bwMode="auto">
              <a:xfrm>
                <a:off x="2166938" y="4343400"/>
                <a:ext cx="101600" cy="123825"/>
              </a:xfrm>
              <a:prstGeom prst="ellipse"/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01" name="Freeform 317"/>
              <p:cNvSpPr>
                <a:spLocks noEditPoints="1"/>
              </p:cNvSpPr>
              <p:nvPr/>
            </p:nvSpPr>
            <p:spPr bwMode="auto">
              <a:xfrm>
                <a:off x="2033588" y="4479925"/>
                <a:ext cx="361950" cy="509588"/>
              </a:xfrm>
              <a:custGeom>
                <a:avLst/>
                <a:gdLst>
                  <a:gd name="T0" fmla="*/ 206 w 207"/>
                  <a:gd name="T1" fmla="*/ 44 h 292"/>
                  <a:gd name="T2" fmla="*/ 205 w 207"/>
                  <a:gd name="T3" fmla="*/ 44 h 292"/>
                  <a:gd name="T4" fmla="*/ 195 w 207"/>
                  <a:gd name="T5" fmla="*/ 36 h 292"/>
                  <a:gd name="T6" fmla="*/ 154 w 207"/>
                  <a:gd name="T7" fmla="*/ 5 h 292"/>
                  <a:gd name="T8" fmla="*/ 144 w 207"/>
                  <a:gd name="T9" fmla="*/ 2 h 292"/>
                  <a:gd name="T10" fmla="*/ 129 w 207"/>
                  <a:gd name="T11" fmla="*/ 1 h 292"/>
                  <a:gd name="T12" fmla="*/ 127 w 207"/>
                  <a:gd name="T13" fmla="*/ 19 h 292"/>
                  <a:gd name="T14" fmla="*/ 115 w 207"/>
                  <a:gd name="T15" fmla="*/ 72 h 292"/>
                  <a:gd name="T16" fmla="*/ 115 w 207"/>
                  <a:gd name="T17" fmla="*/ 12 h 292"/>
                  <a:gd name="T18" fmla="*/ 99 w 207"/>
                  <a:gd name="T19" fmla="*/ 0 h 292"/>
                  <a:gd name="T20" fmla="*/ 99 w 207"/>
                  <a:gd name="T21" fmla="*/ 15 h 292"/>
                  <a:gd name="T22" fmla="*/ 77 w 207"/>
                  <a:gd name="T23" fmla="*/ 30 h 292"/>
                  <a:gd name="T24" fmla="*/ 69 w 207"/>
                  <a:gd name="T25" fmla="*/ 11 h 292"/>
                  <a:gd name="T26" fmla="*/ 81 w 207"/>
                  <a:gd name="T27" fmla="*/ 0 h 292"/>
                  <a:gd name="T28" fmla="*/ 66 w 207"/>
                  <a:gd name="T29" fmla="*/ 2 h 292"/>
                  <a:gd name="T30" fmla="*/ 5 w 207"/>
                  <a:gd name="T31" fmla="*/ 60 h 292"/>
                  <a:gd name="T32" fmla="*/ 5 w 207"/>
                  <a:gd name="T33" fmla="*/ 61 h 292"/>
                  <a:gd name="T34" fmla="*/ 2 w 207"/>
                  <a:gd name="T35" fmla="*/ 81 h 292"/>
                  <a:gd name="T36" fmla="*/ 3 w 207"/>
                  <a:gd name="T37" fmla="*/ 82 h 292"/>
                  <a:gd name="T38" fmla="*/ 4 w 207"/>
                  <a:gd name="T39" fmla="*/ 85 h 292"/>
                  <a:gd name="T40" fmla="*/ 10 w 207"/>
                  <a:gd name="T41" fmla="*/ 97 h 292"/>
                  <a:gd name="T42" fmla="*/ 34 w 207"/>
                  <a:gd name="T43" fmla="*/ 144 h 292"/>
                  <a:gd name="T44" fmla="*/ 56 w 207"/>
                  <a:gd name="T45" fmla="*/ 153 h 292"/>
                  <a:gd name="T46" fmla="*/ 60 w 207"/>
                  <a:gd name="T47" fmla="*/ 154 h 292"/>
                  <a:gd name="T48" fmla="*/ 103 w 207"/>
                  <a:gd name="T49" fmla="*/ 292 h 292"/>
                  <a:gd name="T50" fmla="*/ 96 w 207"/>
                  <a:gd name="T51" fmla="*/ 188 h 292"/>
                  <a:gd name="T52" fmla="*/ 153 w 207"/>
                  <a:gd name="T53" fmla="*/ 56 h 292"/>
                  <a:gd name="T54" fmla="*/ 160 w 207"/>
                  <a:gd name="T55" fmla="*/ 53 h 292"/>
                  <a:gd name="T56" fmla="*/ 129 w 207"/>
                  <a:gd name="T57" fmla="*/ 76 h 292"/>
                  <a:gd name="T58" fmla="*/ 153 w 207"/>
                  <a:gd name="T59" fmla="*/ 56 h 292"/>
                  <a:gd name="T60" fmla="*/ 52 w 207"/>
                  <a:gd name="T61" fmla="*/ 94 h 292"/>
                  <a:gd name="T62" fmla="*/ 41 w 207"/>
                  <a:gd name="T63" fmla="*/ 74 h 292"/>
                  <a:gd name="T64" fmla="*/ 57 w 207"/>
                  <a:gd name="T65" fmla="*/ 10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07" h="292">
                    <a:moveTo>
                      <a:pt x="205" y="71"/>
                    </a:moveTo>
                    <a:cubicBezTo>
                      <a:pt x="206" y="59"/>
                      <a:pt x="207" y="41"/>
                      <a:pt x="206" y="44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5" y="44"/>
                      <a:pt x="205" y="44"/>
                      <a:pt x="205" y="44"/>
                    </a:cubicBezTo>
                    <a:cubicBezTo>
                      <a:pt x="202" y="41"/>
                      <a:pt x="202" y="41"/>
                      <a:pt x="202" y="41"/>
                    </a:cubicBezTo>
                    <a:cubicBezTo>
                      <a:pt x="195" y="36"/>
                      <a:pt x="195" y="36"/>
                      <a:pt x="195" y="36"/>
                    </a:cubicBezTo>
                    <a:cubicBezTo>
                      <a:pt x="181" y="26"/>
                      <a:pt x="181" y="26"/>
                      <a:pt x="181" y="26"/>
                    </a:cubicBezTo>
                    <a:cubicBezTo>
                      <a:pt x="154" y="5"/>
                      <a:pt x="154" y="5"/>
                      <a:pt x="154" y="5"/>
                    </a:cubicBezTo>
                    <a:cubicBezTo>
                      <a:pt x="151" y="3"/>
                      <a:pt x="147" y="2"/>
                      <a:pt x="144" y="2"/>
                    </a:cubicBezTo>
                    <a:cubicBezTo>
                      <a:pt x="144" y="2"/>
                      <a:pt x="144" y="2"/>
                      <a:pt x="144" y="2"/>
                    </a:cubicBezTo>
                    <a:cubicBezTo>
                      <a:pt x="139" y="1"/>
                      <a:pt x="134" y="1"/>
                      <a:pt x="129" y="0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42" y="11"/>
                      <a:pt x="142" y="11"/>
                      <a:pt x="142" y="11"/>
                    </a:cubicBezTo>
                    <a:cubicBezTo>
                      <a:pt x="127" y="19"/>
                      <a:pt x="127" y="19"/>
                      <a:pt x="127" y="19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15" y="72"/>
                      <a:pt x="115" y="72"/>
                      <a:pt x="115" y="72"/>
                    </a:cubicBezTo>
                    <a:cubicBezTo>
                      <a:pt x="112" y="15"/>
                      <a:pt x="112" y="15"/>
                      <a:pt x="112" y="15"/>
                    </a:cubicBezTo>
                    <a:cubicBezTo>
                      <a:pt x="115" y="12"/>
                      <a:pt x="115" y="12"/>
                      <a:pt x="115" y="12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9" y="15"/>
                      <a:pt x="99" y="15"/>
                      <a:pt x="99" y="15"/>
                    </a:cubicBezTo>
                    <a:cubicBezTo>
                      <a:pt x="96" y="72"/>
                      <a:pt x="96" y="72"/>
                      <a:pt x="96" y="72"/>
                    </a:cubicBezTo>
                    <a:cubicBezTo>
                      <a:pt x="77" y="30"/>
                      <a:pt x="77" y="30"/>
                      <a:pt x="77" y="30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76" y="1"/>
                      <a:pt x="72" y="1"/>
                      <a:pt x="67" y="2"/>
                    </a:cubicBezTo>
                    <a:cubicBezTo>
                      <a:pt x="67" y="2"/>
                      <a:pt x="66" y="2"/>
                      <a:pt x="66" y="2"/>
                    </a:cubicBezTo>
                    <a:cubicBezTo>
                      <a:pt x="61" y="2"/>
                      <a:pt x="57" y="4"/>
                      <a:pt x="53" y="8"/>
                    </a:cubicBezTo>
                    <a:cubicBezTo>
                      <a:pt x="5" y="60"/>
                      <a:pt x="5" y="60"/>
                      <a:pt x="5" y="60"/>
                    </a:cubicBezTo>
                    <a:cubicBezTo>
                      <a:pt x="5" y="61"/>
                      <a:pt x="5" y="61"/>
                      <a:pt x="5" y="61"/>
                    </a:cubicBezTo>
                    <a:cubicBezTo>
                      <a:pt x="5" y="61"/>
                      <a:pt x="5" y="61"/>
                      <a:pt x="5" y="61"/>
                    </a:cubicBezTo>
                    <a:cubicBezTo>
                      <a:pt x="0" y="102"/>
                      <a:pt x="3" y="72"/>
                      <a:pt x="2" y="81"/>
                    </a:cubicBezTo>
                    <a:cubicBezTo>
                      <a:pt x="2" y="81"/>
                      <a:pt x="2" y="81"/>
                      <a:pt x="2" y="81"/>
                    </a:cubicBezTo>
                    <a:cubicBezTo>
                      <a:pt x="2" y="82"/>
                      <a:pt x="2" y="82"/>
                      <a:pt x="2" y="82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3" y="83"/>
                      <a:pt x="3" y="83"/>
                      <a:pt x="3" y="83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10" y="97"/>
                      <a:pt x="10" y="97"/>
                      <a:pt x="10" y="97"/>
                    </a:cubicBezTo>
                    <a:cubicBezTo>
                      <a:pt x="18" y="113"/>
                      <a:pt x="18" y="113"/>
                      <a:pt x="18" y="113"/>
                    </a:cubicBezTo>
                    <a:cubicBezTo>
                      <a:pt x="34" y="144"/>
                      <a:pt x="34" y="144"/>
                      <a:pt x="34" y="144"/>
                    </a:cubicBezTo>
                    <a:cubicBezTo>
                      <a:pt x="42" y="141"/>
                      <a:pt x="49" y="137"/>
                      <a:pt x="56" y="133"/>
                    </a:cubicBezTo>
                    <a:cubicBezTo>
                      <a:pt x="56" y="140"/>
                      <a:pt x="56" y="146"/>
                      <a:pt x="56" y="153"/>
                    </a:cubicBezTo>
                    <a:cubicBezTo>
                      <a:pt x="56" y="153"/>
                      <a:pt x="56" y="154"/>
                      <a:pt x="56" y="154"/>
                    </a:cubicBezTo>
                    <a:cubicBezTo>
                      <a:pt x="57" y="154"/>
                      <a:pt x="58" y="154"/>
                      <a:pt x="60" y="154"/>
                    </a:cubicBezTo>
                    <a:cubicBezTo>
                      <a:pt x="64" y="292"/>
                      <a:pt x="64" y="292"/>
                      <a:pt x="64" y="292"/>
                    </a:cubicBezTo>
                    <a:cubicBezTo>
                      <a:pt x="103" y="292"/>
                      <a:pt x="103" y="292"/>
                      <a:pt x="103" y="292"/>
                    </a:cubicBezTo>
                    <a:cubicBezTo>
                      <a:pt x="104" y="275"/>
                      <a:pt x="104" y="252"/>
                      <a:pt x="104" y="230"/>
                    </a:cubicBezTo>
                    <a:cubicBezTo>
                      <a:pt x="99" y="217"/>
                      <a:pt x="96" y="202"/>
                      <a:pt x="96" y="188"/>
                    </a:cubicBezTo>
                    <a:cubicBezTo>
                      <a:pt x="96" y="126"/>
                      <a:pt x="144" y="75"/>
                      <a:pt x="205" y="71"/>
                    </a:cubicBezTo>
                    <a:close/>
                    <a:moveTo>
                      <a:pt x="153" y="56"/>
                    </a:moveTo>
                    <a:cubicBezTo>
                      <a:pt x="152" y="53"/>
                      <a:pt x="152" y="50"/>
                      <a:pt x="152" y="47"/>
                    </a:cubicBezTo>
                    <a:cubicBezTo>
                      <a:pt x="160" y="53"/>
                      <a:pt x="160" y="53"/>
                      <a:pt x="160" y="53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29" y="76"/>
                      <a:pt x="129" y="76"/>
                      <a:pt x="129" y="76"/>
                    </a:cubicBezTo>
                    <a:cubicBezTo>
                      <a:pt x="126" y="72"/>
                      <a:pt x="126" y="72"/>
                      <a:pt x="126" y="72"/>
                    </a:cubicBezTo>
                    <a:lnTo>
                      <a:pt x="153" y="56"/>
                    </a:lnTo>
                    <a:close/>
                    <a:moveTo>
                      <a:pt x="57" y="102"/>
                    </a:moveTo>
                    <a:cubicBezTo>
                      <a:pt x="52" y="94"/>
                      <a:pt x="52" y="94"/>
                      <a:pt x="52" y="94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58" y="53"/>
                      <a:pt x="58" y="53"/>
                      <a:pt x="58" y="53"/>
                    </a:cubicBezTo>
                    <a:cubicBezTo>
                      <a:pt x="58" y="70"/>
                      <a:pt x="57" y="86"/>
                      <a:pt x="57" y="10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02" name="Freeform 318"/>
              <p:cNvSpPr/>
              <p:nvPr/>
            </p:nvSpPr>
            <p:spPr bwMode="auto">
              <a:xfrm>
                <a:off x="2227263" y="4903788"/>
                <a:ext cx="71438" cy="85725"/>
              </a:xfrm>
              <a:custGeom>
                <a:avLst/>
                <a:gdLst>
                  <a:gd name="T0" fmla="*/ 0 w 41"/>
                  <a:gd name="T1" fmla="*/ 0 h 49"/>
                  <a:gd name="T2" fmla="*/ 1 w 41"/>
                  <a:gd name="T3" fmla="*/ 49 h 49"/>
                  <a:gd name="T4" fmla="*/ 41 w 41"/>
                  <a:gd name="T5" fmla="*/ 49 h 49"/>
                  <a:gd name="T6" fmla="*/ 41 w 41"/>
                  <a:gd name="T7" fmla="*/ 44 h 49"/>
                  <a:gd name="T8" fmla="*/ 0 w 41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9">
                    <a:moveTo>
                      <a:pt x="0" y="0"/>
                    </a:moveTo>
                    <a:cubicBezTo>
                      <a:pt x="1" y="49"/>
                      <a:pt x="1" y="49"/>
                      <a:pt x="1" y="49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7"/>
                      <a:pt x="41" y="45"/>
                      <a:pt x="41" y="44"/>
                    </a:cubicBezTo>
                    <a:cubicBezTo>
                      <a:pt x="24" y="33"/>
                      <a:pt x="10" y="1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03" name="Freeform 319"/>
              <p:cNvSpPr/>
              <p:nvPr/>
            </p:nvSpPr>
            <p:spPr bwMode="auto">
              <a:xfrm>
                <a:off x="2387600" y="4616450"/>
                <a:ext cx="61913" cy="47625"/>
              </a:xfrm>
              <a:custGeom>
                <a:avLst/>
                <a:gdLst>
                  <a:gd name="T0" fmla="*/ 34 w 39"/>
                  <a:gd name="T1" fmla="*/ 0 h 30"/>
                  <a:gd name="T2" fmla="*/ 28 w 39"/>
                  <a:gd name="T3" fmla="*/ 0 h 30"/>
                  <a:gd name="T4" fmla="*/ 12 w 39"/>
                  <a:gd name="T5" fmla="*/ 0 h 30"/>
                  <a:gd name="T6" fmla="*/ 5 w 39"/>
                  <a:gd name="T7" fmla="*/ 0 h 30"/>
                  <a:gd name="T8" fmla="*/ 0 w 39"/>
                  <a:gd name="T9" fmla="*/ 30 h 30"/>
                  <a:gd name="T10" fmla="*/ 12 w 39"/>
                  <a:gd name="T11" fmla="*/ 30 h 30"/>
                  <a:gd name="T12" fmla="*/ 28 w 39"/>
                  <a:gd name="T13" fmla="*/ 30 h 30"/>
                  <a:gd name="T14" fmla="*/ 39 w 39"/>
                  <a:gd name="T15" fmla="*/ 30 h 30"/>
                  <a:gd name="T16" fmla="*/ 34 w 39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30">
                    <a:moveTo>
                      <a:pt x="34" y="0"/>
                    </a:moveTo>
                    <a:lnTo>
                      <a:pt x="28" y="0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30"/>
                    </a:lnTo>
                    <a:lnTo>
                      <a:pt x="12" y="30"/>
                    </a:lnTo>
                    <a:lnTo>
                      <a:pt x="28" y="30"/>
                    </a:lnTo>
                    <a:lnTo>
                      <a:pt x="39" y="3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04" name="Freeform 320"/>
              <p:cNvSpPr/>
              <p:nvPr/>
            </p:nvSpPr>
            <p:spPr bwMode="auto">
              <a:xfrm>
                <a:off x="2305050" y="4625975"/>
                <a:ext cx="69850" cy="69850"/>
              </a:xfrm>
              <a:custGeom>
                <a:avLst/>
                <a:gdLst>
                  <a:gd name="T0" fmla="*/ 24 w 44"/>
                  <a:gd name="T1" fmla="*/ 0 h 44"/>
                  <a:gd name="T2" fmla="*/ 19 w 44"/>
                  <a:gd name="T3" fmla="*/ 4 h 44"/>
                  <a:gd name="T4" fmla="*/ 6 w 44"/>
                  <a:gd name="T5" fmla="*/ 11 h 44"/>
                  <a:gd name="T6" fmla="*/ 0 w 44"/>
                  <a:gd name="T7" fmla="*/ 15 h 44"/>
                  <a:gd name="T8" fmla="*/ 11 w 44"/>
                  <a:gd name="T9" fmla="*/ 44 h 44"/>
                  <a:gd name="T10" fmla="*/ 21 w 44"/>
                  <a:gd name="T11" fmla="*/ 38 h 44"/>
                  <a:gd name="T12" fmla="*/ 34 w 44"/>
                  <a:gd name="T13" fmla="*/ 30 h 44"/>
                  <a:gd name="T14" fmla="*/ 44 w 44"/>
                  <a:gd name="T15" fmla="*/ 24 h 44"/>
                  <a:gd name="T16" fmla="*/ 24 w 44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44">
                    <a:moveTo>
                      <a:pt x="24" y="0"/>
                    </a:moveTo>
                    <a:lnTo>
                      <a:pt x="19" y="4"/>
                    </a:lnTo>
                    <a:lnTo>
                      <a:pt x="6" y="11"/>
                    </a:lnTo>
                    <a:lnTo>
                      <a:pt x="0" y="15"/>
                    </a:lnTo>
                    <a:lnTo>
                      <a:pt x="11" y="44"/>
                    </a:lnTo>
                    <a:lnTo>
                      <a:pt x="21" y="38"/>
                    </a:lnTo>
                    <a:lnTo>
                      <a:pt x="34" y="30"/>
                    </a:lnTo>
                    <a:lnTo>
                      <a:pt x="44" y="24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05" name="Freeform 321"/>
              <p:cNvSpPr/>
              <p:nvPr/>
            </p:nvSpPr>
            <p:spPr bwMode="auto">
              <a:xfrm>
                <a:off x="2243138" y="4684713"/>
                <a:ext cx="68263" cy="69850"/>
              </a:xfrm>
              <a:custGeom>
                <a:avLst/>
                <a:gdLst>
                  <a:gd name="T0" fmla="*/ 14 w 43"/>
                  <a:gd name="T1" fmla="*/ 0 h 44"/>
                  <a:gd name="T2" fmla="*/ 11 w 43"/>
                  <a:gd name="T3" fmla="*/ 5 h 44"/>
                  <a:gd name="T4" fmla="*/ 3 w 43"/>
                  <a:gd name="T5" fmla="*/ 18 h 44"/>
                  <a:gd name="T6" fmla="*/ 0 w 43"/>
                  <a:gd name="T7" fmla="*/ 25 h 44"/>
                  <a:gd name="T8" fmla="*/ 24 w 43"/>
                  <a:gd name="T9" fmla="*/ 44 h 44"/>
                  <a:gd name="T10" fmla="*/ 29 w 43"/>
                  <a:gd name="T11" fmla="*/ 34 h 44"/>
                  <a:gd name="T12" fmla="*/ 37 w 43"/>
                  <a:gd name="T13" fmla="*/ 21 h 44"/>
                  <a:gd name="T14" fmla="*/ 43 w 43"/>
                  <a:gd name="T15" fmla="*/ 11 h 44"/>
                  <a:gd name="T16" fmla="*/ 14 w 43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4">
                    <a:moveTo>
                      <a:pt x="14" y="0"/>
                    </a:moveTo>
                    <a:lnTo>
                      <a:pt x="11" y="5"/>
                    </a:lnTo>
                    <a:lnTo>
                      <a:pt x="3" y="18"/>
                    </a:lnTo>
                    <a:lnTo>
                      <a:pt x="0" y="25"/>
                    </a:lnTo>
                    <a:lnTo>
                      <a:pt x="24" y="44"/>
                    </a:lnTo>
                    <a:lnTo>
                      <a:pt x="29" y="34"/>
                    </a:lnTo>
                    <a:lnTo>
                      <a:pt x="37" y="21"/>
                    </a:lnTo>
                    <a:lnTo>
                      <a:pt x="43" y="11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06" name="Freeform 322"/>
              <p:cNvSpPr/>
              <p:nvPr/>
            </p:nvSpPr>
            <p:spPr bwMode="auto">
              <a:xfrm>
                <a:off x="2225675" y="4764088"/>
                <a:ext cx="47625" cy="61913"/>
              </a:xfrm>
              <a:custGeom>
                <a:avLst/>
                <a:gdLst>
                  <a:gd name="T0" fmla="*/ 0 w 30"/>
                  <a:gd name="T1" fmla="*/ 6 h 39"/>
                  <a:gd name="T2" fmla="*/ 0 w 30"/>
                  <a:gd name="T3" fmla="*/ 12 h 39"/>
                  <a:gd name="T4" fmla="*/ 0 w 30"/>
                  <a:gd name="T5" fmla="*/ 28 h 39"/>
                  <a:gd name="T6" fmla="*/ 0 w 30"/>
                  <a:gd name="T7" fmla="*/ 34 h 39"/>
                  <a:gd name="T8" fmla="*/ 30 w 30"/>
                  <a:gd name="T9" fmla="*/ 39 h 39"/>
                  <a:gd name="T10" fmla="*/ 30 w 30"/>
                  <a:gd name="T11" fmla="*/ 28 h 39"/>
                  <a:gd name="T12" fmla="*/ 30 w 30"/>
                  <a:gd name="T13" fmla="*/ 12 h 39"/>
                  <a:gd name="T14" fmla="*/ 30 w 30"/>
                  <a:gd name="T15" fmla="*/ 0 h 39"/>
                  <a:gd name="T16" fmla="*/ 0 w 30"/>
                  <a:gd name="T17" fmla="*/ 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9">
                    <a:moveTo>
                      <a:pt x="0" y="6"/>
                    </a:moveTo>
                    <a:lnTo>
                      <a:pt x="0" y="12"/>
                    </a:lnTo>
                    <a:lnTo>
                      <a:pt x="0" y="28"/>
                    </a:lnTo>
                    <a:lnTo>
                      <a:pt x="0" y="34"/>
                    </a:lnTo>
                    <a:lnTo>
                      <a:pt x="30" y="39"/>
                    </a:lnTo>
                    <a:lnTo>
                      <a:pt x="30" y="28"/>
                    </a:lnTo>
                    <a:lnTo>
                      <a:pt x="30" y="12"/>
                    </a:lnTo>
                    <a:lnTo>
                      <a:pt x="30" y="0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07" name="Freeform 323"/>
              <p:cNvSpPr/>
              <p:nvPr/>
            </p:nvSpPr>
            <p:spPr bwMode="auto">
              <a:xfrm>
                <a:off x="2235200" y="4840288"/>
                <a:ext cx="68263" cy="69850"/>
              </a:xfrm>
              <a:custGeom>
                <a:avLst/>
                <a:gdLst>
                  <a:gd name="T0" fmla="*/ 0 w 43"/>
                  <a:gd name="T1" fmla="*/ 18 h 44"/>
                  <a:gd name="T2" fmla="*/ 3 w 43"/>
                  <a:gd name="T3" fmla="*/ 24 h 44"/>
                  <a:gd name="T4" fmla="*/ 11 w 43"/>
                  <a:gd name="T5" fmla="*/ 38 h 44"/>
                  <a:gd name="T6" fmla="*/ 14 w 43"/>
                  <a:gd name="T7" fmla="*/ 44 h 44"/>
                  <a:gd name="T8" fmla="*/ 43 w 43"/>
                  <a:gd name="T9" fmla="*/ 33 h 44"/>
                  <a:gd name="T10" fmla="*/ 38 w 43"/>
                  <a:gd name="T11" fmla="*/ 23 h 44"/>
                  <a:gd name="T12" fmla="*/ 30 w 43"/>
                  <a:gd name="T13" fmla="*/ 10 h 44"/>
                  <a:gd name="T14" fmla="*/ 24 w 43"/>
                  <a:gd name="T15" fmla="*/ 0 h 44"/>
                  <a:gd name="T16" fmla="*/ 0 w 43"/>
                  <a:gd name="T17" fmla="*/ 1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44">
                    <a:moveTo>
                      <a:pt x="0" y="18"/>
                    </a:moveTo>
                    <a:lnTo>
                      <a:pt x="3" y="24"/>
                    </a:lnTo>
                    <a:lnTo>
                      <a:pt x="11" y="38"/>
                    </a:lnTo>
                    <a:lnTo>
                      <a:pt x="14" y="44"/>
                    </a:lnTo>
                    <a:lnTo>
                      <a:pt x="43" y="33"/>
                    </a:lnTo>
                    <a:lnTo>
                      <a:pt x="38" y="23"/>
                    </a:lnTo>
                    <a:lnTo>
                      <a:pt x="30" y="10"/>
                    </a:lnTo>
                    <a:lnTo>
                      <a:pt x="24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08" name="Freeform 324"/>
              <p:cNvSpPr/>
              <p:nvPr/>
            </p:nvSpPr>
            <p:spPr bwMode="auto">
              <a:xfrm>
                <a:off x="2290763" y="4903788"/>
                <a:ext cx="73025" cy="68263"/>
              </a:xfrm>
              <a:custGeom>
                <a:avLst/>
                <a:gdLst>
                  <a:gd name="T0" fmla="*/ 0 w 46"/>
                  <a:gd name="T1" fmla="*/ 29 h 43"/>
                  <a:gd name="T2" fmla="*/ 6 w 46"/>
                  <a:gd name="T3" fmla="*/ 32 h 43"/>
                  <a:gd name="T4" fmla="*/ 20 w 46"/>
                  <a:gd name="T5" fmla="*/ 40 h 43"/>
                  <a:gd name="T6" fmla="*/ 26 w 46"/>
                  <a:gd name="T7" fmla="*/ 43 h 43"/>
                  <a:gd name="T8" fmla="*/ 46 w 46"/>
                  <a:gd name="T9" fmla="*/ 19 h 43"/>
                  <a:gd name="T10" fmla="*/ 36 w 46"/>
                  <a:gd name="T11" fmla="*/ 14 h 43"/>
                  <a:gd name="T12" fmla="*/ 21 w 46"/>
                  <a:gd name="T13" fmla="*/ 6 h 43"/>
                  <a:gd name="T14" fmla="*/ 13 w 46"/>
                  <a:gd name="T15" fmla="*/ 0 h 43"/>
                  <a:gd name="T16" fmla="*/ 0 w 46"/>
                  <a:gd name="T17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" h="43">
                    <a:moveTo>
                      <a:pt x="0" y="29"/>
                    </a:moveTo>
                    <a:lnTo>
                      <a:pt x="6" y="32"/>
                    </a:lnTo>
                    <a:lnTo>
                      <a:pt x="20" y="40"/>
                    </a:lnTo>
                    <a:lnTo>
                      <a:pt x="26" y="43"/>
                    </a:lnTo>
                    <a:lnTo>
                      <a:pt x="46" y="19"/>
                    </a:lnTo>
                    <a:lnTo>
                      <a:pt x="36" y="14"/>
                    </a:lnTo>
                    <a:lnTo>
                      <a:pt x="21" y="6"/>
                    </a:lnTo>
                    <a:lnTo>
                      <a:pt x="13" y="0"/>
                    </a:lnTo>
                    <a:lnTo>
                      <a:pt x="0" y="2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09" name="Freeform 325"/>
              <p:cNvSpPr/>
              <p:nvPr/>
            </p:nvSpPr>
            <p:spPr bwMode="auto">
              <a:xfrm>
                <a:off x="2373313" y="4941888"/>
                <a:ext cx="61913" cy="47625"/>
              </a:xfrm>
              <a:custGeom>
                <a:avLst/>
                <a:gdLst>
                  <a:gd name="T0" fmla="*/ 5 w 39"/>
                  <a:gd name="T1" fmla="*/ 30 h 30"/>
                  <a:gd name="T2" fmla="*/ 11 w 39"/>
                  <a:gd name="T3" fmla="*/ 30 h 30"/>
                  <a:gd name="T4" fmla="*/ 28 w 39"/>
                  <a:gd name="T5" fmla="*/ 30 h 30"/>
                  <a:gd name="T6" fmla="*/ 34 w 39"/>
                  <a:gd name="T7" fmla="*/ 30 h 30"/>
                  <a:gd name="T8" fmla="*/ 39 w 39"/>
                  <a:gd name="T9" fmla="*/ 0 h 30"/>
                  <a:gd name="T10" fmla="*/ 28 w 39"/>
                  <a:gd name="T11" fmla="*/ 0 h 30"/>
                  <a:gd name="T12" fmla="*/ 11 w 39"/>
                  <a:gd name="T13" fmla="*/ 0 h 30"/>
                  <a:gd name="T14" fmla="*/ 0 w 39"/>
                  <a:gd name="T15" fmla="*/ 0 h 30"/>
                  <a:gd name="T16" fmla="*/ 5 w 39"/>
                  <a:gd name="T1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30">
                    <a:moveTo>
                      <a:pt x="5" y="30"/>
                    </a:moveTo>
                    <a:lnTo>
                      <a:pt x="11" y="30"/>
                    </a:lnTo>
                    <a:lnTo>
                      <a:pt x="28" y="30"/>
                    </a:lnTo>
                    <a:lnTo>
                      <a:pt x="34" y="30"/>
                    </a:lnTo>
                    <a:lnTo>
                      <a:pt x="39" y="0"/>
                    </a:lnTo>
                    <a:lnTo>
                      <a:pt x="28" y="0"/>
                    </a:lnTo>
                    <a:lnTo>
                      <a:pt x="11" y="0"/>
                    </a:lnTo>
                    <a:lnTo>
                      <a:pt x="0" y="0"/>
                    </a:lnTo>
                    <a:lnTo>
                      <a:pt x="5" y="3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10" name="Freeform 326"/>
              <p:cNvSpPr/>
              <p:nvPr/>
            </p:nvSpPr>
            <p:spPr bwMode="auto">
              <a:xfrm>
                <a:off x="2446338" y="4911725"/>
                <a:ext cx="73025" cy="68263"/>
              </a:xfrm>
              <a:custGeom>
                <a:avLst/>
                <a:gdLst>
                  <a:gd name="T0" fmla="*/ 20 w 46"/>
                  <a:gd name="T1" fmla="*/ 43 h 43"/>
                  <a:gd name="T2" fmla="*/ 26 w 46"/>
                  <a:gd name="T3" fmla="*/ 39 h 43"/>
                  <a:gd name="T4" fmla="*/ 40 w 46"/>
                  <a:gd name="T5" fmla="*/ 32 h 43"/>
                  <a:gd name="T6" fmla="*/ 46 w 46"/>
                  <a:gd name="T7" fmla="*/ 28 h 43"/>
                  <a:gd name="T8" fmla="*/ 35 w 46"/>
                  <a:gd name="T9" fmla="*/ 0 h 43"/>
                  <a:gd name="T10" fmla="*/ 25 w 46"/>
                  <a:gd name="T11" fmla="*/ 5 h 43"/>
                  <a:gd name="T12" fmla="*/ 10 w 46"/>
                  <a:gd name="T13" fmla="*/ 13 h 43"/>
                  <a:gd name="T14" fmla="*/ 0 w 46"/>
                  <a:gd name="T15" fmla="*/ 19 h 43"/>
                  <a:gd name="T16" fmla="*/ 20 w 46"/>
                  <a:gd name="T17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" h="43">
                    <a:moveTo>
                      <a:pt x="20" y="43"/>
                    </a:moveTo>
                    <a:lnTo>
                      <a:pt x="26" y="39"/>
                    </a:lnTo>
                    <a:lnTo>
                      <a:pt x="40" y="32"/>
                    </a:lnTo>
                    <a:lnTo>
                      <a:pt x="46" y="28"/>
                    </a:lnTo>
                    <a:lnTo>
                      <a:pt x="35" y="0"/>
                    </a:lnTo>
                    <a:lnTo>
                      <a:pt x="25" y="5"/>
                    </a:lnTo>
                    <a:lnTo>
                      <a:pt x="10" y="13"/>
                    </a:lnTo>
                    <a:lnTo>
                      <a:pt x="0" y="19"/>
                    </a:lnTo>
                    <a:lnTo>
                      <a:pt x="20" y="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11" name="Freeform 327"/>
              <p:cNvSpPr/>
              <p:nvPr/>
            </p:nvSpPr>
            <p:spPr bwMode="auto">
              <a:xfrm>
                <a:off x="2511425" y="4851400"/>
                <a:ext cx="69850" cy="73025"/>
              </a:xfrm>
              <a:custGeom>
                <a:avLst/>
                <a:gdLst>
                  <a:gd name="T0" fmla="*/ 29 w 44"/>
                  <a:gd name="T1" fmla="*/ 46 h 46"/>
                  <a:gd name="T2" fmla="*/ 32 w 44"/>
                  <a:gd name="T3" fmla="*/ 40 h 46"/>
                  <a:gd name="T4" fmla="*/ 41 w 44"/>
                  <a:gd name="T5" fmla="*/ 26 h 46"/>
                  <a:gd name="T6" fmla="*/ 44 w 44"/>
                  <a:gd name="T7" fmla="*/ 20 h 46"/>
                  <a:gd name="T8" fmla="*/ 20 w 44"/>
                  <a:gd name="T9" fmla="*/ 0 h 46"/>
                  <a:gd name="T10" fmla="*/ 13 w 44"/>
                  <a:gd name="T11" fmla="*/ 10 h 46"/>
                  <a:gd name="T12" fmla="*/ 6 w 44"/>
                  <a:gd name="T13" fmla="*/ 25 h 46"/>
                  <a:gd name="T14" fmla="*/ 0 w 44"/>
                  <a:gd name="T15" fmla="*/ 33 h 46"/>
                  <a:gd name="T16" fmla="*/ 29 w 44"/>
                  <a:gd name="T1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46">
                    <a:moveTo>
                      <a:pt x="29" y="46"/>
                    </a:moveTo>
                    <a:lnTo>
                      <a:pt x="32" y="40"/>
                    </a:lnTo>
                    <a:lnTo>
                      <a:pt x="41" y="26"/>
                    </a:lnTo>
                    <a:lnTo>
                      <a:pt x="44" y="20"/>
                    </a:lnTo>
                    <a:lnTo>
                      <a:pt x="20" y="0"/>
                    </a:lnTo>
                    <a:lnTo>
                      <a:pt x="13" y="10"/>
                    </a:lnTo>
                    <a:lnTo>
                      <a:pt x="6" y="25"/>
                    </a:lnTo>
                    <a:lnTo>
                      <a:pt x="0" y="33"/>
                    </a:lnTo>
                    <a:lnTo>
                      <a:pt x="29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12" name="Freeform 328"/>
              <p:cNvSpPr/>
              <p:nvPr/>
            </p:nvSpPr>
            <p:spPr bwMode="auto">
              <a:xfrm>
                <a:off x="2547938" y="4779963"/>
                <a:ext cx="49213" cy="61913"/>
              </a:xfrm>
              <a:custGeom>
                <a:avLst/>
                <a:gdLst>
                  <a:gd name="T0" fmla="*/ 31 w 31"/>
                  <a:gd name="T1" fmla="*/ 34 h 39"/>
                  <a:gd name="T2" fmla="*/ 31 w 31"/>
                  <a:gd name="T3" fmla="*/ 28 h 39"/>
                  <a:gd name="T4" fmla="*/ 31 w 31"/>
                  <a:gd name="T5" fmla="*/ 11 h 39"/>
                  <a:gd name="T6" fmla="*/ 31 w 31"/>
                  <a:gd name="T7" fmla="*/ 5 h 39"/>
                  <a:gd name="T8" fmla="*/ 0 w 31"/>
                  <a:gd name="T9" fmla="*/ 0 h 39"/>
                  <a:gd name="T10" fmla="*/ 0 w 31"/>
                  <a:gd name="T11" fmla="*/ 11 h 39"/>
                  <a:gd name="T12" fmla="*/ 0 w 31"/>
                  <a:gd name="T13" fmla="*/ 28 h 39"/>
                  <a:gd name="T14" fmla="*/ 0 w 31"/>
                  <a:gd name="T15" fmla="*/ 39 h 39"/>
                  <a:gd name="T16" fmla="*/ 31 w 31"/>
                  <a:gd name="T17" fmla="*/ 3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39">
                    <a:moveTo>
                      <a:pt x="31" y="34"/>
                    </a:moveTo>
                    <a:lnTo>
                      <a:pt x="31" y="28"/>
                    </a:lnTo>
                    <a:lnTo>
                      <a:pt x="31" y="11"/>
                    </a:lnTo>
                    <a:lnTo>
                      <a:pt x="31" y="5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0" y="28"/>
                    </a:lnTo>
                    <a:lnTo>
                      <a:pt x="0" y="39"/>
                    </a:lnTo>
                    <a:lnTo>
                      <a:pt x="31" y="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13" name="Freeform 329"/>
              <p:cNvSpPr/>
              <p:nvPr/>
            </p:nvSpPr>
            <p:spPr bwMode="auto">
              <a:xfrm>
                <a:off x="2519363" y="4695825"/>
                <a:ext cx="69850" cy="71438"/>
              </a:xfrm>
              <a:custGeom>
                <a:avLst/>
                <a:gdLst>
                  <a:gd name="T0" fmla="*/ 44 w 44"/>
                  <a:gd name="T1" fmla="*/ 26 h 45"/>
                  <a:gd name="T2" fmla="*/ 40 w 44"/>
                  <a:gd name="T3" fmla="*/ 20 h 45"/>
                  <a:gd name="T4" fmla="*/ 33 w 44"/>
                  <a:gd name="T5" fmla="*/ 6 h 45"/>
                  <a:gd name="T6" fmla="*/ 29 w 44"/>
                  <a:gd name="T7" fmla="*/ 0 h 45"/>
                  <a:gd name="T8" fmla="*/ 0 w 44"/>
                  <a:gd name="T9" fmla="*/ 11 h 45"/>
                  <a:gd name="T10" fmla="*/ 5 w 44"/>
                  <a:gd name="T11" fmla="*/ 21 h 45"/>
                  <a:gd name="T12" fmla="*/ 14 w 44"/>
                  <a:gd name="T13" fmla="*/ 36 h 45"/>
                  <a:gd name="T14" fmla="*/ 19 w 44"/>
                  <a:gd name="T15" fmla="*/ 45 h 45"/>
                  <a:gd name="T16" fmla="*/ 44 w 44"/>
                  <a:gd name="T17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45">
                    <a:moveTo>
                      <a:pt x="44" y="26"/>
                    </a:moveTo>
                    <a:lnTo>
                      <a:pt x="40" y="20"/>
                    </a:lnTo>
                    <a:lnTo>
                      <a:pt x="33" y="6"/>
                    </a:lnTo>
                    <a:lnTo>
                      <a:pt x="29" y="0"/>
                    </a:lnTo>
                    <a:lnTo>
                      <a:pt x="0" y="11"/>
                    </a:lnTo>
                    <a:lnTo>
                      <a:pt x="5" y="21"/>
                    </a:lnTo>
                    <a:lnTo>
                      <a:pt x="14" y="36"/>
                    </a:lnTo>
                    <a:lnTo>
                      <a:pt x="19" y="45"/>
                    </a:lnTo>
                    <a:lnTo>
                      <a:pt x="44" y="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14" name="Freeform 330"/>
              <p:cNvSpPr/>
              <p:nvPr/>
            </p:nvSpPr>
            <p:spPr bwMode="auto">
              <a:xfrm>
                <a:off x="2460625" y="4633913"/>
                <a:ext cx="69850" cy="69850"/>
              </a:xfrm>
              <a:custGeom>
                <a:avLst/>
                <a:gdLst>
                  <a:gd name="T0" fmla="*/ 44 w 44"/>
                  <a:gd name="T1" fmla="*/ 14 h 44"/>
                  <a:gd name="T2" fmla="*/ 39 w 44"/>
                  <a:gd name="T3" fmla="*/ 11 h 44"/>
                  <a:gd name="T4" fmla="*/ 24 w 44"/>
                  <a:gd name="T5" fmla="*/ 3 h 44"/>
                  <a:gd name="T6" fmla="*/ 19 w 44"/>
                  <a:gd name="T7" fmla="*/ 0 h 44"/>
                  <a:gd name="T8" fmla="*/ 0 w 44"/>
                  <a:gd name="T9" fmla="*/ 24 h 44"/>
                  <a:gd name="T10" fmla="*/ 9 w 44"/>
                  <a:gd name="T11" fmla="*/ 29 h 44"/>
                  <a:gd name="T12" fmla="*/ 23 w 44"/>
                  <a:gd name="T13" fmla="*/ 38 h 44"/>
                  <a:gd name="T14" fmla="*/ 33 w 44"/>
                  <a:gd name="T15" fmla="*/ 44 h 44"/>
                  <a:gd name="T16" fmla="*/ 44 w 44"/>
                  <a:gd name="T17" fmla="*/ 1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44">
                    <a:moveTo>
                      <a:pt x="44" y="14"/>
                    </a:moveTo>
                    <a:lnTo>
                      <a:pt x="39" y="11"/>
                    </a:lnTo>
                    <a:lnTo>
                      <a:pt x="24" y="3"/>
                    </a:lnTo>
                    <a:lnTo>
                      <a:pt x="19" y="0"/>
                    </a:lnTo>
                    <a:lnTo>
                      <a:pt x="0" y="24"/>
                    </a:lnTo>
                    <a:lnTo>
                      <a:pt x="9" y="29"/>
                    </a:lnTo>
                    <a:lnTo>
                      <a:pt x="23" y="38"/>
                    </a:lnTo>
                    <a:lnTo>
                      <a:pt x="33" y="44"/>
                    </a:lnTo>
                    <a:lnTo>
                      <a:pt x="44" y="1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15" name="Freeform 331"/>
              <p:cNvSpPr>
                <a:spLocks noEditPoints="1"/>
              </p:cNvSpPr>
              <p:nvPr/>
            </p:nvSpPr>
            <p:spPr bwMode="auto">
              <a:xfrm>
                <a:off x="2255838" y="4646613"/>
                <a:ext cx="309563" cy="312738"/>
              </a:xfrm>
              <a:custGeom>
                <a:avLst/>
                <a:gdLst>
                  <a:gd name="T0" fmla="*/ 89 w 177"/>
                  <a:gd name="T1" fmla="*/ 178 h 178"/>
                  <a:gd name="T2" fmla="*/ 0 w 177"/>
                  <a:gd name="T3" fmla="*/ 89 h 178"/>
                  <a:gd name="T4" fmla="*/ 89 w 177"/>
                  <a:gd name="T5" fmla="*/ 0 h 178"/>
                  <a:gd name="T6" fmla="*/ 177 w 177"/>
                  <a:gd name="T7" fmla="*/ 89 h 178"/>
                  <a:gd name="T8" fmla="*/ 89 w 177"/>
                  <a:gd name="T9" fmla="*/ 178 h 178"/>
                  <a:gd name="T10" fmla="*/ 89 w 177"/>
                  <a:gd name="T11" fmla="*/ 27 h 178"/>
                  <a:gd name="T12" fmla="*/ 27 w 177"/>
                  <a:gd name="T13" fmla="*/ 89 h 178"/>
                  <a:gd name="T14" fmla="*/ 89 w 177"/>
                  <a:gd name="T15" fmla="*/ 152 h 178"/>
                  <a:gd name="T16" fmla="*/ 150 w 177"/>
                  <a:gd name="T17" fmla="*/ 89 h 178"/>
                  <a:gd name="T18" fmla="*/ 89 w 177"/>
                  <a:gd name="T19" fmla="*/ 27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7" h="178">
                    <a:moveTo>
                      <a:pt x="89" y="178"/>
                    </a:moveTo>
                    <a:cubicBezTo>
                      <a:pt x="40" y="178"/>
                      <a:pt x="0" y="138"/>
                      <a:pt x="0" y="89"/>
                    </a:cubicBezTo>
                    <a:cubicBezTo>
                      <a:pt x="0" y="40"/>
                      <a:pt x="40" y="0"/>
                      <a:pt x="89" y="0"/>
                    </a:cubicBezTo>
                    <a:cubicBezTo>
                      <a:pt x="137" y="0"/>
                      <a:pt x="177" y="40"/>
                      <a:pt x="177" y="89"/>
                    </a:cubicBezTo>
                    <a:cubicBezTo>
                      <a:pt x="177" y="138"/>
                      <a:pt x="137" y="178"/>
                      <a:pt x="89" y="178"/>
                    </a:cubicBezTo>
                    <a:close/>
                    <a:moveTo>
                      <a:pt x="89" y="27"/>
                    </a:moveTo>
                    <a:cubicBezTo>
                      <a:pt x="55" y="27"/>
                      <a:pt x="27" y="55"/>
                      <a:pt x="27" y="89"/>
                    </a:cubicBezTo>
                    <a:cubicBezTo>
                      <a:pt x="27" y="124"/>
                      <a:pt x="55" y="152"/>
                      <a:pt x="89" y="152"/>
                    </a:cubicBezTo>
                    <a:cubicBezTo>
                      <a:pt x="123" y="152"/>
                      <a:pt x="150" y="124"/>
                      <a:pt x="150" y="89"/>
                    </a:cubicBezTo>
                    <a:cubicBezTo>
                      <a:pt x="150" y="55"/>
                      <a:pt x="123" y="27"/>
                      <a:pt x="89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716" name="Oval 332"/>
              <p:cNvSpPr>
                <a:spLocks noChangeArrowheads="1"/>
              </p:cNvSpPr>
              <p:nvPr/>
            </p:nvSpPr>
            <p:spPr bwMode="auto">
              <a:xfrm>
                <a:off x="2346325" y="4738688"/>
                <a:ext cx="130175" cy="130175"/>
              </a:xfrm>
              <a:prstGeom prst="ellipse"/>
              <a:grpFill/>
              <a:ln>
                <a:noFill/>
              </a:ln>
            </p:spPr>
            <p:txBody>
              <a:bodyPr anchor="t" anchorCtr="0" bIns="45720" compatLnSpc="1" lIns="91440" numCol="1" rIns="91440" tIns="45720" vert="horz" wrap="square">
                <a:prstTxWarp prst="textNoShape"/>
              </a:bodyPr>
              <a:p>
                <a:endParaRPr b="1" sz="2000" 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48717" name="TextBox 42"/>
          <p:cNvSpPr txBox="1"/>
          <p:nvPr/>
        </p:nvSpPr>
        <p:spPr>
          <a:xfrm>
            <a:off x="1311470" y="315858"/>
            <a:ext cx="3649369" cy="430887"/>
          </a:xfrm>
          <a:prstGeom prst="rect"/>
          <a:noFill/>
          <a:ln>
            <a:noFill/>
          </a:ln>
        </p:spPr>
        <p:txBody>
          <a:bodyPr anchor="t" anchorCtr="0" bIns="0" compatLnSpc="1" lIns="0" numCol="1" rIns="0" tIns="0" vert="horz" wrap="square">
            <a:spAutoFit/>
          </a:bodyPr>
          <a:lstStyle>
            <a:defPPr>
              <a:defRPr lang="zh-CN"/>
            </a:defPPr>
            <a:lvl1pPr defTabSz="914400" eaLnBrk="1" hangingPunct="1" indent="0" latinLnBrk="0" lvl="0" marL="0" marR="0">
              <a:lnSpc>
                <a:spcPct val="100000"/>
              </a:lnSpc>
              <a:buClrTx/>
              <a:buSzTx/>
              <a:buFontTx/>
              <a:buNone/>
              <a:defRPr baseline="0" b="1" cap="none" sz="2800" i="0" kumimoji="0" normalizeH="0" strike="noStrike" u="none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1.2 </a:t>
            </a:r>
            <a:r>
              <a:rPr altLang="en-US" b="0" dirty="0" lang="zh-CN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研究意义</a:t>
            </a:r>
          </a:p>
        </p:txBody>
      </p:sp>
      <p:pic>
        <p:nvPicPr>
          <p:cNvPr id="2097178" name="图片 5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accel="50000" decel="50000" fill="hold" id="13" nodeType="withEffect" presetClass="path" presetID="42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7.40741E-7 L -2.08333E-7 -0.47384 " pathEditMode="relative" rAng="0" ptsTypes="AA">
                                      <p:cBhvr>
                                        <p:cTn dur="1500" fill="hold" id="14" spd="-100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5">
                            <p:stCondLst>
                              <p:cond delay="1500"/>
                            </p:stCondLst>
                            <p:childTnLst>
                              <p:par>
                                <p:cTn fill="hold" id="16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8">
                            <p:stCondLst>
                              <p:cond delay="1500"/>
                            </p:stCondLst>
                            <p:childTnLst>
                              <p:par>
                                <p:cTn accel="50000" decel="50000" fill="hold" id="19" nodeType="afterEffect" presetClass="path" presetID="42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85185E-6 L -2.08333E-7 -0.22639 " pathEditMode="relative" rAng="0" ptsTypes="AA">
                                      <p:cBhvr>
                                        <p:cTn dur="1500" fill="hold" id="20" spd="-100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1">
                            <p:stCondLst>
                              <p:cond delay="3000"/>
                            </p:stCondLst>
                            <p:childTnLst>
                              <p:par>
                                <p:cTn fill="hold" id="22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3000"/>
                            </p:stCondLst>
                            <p:childTnLst>
                              <p:par>
                                <p:cTn accel="50000" decel="50000" fill="hold" id="25" nodeType="afterEffect" presetClass="path" presetID="42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2.96296E-6 L -2.08333E-7 -0.22639 " pathEditMode="relative" rAng="0" ptsTypes="AA">
                                      <p:cBhvr>
                                        <p:cTn dur="1500" fill="hold" id="26" spd="-100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7">
                            <p:stCondLst>
                              <p:cond delay="4500"/>
                            </p:stCondLst>
                            <p:childTnLst>
                              <p:par>
                                <p:cTn fill="hold" grpId="0" id="28" nodeType="afterEffect" presetClass="entr" presetID="2" presetSubtype="2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5" grpId="0"/>
      <p:bldP spid="10487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9" name="图片 5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l="6659" t="6677" r="6720" b="6693"/>
          <a:stretch>
            <a:fillRect/>
          </a:stretch>
        </p:blipFill>
        <p:spPr>
          <a:xfrm>
            <a:off x="-1" y="0"/>
            <a:ext cx="12192001" cy="6858000"/>
          </a:xfrm>
          <a:prstGeom prst="rect"/>
        </p:spPr>
      </p:pic>
      <p:pic>
        <p:nvPicPr>
          <p:cNvPr id="2097180" name="图片 4"/>
          <p:cNvPicPr>
            <a:picLocks noChangeAspect="1"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9274592" y="6060713"/>
            <a:ext cx="2734062" cy="539497"/>
          </a:xfrm>
          <a:prstGeom prst="rect"/>
        </p:spPr>
      </p:pic>
      <p:pic>
        <p:nvPicPr>
          <p:cNvPr id="2097181" name="图片 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3" cstate="print"/>
          <a:srcRect l="36510" t="24114" r="34678" b="22737"/>
          <a:stretch>
            <a:fillRect/>
          </a:stretch>
        </p:blipFill>
        <p:spPr>
          <a:xfrm>
            <a:off x="1651394" y="1134208"/>
            <a:ext cx="2094129" cy="2172731"/>
          </a:xfrm>
          <a:prstGeom prst="rect"/>
        </p:spPr>
      </p:pic>
      <p:sp>
        <p:nvSpPr>
          <p:cNvPr id="1048718" name="TextBox 12"/>
          <p:cNvSpPr txBox="1"/>
          <p:nvPr/>
        </p:nvSpPr>
        <p:spPr>
          <a:xfrm>
            <a:off x="2472996" y="1849942"/>
            <a:ext cx="8067610" cy="106934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ctr">
              <a:defRPr b="1"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66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第二部分</a:t>
            </a:r>
          </a:p>
        </p:txBody>
      </p:sp>
      <p:grpSp>
        <p:nvGrpSpPr>
          <p:cNvPr id="71" name="组合 17"/>
          <p:cNvGrpSpPr/>
          <p:nvPr/>
        </p:nvGrpSpPr>
        <p:grpSpPr>
          <a:xfrm>
            <a:off x="-4151" y="0"/>
            <a:ext cx="12196151" cy="6858000"/>
            <a:chOff x="-4151" y="0"/>
            <a:chExt cx="12196151" cy="6858000"/>
          </a:xfrm>
        </p:grpSpPr>
        <p:grpSp>
          <p:nvGrpSpPr>
            <p:cNvPr id="72" name="组合 18"/>
            <p:cNvGrpSpPr/>
            <p:nvPr/>
          </p:nvGrpSpPr>
          <p:grpSpPr>
            <a:xfrm>
              <a:off x="0" y="0"/>
              <a:ext cx="3001030" cy="109728"/>
              <a:chOff x="0" y="0"/>
              <a:chExt cx="3001030" cy="109728"/>
            </a:xfrm>
          </p:grpSpPr>
          <p:sp>
            <p:nvSpPr>
              <p:cNvPr id="1048719" name="矩形 5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20" name="矩形 5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73" name="组合 19"/>
            <p:cNvGrpSpPr/>
            <p:nvPr/>
          </p:nvGrpSpPr>
          <p:grpSpPr>
            <a:xfrm>
              <a:off x="8994788" y="0"/>
              <a:ext cx="3197212" cy="109728"/>
              <a:chOff x="0" y="0"/>
              <a:chExt cx="3001030" cy="109728"/>
            </a:xfrm>
          </p:grpSpPr>
          <p:sp>
            <p:nvSpPr>
              <p:cNvPr id="1048721" name="矩形 5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22" name="矩形 5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74" name="组合 20"/>
            <p:cNvGrpSpPr/>
            <p:nvPr/>
          </p:nvGrpSpPr>
          <p:grpSpPr>
            <a:xfrm>
              <a:off x="5997909" y="0"/>
              <a:ext cx="3001030" cy="109728"/>
              <a:chOff x="0" y="0"/>
              <a:chExt cx="3001030" cy="109728"/>
            </a:xfrm>
          </p:grpSpPr>
          <p:sp>
            <p:nvSpPr>
              <p:cNvPr id="1048723" name="矩形 4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24" name="矩形 4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75" name="组合 21"/>
            <p:cNvGrpSpPr/>
            <p:nvPr/>
          </p:nvGrpSpPr>
          <p:grpSpPr>
            <a:xfrm>
              <a:off x="2996879" y="0"/>
              <a:ext cx="3001030" cy="109728"/>
              <a:chOff x="0" y="0"/>
              <a:chExt cx="3001030" cy="109728"/>
            </a:xfrm>
          </p:grpSpPr>
          <p:sp>
            <p:nvSpPr>
              <p:cNvPr id="1048725" name="矩形 4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26" name="矩形 4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76" name="组合 22"/>
            <p:cNvGrpSpPr/>
            <p:nvPr/>
          </p:nvGrpSpPr>
          <p:grpSpPr>
            <a:xfrm>
              <a:off x="-4151" y="6748272"/>
              <a:ext cx="3001030" cy="109728"/>
              <a:chOff x="0" y="0"/>
              <a:chExt cx="3001030" cy="109728"/>
            </a:xfrm>
          </p:grpSpPr>
          <p:sp>
            <p:nvSpPr>
              <p:cNvPr id="1048727" name="矩形 4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28" name="矩形 4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77" name="组合 23"/>
            <p:cNvGrpSpPr/>
            <p:nvPr/>
          </p:nvGrpSpPr>
          <p:grpSpPr>
            <a:xfrm>
              <a:off x="5993758" y="6748272"/>
              <a:ext cx="3001030" cy="109728"/>
              <a:chOff x="0" y="0"/>
              <a:chExt cx="3001030" cy="109728"/>
            </a:xfrm>
          </p:grpSpPr>
          <p:sp>
            <p:nvSpPr>
              <p:cNvPr id="1048729" name="矩形 4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30" name="矩形 4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78" name="组合 24"/>
            <p:cNvGrpSpPr/>
            <p:nvPr/>
          </p:nvGrpSpPr>
          <p:grpSpPr>
            <a:xfrm>
              <a:off x="2992728" y="6748272"/>
              <a:ext cx="3001030" cy="109728"/>
              <a:chOff x="0" y="0"/>
              <a:chExt cx="3001030" cy="109728"/>
            </a:xfrm>
          </p:grpSpPr>
          <p:sp>
            <p:nvSpPr>
              <p:cNvPr id="1048731" name="矩形 4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32" name="矩形 4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79" name="组合 25"/>
            <p:cNvGrpSpPr/>
            <p:nvPr/>
          </p:nvGrpSpPr>
          <p:grpSpPr>
            <a:xfrm>
              <a:off x="8994788" y="6748272"/>
              <a:ext cx="3197212" cy="109728"/>
              <a:chOff x="0" y="0"/>
              <a:chExt cx="3001030" cy="109728"/>
            </a:xfrm>
          </p:grpSpPr>
          <p:sp>
            <p:nvSpPr>
              <p:cNvPr id="1048733" name="矩形 3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34" name="矩形 3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80" name="组合 26"/>
            <p:cNvGrpSpPr/>
            <p:nvPr/>
          </p:nvGrpSpPr>
          <p:grpSpPr>
            <a:xfrm rot="16200000">
              <a:off x="-1543742" y="1653470"/>
              <a:ext cx="3197212" cy="109728"/>
              <a:chOff x="0" y="0"/>
              <a:chExt cx="3001030" cy="109728"/>
            </a:xfrm>
          </p:grpSpPr>
          <p:sp>
            <p:nvSpPr>
              <p:cNvPr id="1048735" name="矩形 3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36" name="矩形 3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81" name="组合 27"/>
            <p:cNvGrpSpPr/>
            <p:nvPr/>
          </p:nvGrpSpPr>
          <p:grpSpPr>
            <a:xfrm rot="16200000">
              <a:off x="-1667877" y="4970666"/>
              <a:ext cx="3441332" cy="113879"/>
              <a:chOff x="0" y="0"/>
              <a:chExt cx="3001030" cy="109728"/>
            </a:xfrm>
          </p:grpSpPr>
          <p:sp>
            <p:nvSpPr>
              <p:cNvPr id="1048737" name="矩形 3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38" name="矩形 3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82" name="组合 28"/>
            <p:cNvGrpSpPr/>
            <p:nvPr/>
          </p:nvGrpSpPr>
          <p:grpSpPr>
            <a:xfrm rot="16200000">
              <a:off x="10538530" y="1653470"/>
              <a:ext cx="3197212" cy="109728"/>
              <a:chOff x="0" y="0"/>
              <a:chExt cx="3001030" cy="109728"/>
            </a:xfrm>
          </p:grpSpPr>
          <p:sp>
            <p:nvSpPr>
              <p:cNvPr id="1048739" name="矩形 3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40" name="矩形 3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83" name="组合 29"/>
            <p:cNvGrpSpPr/>
            <p:nvPr/>
          </p:nvGrpSpPr>
          <p:grpSpPr>
            <a:xfrm rot="16200000">
              <a:off x="10414395" y="4970666"/>
              <a:ext cx="3441332" cy="113879"/>
              <a:chOff x="0" y="0"/>
              <a:chExt cx="3001030" cy="109728"/>
            </a:xfrm>
          </p:grpSpPr>
          <p:sp>
            <p:nvSpPr>
              <p:cNvPr id="1048741" name="矩形 3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42" name="矩形 3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097182" name="图片 54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>
            <a:duotone>
              <a:prstClr val="black"/>
              <a:srgbClr val="38536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856300" y="2960980"/>
            <a:ext cx="5301002" cy="145020"/>
          </a:xfrm>
          <a:prstGeom prst="rect"/>
        </p:spPr>
      </p:pic>
      <p:sp>
        <p:nvSpPr>
          <p:cNvPr id="1048743" name="TextBox 12"/>
          <p:cNvSpPr txBox="1"/>
          <p:nvPr/>
        </p:nvSpPr>
        <p:spPr>
          <a:xfrm>
            <a:off x="2232214" y="3346064"/>
            <a:ext cx="8067610" cy="106934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ctr">
              <a:defRPr b="1"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66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研究目标与研究思路</a:t>
            </a:r>
          </a:p>
        </p:txBody>
      </p:sp>
      <p:pic>
        <p:nvPicPr>
          <p:cNvPr id="2097183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2000"/>
                            </p:stCondLst>
                            <p:childTnLst>
                              <p:par>
                                <p:cTn fill="hold" id="9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2097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2097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209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15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9"/>
                                        <p:tgtEl>
                                          <p:spTgt spid="104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0">
                            <p:stCondLst>
                              <p:cond delay="3000"/>
                            </p:stCondLst>
                            <p:childTnLst>
                              <p:par>
                                <p:cTn fill="hold" id="21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3"/>
                                        <p:tgtEl>
                                          <p:spTgt spid="209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3500"/>
                            </p:stCondLst>
                            <p:childTnLst>
                              <p:par>
                                <p:cTn fill="hold" grpId="0" id="25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1" tmFilter="0,0; .5, 1; 1, 1"/>
                                        <p:tgtEl>
                                          <p:spTgt spid="104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2">
                            <p:stCondLst>
                              <p:cond delay="4400"/>
                            </p:stCondLst>
                            <p:childTnLst>
                              <p:par>
                                <p:cTn fill="hold" id="33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5"/>
                                        <p:tgtEl>
                                          <p:spTgt spid="209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8" grpId="0"/>
      <p:bldP spid="10487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>
            <a:grpSpLocks noChangeAspect="1"/>
          </p:cNvGrpSpPr>
          <p:nvPr/>
        </p:nvGrpSpPr>
        <p:grpSpPr bwMode="auto">
          <a:xfrm>
            <a:off x="779654" y="2375234"/>
            <a:ext cx="2482850" cy="3719512"/>
            <a:chOff x="945" y="1492"/>
            <a:chExt cx="1564" cy="2343"/>
          </a:xfrm>
        </p:grpSpPr>
        <p:sp>
          <p:nvSpPr>
            <p:cNvPr id="1048744" name="Freeform 5"/>
            <p:cNvSpPr>
              <a:spLocks noEditPoints="1"/>
            </p:cNvSpPr>
            <p:nvPr/>
          </p:nvSpPr>
          <p:spPr bwMode="auto">
            <a:xfrm>
              <a:off x="1182" y="1679"/>
              <a:ext cx="1267" cy="1964"/>
            </a:xfrm>
            <a:custGeom>
              <a:avLst/>
              <a:gdLst>
                <a:gd name="T0" fmla="*/ 303 w 534"/>
                <a:gd name="T1" fmla="*/ 483 h 829"/>
                <a:gd name="T2" fmla="*/ 285 w 534"/>
                <a:gd name="T3" fmla="*/ 372 h 829"/>
                <a:gd name="T4" fmla="*/ 341 w 534"/>
                <a:gd name="T5" fmla="*/ 316 h 829"/>
                <a:gd name="T6" fmla="*/ 394 w 534"/>
                <a:gd name="T7" fmla="*/ 375 h 829"/>
                <a:gd name="T8" fmla="*/ 386 w 534"/>
                <a:gd name="T9" fmla="*/ 474 h 829"/>
                <a:gd name="T10" fmla="*/ 339 w 534"/>
                <a:gd name="T11" fmla="*/ 254 h 829"/>
                <a:gd name="T12" fmla="*/ 281 w 534"/>
                <a:gd name="T13" fmla="*/ 273 h 829"/>
                <a:gd name="T14" fmla="*/ 242 w 534"/>
                <a:gd name="T15" fmla="*/ 344 h 829"/>
                <a:gd name="T16" fmla="*/ 238 w 534"/>
                <a:gd name="T17" fmla="*/ 449 h 829"/>
                <a:gd name="T18" fmla="*/ 274 w 534"/>
                <a:gd name="T19" fmla="*/ 533 h 829"/>
                <a:gd name="T20" fmla="*/ 330 w 534"/>
                <a:gd name="T21" fmla="*/ 569 h 829"/>
                <a:gd name="T22" fmla="*/ 385 w 534"/>
                <a:gd name="T23" fmla="*/ 549 h 829"/>
                <a:gd name="T24" fmla="*/ 420 w 534"/>
                <a:gd name="T25" fmla="*/ 490 h 829"/>
                <a:gd name="T26" fmla="*/ 431 w 534"/>
                <a:gd name="T27" fmla="*/ 409 h 829"/>
                <a:gd name="T28" fmla="*/ 414 w 534"/>
                <a:gd name="T29" fmla="*/ 329 h 829"/>
                <a:gd name="T30" fmla="*/ 375 w 534"/>
                <a:gd name="T31" fmla="*/ 272 h 829"/>
                <a:gd name="T32" fmla="*/ 352 w 534"/>
                <a:gd name="T33" fmla="*/ 635 h 829"/>
                <a:gd name="T34" fmla="*/ 198 w 534"/>
                <a:gd name="T35" fmla="*/ 516 h 829"/>
                <a:gd name="T36" fmla="*/ 228 w 534"/>
                <a:gd name="T37" fmla="*/ 234 h 829"/>
                <a:gd name="T38" fmla="*/ 388 w 534"/>
                <a:gd name="T39" fmla="*/ 217 h 829"/>
                <a:gd name="T40" fmla="*/ 463 w 534"/>
                <a:gd name="T41" fmla="*/ 409 h 829"/>
                <a:gd name="T42" fmla="*/ 402 w 534"/>
                <a:gd name="T43" fmla="*/ 604 h 829"/>
                <a:gd name="T44" fmla="*/ 298 w 534"/>
                <a:gd name="T45" fmla="*/ 130 h 829"/>
                <a:gd name="T46" fmla="*/ 196 w 534"/>
                <a:gd name="T47" fmla="*/ 186 h 829"/>
                <a:gd name="T48" fmla="*/ 133 w 534"/>
                <a:gd name="T49" fmla="*/ 345 h 829"/>
                <a:gd name="T50" fmla="*/ 155 w 534"/>
                <a:gd name="T51" fmla="*/ 547 h 829"/>
                <a:gd name="T52" fmla="*/ 245 w 534"/>
                <a:gd name="T53" fmla="*/ 673 h 829"/>
                <a:gd name="T54" fmla="*/ 354 w 534"/>
                <a:gd name="T55" fmla="*/ 689 h 829"/>
                <a:gd name="T56" fmla="*/ 437 w 534"/>
                <a:gd name="T57" fmla="*/ 616 h 829"/>
                <a:gd name="T58" fmla="*/ 480 w 534"/>
                <a:gd name="T59" fmla="*/ 499 h 829"/>
                <a:gd name="T60" fmla="*/ 482 w 534"/>
                <a:gd name="T61" fmla="*/ 362 h 829"/>
                <a:gd name="T62" fmla="*/ 443 w 534"/>
                <a:gd name="T63" fmla="*/ 238 h 829"/>
                <a:gd name="T64" fmla="*/ 368 w 534"/>
                <a:gd name="T65" fmla="*/ 150 h 829"/>
                <a:gd name="T66" fmla="*/ 265 w 534"/>
                <a:gd name="T67" fmla="*/ 765 h 829"/>
                <a:gd name="T68" fmla="*/ 61 w 534"/>
                <a:gd name="T69" fmla="*/ 416 h 829"/>
                <a:gd name="T70" fmla="*/ 241 w 534"/>
                <a:gd name="T71" fmla="*/ 63 h 829"/>
                <a:gd name="T72" fmla="*/ 464 w 534"/>
                <a:gd name="T73" fmla="*/ 203 h 829"/>
                <a:gd name="T74" fmla="*/ 507 w 534"/>
                <a:gd name="T75" fmla="*/ 517 h 829"/>
                <a:gd name="T76" fmla="*/ 356 w 534"/>
                <a:gd name="T77" fmla="*/ 756 h 829"/>
                <a:gd name="T78" fmla="*/ 223 w 534"/>
                <a:gd name="T79" fmla="*/ 4 h 829"/>
                <a:gd name="T80" fmla="*/ 69 w 534"/>
                <a:gd name="T81" fmla="*/ 126 h 829"/>
                <a:gd name="T82" fmla="*/ 1 w 534"/>
                <a:gd name="T83" fmla="*/ 417 h 829"/>
                <a:gd name="T84" fmla="*/ 87 w 534"/>
                <a:gd name="T85" fmla="*/ 708 h 829"/>
                <a:gd name="T86" fmla="*/ 251 w 534"/>
                <a:gd name="T87" fmla="*/ 826 h 829"/>
                <a:gd name="T88" fmla="*/ 404 w 534"/>
                <a:gd name="T89" fmla="*/ 778 h 829"/>
                <a:gd name="T90" fmla="*/ 496 w 534"/>
                <a:gd name="T91" fmla="*/ 641 h 829"/>
                <a:gd name="T92" fmla="*/ 533 w 534"/>
                <a:gd name="T93" fmla="*/ 470 h 829"/>
                <a:gd name="T94" fmla="*/ 517 w 534"/>
                <a:gd name="T95" fmla="*/ 286 h 829"/>
                <a:gd name="T96" fmla="*/ 451 w 534"/>
                <a:gd name="T97" fmla="*/ 127 h 829"/>
                <a:gd name="T98" fmla="*/ 330 w 534"/>
                <a:gd name="T99" fmla="*/ 17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4" h="829">
                  <a:moveTo>
                    <a:pt x="347" y="506"/>
                  </a:moveTo>
                  <a:cubicBezTo>
                    <a:pt x="339" y="507"/>
                    <a:pt x="331" y="506"/>
                    <a:pt x="324" y="502"/>
                  </a:cubicBezTo>
                  <a:cubicBezTo>
                    <a:pt x="316" y="497"/>
                    <a:pt x="309" y="491"/>
                    <a:pt x="303" y="483"/>
                  </a:cubicBezTo>
                  <a:cubicBezTo>
                    <a:pt x="297" y="474"/>
                    <a:pt x="291" y="463"/>
                    <a:pt x="288" y="452"/>
                  </a:cubicBezTo>
                  <a:cubicBezTo>
                    <a:pt x="284" y="440"/>
                    <a:pt x="282" y="426"/>
                    <a:pt x="281" y="412"/>
                  </a:cubicBezTo>
                  <a:cubicBezTo>
                    <a:pt x="281" y="398"/>
                    <a:pt x="282" y="384"/>
                    <a:pt x="285" y="372"/>
                  </a:cubicBezTo>
                  <a:cubicBezTo>
                    <a:pt x="288" y="360"/>
                    <a:pt x="292" y="350"/>
                    <a:pt x="298" y="341"/>
                  </a:cubicBezTo>
                  <a:cubicBezTo>
                    <a:pt x="304" y="332"/>
                    <a:pt x="310" y="326"/>
                    <a:pt x="317" y="321"/>
                  </a:cubicBezTo>
                  <a:cubicBezTo>
                    <a:pt x="325" y="317"/>
                    <a:pt x="333" y="315"/>
                    <a:pt x="341" y="316"/>
                  </a:cubicBezTo>
                  <a:cubicBezTo>
                    <a:pt x="349" y="317"/>
                    <a:pt x="356" y="320"/>
                    <a:pt x="363" y="325"/>
                  </a:cubicBezTo>
                  <a:cubicBezTo>
                    <a:pt x="370" y="330"/>
                    <a:pt x="376" y="337"/>
                    <a:pt x="381" y="346"/>
                  </a:cubicBezTo>
                  <a:cubicBezTo>
                    <a:pt x="386" y="354"/>
                    <a:pt x="391" y="364"/>
                    <a:pt x="394" y="375"/>
                  </a:cubicBezTo>
                  <a:cubicBezTo>
                    <a:pt x="397" y="386"/>
                    <a:pt x="398" y="398"/>
                    <a:pt x="399" y="410"/>
                  </a:cubicBezTo>
                  <a:cubicBezTo>
                    <a:pt x="399" y="422"/>
                    <a:pt x="398" y="434"/>
                    <a:pt x="396" y="445"/>
                  </a:cubicBezTo>
                  <a:cubicBezTo>
                    <a:pt x="394" y="456"/>
                    <a:pt x="390" y="466"/>
                    <a:pt x="386" y="474"/>
                  </a:cubicBezTo>
                  <a:cubicBezTo>
                    <a:pt x="381" y="483"/>
                    <a:pt x="376" y="490"/>
                    <a:pt x="369" y="496"/>
                  </a:cubicBezTo>
                  <a:cubicBezTo>
                    <a:pt x="363" y="502"/>
                    <a:pt x="355" y="505"/>
                    <a:pt x="347" y="506"/>
                  </a:cubicBezTo>
                  <a:moveTo>
                    <a:pt x="339" y="254"/>
                  </a:moveTo>
                  <a:cubicBezTo>
                    <a:pt x="332" y="253"/>
                    <a:pt x="325" y="253"/>
                    <a:pt x="319" y="254"/>
                  </a:cubicBezTo>
                  <a:cubicBezTo>
                    <a:pt x="312" y="255"/>
                    <a:pt x="306" y="257"/>
                    <a:pt x="299" y="260"/>
                  </a:cubicBezTo>
                  <a:cubicBezTo>
                    <a:pt x="293" y="264"/>
                    <a:pt x="287" y="268"/>
                    <a:pt x="281" y="273"/>
                  </a:cubicBezTo>
                  <a:cubicBezTo>
                    <a:pt x="276" y="278"/>
                    <a:pt x="270" y="284"/>
                    <a:pt x="265" y="292"/>
                  </a:cubicBezTo>
                  <a:cubicBezTo>
                    <a:pt x="260" y="299"/>
                    <a:pt x="256" y="307"/>
                    <a:pt x="252" y="316"/>
                  </a:cubicBezTo>
                  <a:cubicBezTo>
                    <a:pt x="248" y="324"/>
                    <a:pt x="245" y="334"/>
                    <a:pt x="242" y="344"/>
                  </a:cubicBezTo>
                  <a:cubicBezTo>
                    <a:pt x="239" y="355"/>
                    <a:pt x="237" y="366"/>
                    <a:pt x="236" y="377"/>
                  </a:cubicBezTo>
                  <a:cubicBezTo>
                    <a:pt x="235" y="389"/>
                    <a:pt x="234" y="401"/>
                    <a:pt x="235" y="413"/>
                  </a:cubicBezTo>
                  <a:cubicBezTo>
                    <a:pt x="235" y="425"/>
                    <a:pt x="236" y="437"/>
                    <a:pt x="238" y="449"/>
                  </a:cubicBezTo>
                  <a:cubicBezTo>
                    <a:pt x="240" y="460"/>
                    <a:pt x="243" y="471"/>
                    <a:pt x="247" y="481"/>
                  </a:cubicBezTo>
                  <a:cubicBezTo>
                    <a:pt x="250" y="491"/>
                    <a:pt x="254" y="501"/>
                    <a:pt x="259" y="510"/>
                  </a:cubicBezTo>
                  <a:cubicBezTo>
                    <a:pt x="263" y="518"/>
                    <a:pt x="268" y="526"/>
                    <a:pt x="274" y="533"/>
                  </a:cubicBezTo>
                  <a:cubicBezTo>
                    <a:pt x="279" y="540"/>
                    <a:pt x="285" y="546"/>
                    <a:pt x="291" y="551"/>
                  </a:cubicBezTo>
                  <a:cubicBezTo>
                    <a:pt x="297" y="556"/>
                    <a:pt x="303" y="560"/>
                    <a:pt x="310" y="563"/>
                  </a:cubicBezTo>
                  <a:cubicBezTo>
                    <a:pt x="316" y="566"/>
                    <a:pt x="323" y="568"/>
                    <a:pt x="330" y="569"/>
                  </a:cubicBezTo>
                  <a:cubicBezTo>
                    <a:pt x="336" y="570"/>
                    <a:pt x="343" y="570"/>
                    <a:pt x="350" y="568"/>
                  </a:cubicBezTo>
                  <a:cubicBezTo>
                    <a:pt x="356" y="567"/>
                    <a:pt x="363" y="565"/>
                    <a:pt x="369" y="561"/>
                  </a:cubicBezTo>
                  <a:cubicBezTo>
                    <a:pt x="374" y="558"/>
                    <a:pt x="380" y="554"/>
                    <a:pt x="385" y="549"/>
                  </a:cubicBezTo>
                  <a:cubicBezTo>
                    <a:pt x="390" y="544"/>
                    <a:pt x="395" y="539"/>
                    <a:pt x="399" y="533"/>
                  </a:cubicBezTo>
                  <a:cubicBezTo>
                    <a:pt x="404" y="526"/>
                    <a:pt x="408" y="520"/>
                    <a:pt x="411" y="513"/>
                  </a:cubicBezTo>
                  <a:cubicBezTo>
                    <a:pt x="415" y="505"/>
                    <a:pt x="418" y="498"/>
                    <a:pt x="420" y="490"/>
                  </a:cubicBezTo>
                  <a:cubicBezTo>
                    <a:pt x="423" y="482"/>
                    <a:pt x="425" y="473"/>
                    <a:pt x="427" y="465"/>
                  </a:cubicBezTo>
                  <a:cubicBezTo>
                    <a:pt x="428" y="456"/>
                    <a:pt x="430" y="447"/>
                    <a:pt x="430" y="438"/>
                  </a:cubicBezTo>
                  <a:cubicBezTo>
                    <a:pt x="431" y="429"/>
                    <a:pt x="431" y="419"/>
                    <a:pt x="431" y="409"/>
                  </a:cubicBezTo>
                  <a:cubicBezTo>
                    <a:pt x="431" y="400"/>
                    <a:pt x="430" y="390"/>
                    <a:pt x="428" y="381"/>
                  </a:cubicBezTo>
                  <a:cubicBezTo>
                    <a:pt x="427" y="372"/>
                    <a:pt x="425" y="363"/>
                    <a:pt x="423" y="354"/>
                  </a:cubicBezTo>
                  <a:cubicBezTo>
                    <a:pt x="420" y="346"/>
                    <a:pt x="418" y="337"/>
                    <a:pt x="414" y="329"/>
                  </a:cubicBezTo>
                  <a:cubicBezTo>
                    <a:pt x="411" y="322"/>
                    <a:pt x="408" y="314"/>
                    <a:pt x="404" y="307"/>
                  </a:cubicBezTo>
                  <a:cubicBezTo>
                    <a:pt x="400" y="300"/>
                    <a:pt x="395" y="294"/>
                    <a:pt x="390" y="288"/>
                  </a:cubicBezTo>
                  <a:cubicBezTo>
                    <a:pt x="386" y="282"/>
                    <a:pt x="381" y="276"/>
                    <a:pt x="375" y="272"/>
                  </a:cubicBezTo>
                  <a:cubicBezTo>
                    <a:pt x="370" y="267"/>
                    <a:pt x="364" y="263"/>
                    <a:pt x="358" y="260"/>
                  </a:cubicBezTo>
                  <a:cubicBezTo>
                    <a:pt x="352" y="257"/>
                    <a:pt x="345" y="255"/>
                    <a:pt x="339" y="254"/>
                  </a:cubicBezTo>
                  <a:moveTo>
                    <a:pt x="352" y="635"/>
                  </a:moveTo>
                  <a:cubicBezTo>
                    <a:pt x="333" y="641"/>
                    <a:pt x="313" y="640"/>
                    <a:pt x="294" y="633"/>
                  </a:cubicBezTo>
                  <a:cubicBezTo>
                    <a:pt x="275" y="625"/>
                    <a:pt x="256" y="612"/>
                    <a:pt x="240" y="592"/>
                  </a:cubicBezTo>
                  <a:cubicBezTo>
                    <a:pt x="223" y="572"/>
                    <a:pt x="209" y="546"/>
                    <a:pt x="198" y="516"/>
                  </a:cubicBezTo>
                  <a:cubicBezTo>
                    <a:pt x="187" y="486"/>
                    <a:pt x="181" y="451"/>
                    <a:pt x="179" y="414"/>
                  </a:cubicBezTo>
                  <a:cubicBezTo>
                    <a:pt x="178" y="377"/>
                    <a:pt x="182" y="342"/>
                    <a:pt x="191" y="311"/>
                  </a:cubicBezTo>
                  <a:cubicBezTo>
                    <a:pt x="200" y="281"/>
                    <a:pt x="212" y="255"/>
                    <a:pt x="228" y="234"/>
                  </a:cubicBezTo>
                  <a:cubicBezTo>
                    <a:pt x="243" y="215"/>
                    <a:pt x="260" y="200"/>
                    <a:pt x="279" y="192"/>
                  </a:cubicBezTo>
                  <a:cubicBezTo>
                    <a:pt x="297" y="185"/>
                    <a:pt x="317" y="183"/>
                    <a:pt x="336" y="188"/>
                  </a:cubicBezTo>
                  <a:cubicBezTo>
                    <a:pt x="355" y="192"/>
                    <a:pt x="372" y="202"/>
                    <a:pt x="388" y="217"/>
                  </a:cubicBezTo>
                  <a:cubicBezTo>
                    <a:pt x="402" y="230"/>
                    <a:pt x="415" y="248"/>
                    <a:pt x="426" y="268"/>
                  </a:cubicBezTo>
                  <a:cubicBezTo>
                    <a:pt x="437" y="287"/>
                    <a:pt x="445" y="309"/>
                    <a:pt x="452" y="333"/>
                  </a:cubicBezTo>
                  <a:cubicBezTo>
                    <a:pt x="458" y="357"/>
                    <a:pt x="462" y="382"/>
                    <a:pt x="463" y="409"/>
                  </a:cubicBezTo>
                  <a:cubicBezTo>
                    <a:pt x="464" y="435"/>
                    <a:pt x="462" y="461"/>
                    <a:pt x="457" y="485"/>
                  </a:cubicBezTo>
                  <a:cubicBezTo>
                    <a:pt x="453" y="509"/>
                    <a:pt x="446" y="531"/>
                    <a:pt x="437" y="551"/>
                  </a:cubicBezTo>
                  <a:cubicBezTo>
                    <a:pt x="427" y="572"/>
                    <a:pt x="415" y="590"/>
                    <a:pt x="402" y="604"/>
                  </a:cubicBezTo>
                  <a:cubicBezTo>
                    <a:pt x="387" y="619"/>
                    <a:pt x="371" y="630"/>
                    <a:pt x="352" y="635"/>
                  </a:cubicBezTo>
                  <a:moveTo>
                    <a:pt x="334" y="135"/>
                  </a:moveTo>
                  <a:cubicBezTo>
                    <a:pt x="322" y="131"/>
                    <a:pt x="310" y="129"/>
                    <a:pt x="298" y="130"/>
                  </a:cubicBezTo>
                  <a:cubicBezTo>
                    <a:pt x="286" y="130"/>
                    <a:pt x="274" y="132"/>
                    <a:pt x="262" y="136"/>
                  </a:cubicBezTo>
                  <a:cubicBezTo>
                    <a:pt x="250" y="140"/>
                    <a:pt x="239" y="147"/>
                    <a:pt x="228" y="155"/>
                  </a:cubicBezTo>
                  <a:cubicBezTo>
                    <a:pt x="216" y="163"/>
                    <a:pt x="206" y="173"/>
                    <a:pt x="196" y="186"/>
                  </a:cubicBezTo>
                  <a:cubicBezTo>
                    <a:pt x="185" y="198"/>
                    <a:pt x="176" y="212"/>
                    <a:pt x="168" y="228"/>
                  </a:cubicBezTo>
                  <a:cubicBezTo>
                    <a:pt x="159" y="245"/>
                    <a:pt x="152" y="263"/>
                    <a:pt x="146" y="282"/>
                  </a:cubicBezTo>
                  <a:cubicBezTo>
                    <a:pt x="141" y="302"/>
                    <a:pt x="136" y="323"/>
                    <a:pt x="133" y="345"/>
                  </a:cubicBezTo>
                  <a:cubicBezTo>
                    <a:pt x="130" y="367"/>
                    <a:pt x="129" y="391"/>
                    <a:pt x="130" y="415"/>
                  </a:cubicBezTo>
                  <a:cubicBezTo>
                    <a:pt x="131" y="439"/>
                    <a:pt x="134" y="462"/>
                    <a:pt x="138" y="484"/>
                  </a:cubicBezTo>
                  <a:cubicBezTo>
                    <a:pt x="142" y="507"/>
                    <a:pt x="148" y="528"/>
                    <a:pt x="155" y="547"/>
                  </a:cubicBezTo>
                  <a:cubicBezTo>
                    <a:pt x="162" y="566"/>
                    <a:pt x="171" y="584"/>
                    <a:pt x="180" y="600"/>
                  </a:cubicBezTo>
                  <a:cubicBezTo>
                    <a:pt x="190" y="616"/>
                    <a:pt x="200" y="630"/>
                    <a:pt x="211" y="643"/>
                  </a:cubicBezTo>
                  <a:cubicBezTo>
                    <a:pt x="222" y="655"/>
                    <a:pt x="233" y="665"/>
                    <a:pt x="245" y="673"/>
                  </a:cubicBezTo>
                  <a:cubicBezTo>
                    <a:pt x="257" y="680"/>
                    <a:pt x="269" y="686"/>
                    <a:pt x="282" y="690"/>
                  </a:cubicBezTo>
                  <a:cubicBezTo>
                    <a:pt x="294" y="694"/>
                    <a:pt x="306" y="696"/>
                    <a:pt x="318" y="695"/>
                  </a:cubicBezTo>
                  <a:cubicBezTo>
                    <a:pt x="330" y="695"/>
                    <a:pt x="342" y="693"/>
                    <a:pt x="354" y="689"/>
                  </a:cubicBezTo>
                  <a:cubicBezTo>
                    <a:pt x="365" y="685"/>
                    <a:pt x="376" y="679"/>
                    <a:pt x="387" y="672"/>
                  </a:cubicBezTo>
                  <a:cubicBezTo>
                    <a:pt x="396" y="665"/>
                    <a:pt x="406" y="657"/>
                    <a:pt x="414" y="647"/>
                  </a:cubicBezTo>
                  <a:cubicBezTo>
                    <a:pt x="423" y="638"/>
                    <a:pt x="430" y="627"/>
                    <a:pt x="437" y="616"/>
                  </a:cubicBezTo>
                  <a:cubicBezTo>
                    <a:pt x="444" y="605"/>
                    <a:pt x="450" y="593"/>
                    <a:pt x="456" y="581"/>
                  </a:cubicBezTo>
                  <a:cubicBezTo>
                    <a:pt x="461" y="568"/>
                    <a:pt x="466" y="555"/>
                    <a:pt x="470" y="541"/>
                  </a:cubicBezTo>
                  <a:cubicBezTo>
                    <a:pt x="474" y="528"/>
                    <a:pt x="477" y="514"/>
                    <a:pt x="480" y="499"/>
                  </a:cubicBezTo>
                  <a:cubicBezTo>
                    <a:pt x="482" y="485"/>
                    <a:pt x="484" y="470"/>
                    <a:pt x="485" y="455"/>
                  </a:cubicBezTo>
                  <a:cubicBezTo>
                    <a:pt x="486" y="440"/>
                    <a:pt x="487" y="424"/>
                    <a:pt x="486" y="408"/>
                  </a:cubicBezTo>
                  <a:cubicBezTo>
                    <a:pt x="485" y="392"/>
                    <a:pt x="484" y="377"/>
                    <a:pt x="482" y="362"/>
                  </a:cubicBezTo>
                  <a:cubicBezTo>
                    <a:pt x="480" y="347"/>
                    <a:pt x="477" y="332"/>
                    <a:pt x="473" y="318"/>
                  </a:cubicBezTo>
                  <a:cubicBezTo>
                    <a:pt x="470" y="303"/>
                    <a:pt x="465" y="290"/>
                    <a:pt x="460" y="276"/>
                  </a:cubicBezTo>
                  <a:cubicBezTo>
                    <a:pt x="455" y="263"/>
                    <a:pt x="450" y="250"/>
                    <a:pt x="443" y="238"/>
                  </a:cubicBezTo>
                  <a:cubicBezTo>
                    <a:pt x="437" y="226"/>
                    <a:pt x="430" y="214"/>
                    <a:pt x="422" y="203"/>
                  </a:cubicBezTo>
                  <a:cubicBezTo>
                    <a:pt x="414" y="193"/>
                    <a:pt x="406" y="183"/>
                    <a:pt x="397" y="174"/>
                  </a:cubicBezTo>
                  <a:cubicBezTo>
                    <a:pt x="388" y="165"/>
                    <a:pt x="378" y="157"/>
                    <a:pt x="368" y="150"/>
                  </a:cubicBezTo>
                  <a:cubicBezTo>
                    <a:pt x="357" y="144"/>
                    <a:pt x="346" y="138"/>
                    <a:pt x="334" y="135"/>
                  </a:cubicBezTo>
                  <a:moveTo>
                    <a:pt x="356" y="756"/>
                  </a:moveTo>
                  <a:cubicBezTo>
                    <a:pt x="326" y="769"/>
                    <a:pt x="295" y="772"/>
                    <a:pt x="265" y="765"/>
                  </a:cubicBezTo>
                  <a:cubicBezTo>
                    <a:pt x="232" y="758"/>
                    <a:pt x="201" y="739"/>
                    <a:pt x="172" y="711"/>
                  </a:cubicBezTo>
                  <a:cubicBezTo>
                    <a:pt x="142" y="681"/>
                    <a:pt x="115" y="640"/>
                    <a:pt x="96" y="590"/>
                  </a:cubicBezTo>
                  <a:cubicBezTo>
                    <a:pt x="76" y="539"/>
                    <a:pt x="63" y="479"/>
                    <a:pt x="61" y="416"/>
                  </a:cubicBezTo>
                  <a:cubicBezTo>
                    <a:pt x="59" y="353"/>
                    <a:pt x="68" y="293"/>
                    <a:pt x="85" y="242"/>
                  </a:cubicBezTo>
                  <a:cubicBezTo>
                    <a:pt x="101" y="192"/>
                    <a:pt x="124" y="151"/>
                    <a:pt x="152" y="120"/>
                  </a:cubicBezTo>
                  <a:cubicBezTo>
                    <a:pt x="179" y="91"/>
                    <a:pt x="209" y="72"/>
                    <a:pt x="241" y="63"/>
                  </a:cubicBezTo>
                  <a:cubicBezTo>
                    <a:pt x="270" y="55"/>
                    <a:pt x="301" y="57"/>
                    <a:pt x="332" y="69"/>
                  </a:cubicBezTo>
                  <a:cubicBezTo>
                    <a:pt x="360" y="80"/>
                    <a:pt x="386" y="98"/>
                    <a:pt x="409" y="122"/>
                  </a:cubicBezTo>
                  <a:cubicBezTo>
                    <a:pt x="430" y="145"/>
                    <a:pt x="448" y="172"/>
                    <a:pt x="464" y="203"/>
                  </a:cubicBezTo>
                  <a:cubicBezTo>
                    <a:pt x="478" y="232"/>
                    <a:pt x="490" y="265"/>
                    <a:pt x="498" y="300"/>
                  </a:cubicBezTo>
                  <a:cubicBezTo>
                    <a:pt x="507" y="333"/>
                    <a:pt x="512" y="370"/>
                    <a:pt x="513" y="408"/>
                  </a:cubicBezTo>
                  <a:cubicBezTo>
                    <a:pt x="515" y="446"/>
                    <a:pt x="512" y="482"/>
                    <a:pt x="507" y="517"/>
                  </a:cubicBezTo>
                  <a:cubicBezTo>
                    <a:pt x="501" y="552"/>
                    <a:pt x="491" y="585"/>
                    <a:pt x="479" y="615"/>
                  </a:cubicBezTo>
                  <a:cubicBezTo>
                    <a:pt x="466" y="647"/>
                    <a:pt x="449" y="675"/>
                    <a:pt x="430" y="699"/>
                  </a:cubicBezTo>
                  <a:cubicBezTo>
                    <a:pt x="409" y="724"/>
                    <a:pt x="384" y="744"/>
                    <a:pt x="356" y="756"/>
                  </a:cubicBezTo>
                  <a:moveTo>
                    <a:pt x="330" y="17"/>
                  </a:moveTo>
                  <a:cubicBezTo>
                    <a:pt x="313" y="9"/>
                    <a:pt x="295" y="4"/>
                    <a:pt x="278" y="2"/>
                  </a:cubicBezTo>
                  <a:cubicBezTo>
                    <a:pt x="259" y="0"/>
                    <a:pt x="241" y="0"/>
                    <a:pt x="223" y="4"/>
                  </a:cubicBezTo>
                  <a:cubicBezTo>
                    <a:pt x="204" y="7"/>
                    <a:pt x="186" y="14"/>
                    <a:pt x="168" y="24"/>
                  </a:cubicBezTo>
                  <a:cubicBezTo>
                    <a:pt x="150" y="34"/>
                    <a:pt x="132" y="48"/>
                    <a:pt x="116" y="64"/>
                  </a:cubicBezTo>
                  <a:cubicBezTo>
                    <a:pt x="99" y="82"/>
                    <a:pt x="83" y="102"/>
                    <a:pt x="69" y="126"/>
                  </a:cubicBezTo>
                  <a:cubicBezTo>
                    <a:pt x="54" y="150"/>
                    <a:pt x="41" y="177"/>
                    <a:pt x="31" y="207"/>
                  </a:cubicBezTo>
                  <a:cubicBezTo>
                    <a:pt x="20" y="237"/>
                    <a:pt x="12" y="271"/>
                    <a:pt x="7" y="306"/>
                  </a:cubicBezTo>
                  <a:cubicBezTo>
                    <a:pt x="2" y="341"/>
                    <a:pt x="0" y="379"/>
                    <a:pt x="1" y="417"/>
                  </a:cubicBezTo>
                  <a:cubicBezTo>
                    <a:pt x="2" y="456"/>
                    <a:pt x="7" y="493"/>
                    <a:pt x="14" y="529"/>
                  </a:cubicBezTo>
                  <a:cubicBezTo>
                    <a:pt x="21" y="564"/>
                    <a:pt x="32" y="597"/>
                    <a:pt x="44" y="627"/>
                  </a:cubicBezTo>
                  <a:cubicBezTo>
                    <a:pt x="57" y="657"/>
                    <a:pt x="71" y="684"/>
                    <a:pt x="87" y="708"/>
                  </a:cubicBezTo>
                  <a:cubicBezTo>
                    <a:pt x="103" y="731"/>
                    <a:pt x="120" y="752"/>
                    <a:pt x="139" y="768"/>
                  </a:cubicBezTo>
                  <a:cubicBezTo>
                    <a:pt x="157" y="785"/>
                    <a:pt x="175" y="798"/>
                    <a:pt x="195" y="807"/>
                  </a:cubicBezTo>
                  <a:cubicBezTo>
                    <a:pt x="213" y="817"/>
                    <a:pt x="232" y="823"/>
                    <a:pt x="251" y="826"/>
                  </a:cubicBezTo>
                  <a:cubicBezTo>
                    <a:pt x="270" y="829"/>
                    <a:pt x="288" y="829"/>
                    <a:pt x="306" y="826"/>
                  </a:cubicBezTo>
                  <a:cubicBezTo>
                    <a:pt x="324" y="823"/>
                    <a:pt x="341" y="817"/>
                    <a:pt x="358" y="809"/>
                  </a:cubicBezTo>
                  <a:cubicBezTo>
                    <a:pt x="375" y="801"/>
                    <a:pt x="390" y="790"/>
                    <a:pt x="404" y="778"/>
                  </a:cubicBezTo>
                  <a:cubicBezTo>
                    <a:pt x="417" y="767"/>
                    <a:pt x="430" y="753"/>
                    <a:pt x="441" y="739"/>
                  </a:cubicBezTo>
                  <a:cubicBezTo>
                    <a:pt x="453" y="724"/>
                    <a:pt x="463" y="709"/>
                    <a:pt x="472" y="692"/>
                  </a:cubicBezTo>
                  <a:cubicBezTo>
                    <a:pt x="481" y="676"/>
                    <a:pt x="489" y="659"/>
                    <a:pt x="496" y="641"/>
                  </a:cubicBezTo>
                  <a:cubicBezTo>
                    <a:pt x="503" y="624"/>
                    <a:pt x="509" y="606"/>
                    <a:pt x="514" y="587"/>
                  </a:cubicBezTo>
                  <a:cubicBezTo>
                    <a:pt x="519" y="568"/>
                    <a:pt x="523" y="549"/>
                    <a:pt x="526" y="530"/>
                  </a:cubicBezTo>
                  <a:cubicBezTo>
                    <a:pt x="529" y="510"/>
                    <a:pt x="531" y="490"/>
                    <a:pt x="533" y="470"/>
                  </a:cubicBezTo>
                  <a:cubicBezTo>
                    <a:pt x="534" y="449"/>
                    <a:pt x="534" y="429"/>
                    <a:pt x="533" y="407"/>
                  </a:cubicBezTo>
                  <a:cubicBezTo>
                    <a:pt x="532" y="386"/>
                    <a:pt x="531" y="365"/>
                    <a:pt x="528" y="345"/>
                  </a:cubicBezTo>
                  <a:cubicBezTo>
                    <a:pt x="525" y="325"/>
                    <a:pt x="522" y="305"/>
                    <a:pt x="517" y="286"/>
                  </a:cubicBezTo>
                  <a:cubicBezTo>
                    <a:pt x="512" y="267"/>
                    <a:pt x="507" y="248"/>
                    <a:pt x="501" y="230"/>
                  </a:cubicBezTo>
                  <a:cubicBezTo>
                    <a:pt x="494" y="211"/>
                    <a:pt x="487" y="193"/>
                    <a:pt x="479" y="176"/>
                  </a:cubicBezTo>
                  <a:cubicBezTo>
                    <a:pt x="470" y="159"/>
                    <a:pt x="461" y="143"/>
                    <a:pt x="451" y="127"/>
                  </a:cubicBezTo>
                  <a:cubicBezTo>
                    <a:pt x="441" y="111"/>
                    <a:pt x="430" y="96"/>
                    <a:pt x="417" y="83"/>
                  </a:cubicBezTo>
                  <a:cubicBezTo>
                    <a:pt x="405" y="69"/>
                    <a:pt x="392" y="56"/>
                    <a:pt x="377" y="45"/>
                  </a:cubicBezTo>
                  <a:cubicBezTo>
                    <a:pt x="363" y="34"/>
                    <a:pt x="347" y="24"/>
                    <a:pt x="33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>
              <a:prstTxWarp prst="textNoShape"/>
            </a:bodyPr>
            <a:p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745" name="Freeform 6"/>
            <p:cNvSpPr>
              <a:spLocks noEditPoints="1"/>
            </p:cNvSpPr>
            <p:nvPr/>
          </p:nvSpPr>
          <p:spPr bwMode="auto">
            <a:xfrm>
              <a:off x="945" y="1492"/>
              <a:ext cx="1538" cy="2343"/>
            </a:xfrm>
            <a:custGeom>
              <a:avLst/>
              <a:gdLst>
                <a:gd name="T0" fmla="*/ 476 w 648"/>
                <a:gd name="T1" fmla="*/ 296 h 989"/>
                <a:gd name="T2" fmla="*/ 317 w 648"/>
                <a:gd name="T3" fmla="*/ 313 h 989"/>
                <a:gd name="T4" fmla="*/ 287 w 648"/>
                <a:gd name="T5" fmla="*/ 595 h 989"/>
                <a:gd name="T6" fmla="*/ 441 w 648"/>
                <a:gd name="T7" fmla="*/ 714 h 989"/>
                <a:gd name="T8" fmla="*/ 546 w 648"/>
                <a:gd name="T9" fmla="*/ 564 h 989"/>
                <a:gd name="T10" fmla="*/ 519 w 648"/>
                <a:gd name="T11" fmla="*/ 517 h 989"/>
                <a:gd name="T12" fmla="*/ 500 w 648"/>
                <a:gd name="T13" fmla="*/ 592 h 989"/>
                <a:gd name="T14" fmla="*/ 457 w 648"/>
                <a:gd name="T15" fmla="*/ 640 h 989"/>
                <a:gd name="T16" fmla="*/ 399 w 648"/>
                <a:gd name="T17" fmla="*/ 642 h 989"/>
                <a:gd name="T18" fmla="*/ 348 w 648"/>
                <a:gd name="T19" fmla="*/ 589 h 989"/>
                <a:gd name="T20" fmla="*/ 324 w 648"/>
                <a:gd name="T21" fmla="*/ 492 h 989"/>
                <a:gd name="T22" fmla="*/ 341 w 648"/>
                <a:gd name="T23" fmla="*/ 395 h 989"/>
                <a:gd name="T24" fmla="*/ 388 w 648"/>
                <a:gd name="T25" fmla="*/ 339 h 989"/>
                <a:gd name="T26" fmla="*/ 447 w 648"/>
                <a:gd name="T27" fmla="*/ 339 h 989"/>
                <a:gd name="T28" fmla="*/ 493 w 648"/>
                <a:gd name="T29" fmla="*/ 386 h 989"/>
                <a:gd name="T30" fmla="*/ 517 w 648"/>
                <a:gd name="T31" fmla="*/ 460 h 989"/>
                <a:gd name="T32" fmla="*/ 587 w 648"/>
                <a:gd name="T33" fmla="*/ 379 h 989"/>
                <a:gd name="T34" fmla="*/ 421 w 648"/>
                <a:gd name="T35" fmla="*/ 148 h 989"/>
                <a:gd name="T36" fmla="*/ 174 w 648"/>
                <a:gd name="T37" fmla="*/ 321 h 989"/>
                <a:gd name="T38" fmla="*/ 261 w 648"/>
                <a:gd name="T39" fmla="*/ 790 h 989"/>
                <a:gd name="T40" fmla="*/ 519 w 648"/>
                <a:gd name="T41" fmla="*/ 778 h 989"/>
                <a:gd name="T42" fmla="*/ 602 w 648"/>
                <a:gd name="T43" fmla="*/ 487 h 989"/>
                <a:gd name="T44" fmla="*/ 569 w 648"/>
                <a:gd name="T45" fmla="*/ 578 h 989"/>
                <a:gd name="T46" fmla="*/ 526 w 648"/>
                <a:gd name="T47" fmla="*/ 695 h 989"/>
                <a:gd name="T48" fmla="*/ 443 w 648"/>
                <a:gd name="T49" fmla="*/ 768 h 989"/>
                <a:gd name="T50" fmla="*/ 334 w 648"/>
                <a:gd name="T51" fmla="*/ 752 h 989"/>
                <a:gd name="T52" fmla="*/ 244 w 648"/>
                <a:gd name="T53" fmla="*/ 626 h 989"/>
                <a:gd name="T54" fmla="*/ 222 w 648"/>
                <a:gd name="T55" fmla="*/ 424 h 989"/>
                <a:gd name="T56" fmla="*/ 284 w 648"/>
                <a:gd name="T57" fmla="*/ 265 h 989"/>
                <a:gd name="T58" fmla="*/ 387 w 648"/>
                <a:gd name="T59" fmla="*/ 209 h 989"/>
                <a:gd name="T60" fmla="*/ 486 w 648"/>
                <a:gd name="T61" fmla="*/ 253 h 989"/>
                <a:gd name="T62" fmla="*/ 549 w 648"/>
                <a:gd name="T63" fmla="*/ 355 h 989"/>
                <a:gd name="T64" fmla="*/ 575 w 648"/>
                <a:gd name="T65" fmla="*/ 487 h 989"/>
                <a:gd name="T66" fmla="*/ 628 w 648"/>
                <a:gd name="T67" fmla="*/ 349 h 989"/>
                <a:gd name="T68" fmla="*/ 417 w 648"/>
                <a:gd name="T69" fmla="*/ 30 h 989"/>
                <a:gd name="T70" fmla="*/ 44 w 648"/>
                <a:gd name="T71" fmla="*/ 236 h 989"/>
                <a:gd name="T72" fmla="*/ 182 w 648"/>
                <a:gd name="T73" fmla="*/ 927 h 989"/>
                <a:gd name="T74" fmla="*/ 545 w 648"/>
                <a:gd name="T75" fmla="*/ 867 h 989"/>
                <a:gd name="T76" fmla="*/ 646 w 648"/>
                <a:gd name="T77" fmla="*/ 486 h 989"/>
                <a:gd name="T78" fmla="*/ 603 w 648"/>
                <a:gd name="T79" fmla="*/ 666 h 989"/>
                <a:gd name="T80" fmla="*/ 530 w 648"/>
                <a:gd name="T81" fmla="*/ 818 h 989"/>
                <a:gd name="T82" fmla="*/ 395 w 648"/>
                <a:gd name="T83" fmla="*/ 905 h 989"/>
                <a:gd name="T84" fmla="*/ 228 w 648"/>
                <a:gd name="T85" fmla="*/ 847 h 989"/>
                <a:gd name="T86" fmla="*/ 103 w 648"/>
                <a:gd name="T87" fmla="*/ 608 h 989"/>
                <a:gd name="T88" fmla="*/ 120 w 648"/>
                <a:gd name="T89" fmla="*/ 286 h 989"/>
                <a:gd name="T90" fmla="*/ 257 w 648"/>
                <a:gd name="T91" fmla="*/ 103 h 989"/>
                <a:gd name="T92" fmla="*/ 419 w 648"/>
                <a:gd name="T93" fmla="*/ 96 h 989"/>
                <a:gd name="T94" fmla="*/ 540 w 648"/>
                <a:gd name="T95" fmla="*/ 206 h 989"/>
                <a:gd name="T96" fmla="*/ 606 w 648"/>
                <a:gd name="T97" fmla="*/ 365 h 989"/>
                <a:gd name="T98" fmla="*/ 622 w 648"/>
                <a:gd name="T99" fmla="*/ 549 h 989"/>
                <a:gd name="T100" fmla="*/ 452 w 648"/>
                <a:gd name="T101" fmla="*/ 404 h 989"/>
                <a:gd name="T102" fmla="*/ 387 w 648"/>
                <a:gd name="T103" fmla="*/ 420 h 989"/>
                <a:gd name="T104" fmla="*/ 377 w 648"/>
                <a:gd name="T105" fmla="*/ 531 h 989"/>
                <a:gd name="T106" fmla="*/ 436 w 648"/>
                <a:gd name="T107" fmla="*/ 585 h 989"/>
                <a:gd name="T108" fmla="*/ 485 w 648"/>
                <a:gd name="T109" fmla="*/ 524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8" h="989">
                  <a:moveTo>
                    <a:pt x="541" y="412"/>
                  </a:moveTo>
                  <a:cubicBezTo>
                    <a:pt x="534" y="388"/>
                    <a:pt x="526" y="366"/>
                    <a:pt x="515" y="347"/>
                  </a:cubicBezTo>
                  <a:cubicBezTo>
                    <a:pt x="504" y="327"/>
                    <a:pt x="491" y="309"/>
                    <a:pt x="476" y="296"/>
                  </a:cubicBezTo>
                  <a:cubicBezTo>
                    <a:pt x="461" y="281"/>
                    <a:pt x="444" y="271"/>
                    <a:pt x="425" y="267"/>
                  </a:cubicBezTo>
                  <a:cubicBezTo>
                    <a:pt x="405" y="262"/>
                    <a:pt x="386" y="264"/>
                    <a:pt x="368" y="271"/>
                  </a:cubicBezTo>
                  <a:cubicBezTo>
                    <a:pt x="349" y="279"/>
                    <a:pt x="332" y="294"/>
                    <a:pt x="317" y="313"/>
                  </a:cubicBezTo>
                  <a:cubicBezTo>
                    <a:pt x="301" y="334"/>
                    <a:pt x="289" y="360"/>
                    <a:pt x="280" y="390"/>
                  </a:cubicBezTo>
                  <a:cubicBezTo>
                    <a:pt x="271" y="421"/>
                    <a:pt x="267" y="456"/>
                    <a:pt x="268" y="493"/>
                  </a:cubicBezTo>
                  <a:cubicBezTo>
                    <a:pt x="269" y="530"/>
                    <a:pt x="276" y="565"/>
                    <a:pt x="287" y="595"/>
                  </a:cubicBezTo>
                  <a:cubicBezTo>
                    <a:pt x="298" y="625"/>
                    <a:pt x="312" y="651"/>
                    <a:pt x="329" y="671"/>
                  </a:cubicBezTo>
                  <a:cubicBezTo>
                    <a:pt x="345" y="691"/>
                    <a:pt x="364" y="704"/>
                    <a:pt x="383" y="712"/>
                  </a:cubicBezTo>
                  <a:cubicBezTo>
                    <a:pt x="402" y="719"/>
                    <a:pt x="422" y="720"/>
                    <a:pt x="441" y="714"/>
                  </a:cubicBezTo>
                  <a:cubicBezTo>
                    <a:pt x="459" y="709"/>
                    <a:pt x="476" y="698"/>
                    <a:pt x="490" y="683"/>
                  </a:cubicBezTo>
                  <a:cubicBezTo>
                    <a:pt x="504" y="669"/>
                    <a:pt x="516" y="651"/>
                    <a:pt x="526" y="630"/>
                  </a:cubicBezTo>
                  <a:cubicBezTo>
                    <a:pt x="535" y="610"/>
                    <a:pt x="542" y="588"/>
                    <a:pt x="546" y="564"/>
                  </a:cubicBezTo>
                  <a:cubicBezTo>
                    <a:pt x="550" y="540"/>
                    <a:pt x="552" y="514"/>
                    <a:pt x="551" y="488"/>
                  </a:cubicBezTo>
                  <a:cubicBezTo>
                    <a:pt x="550" y="461"/>
                    <a:pt x="547" y="436"/>
                    <a:pt x="541" y="412"/>
                  </a:cubicBezTo>
                  <a:close/>
                  <a:moveTo>
                    <a:pt x="519" y="517"/>
                  </a:moveTo>
                  <a:cubicBezTo>
                    <a:pt x="519" y="526"/>
                    <a:pt x="517" y="535"/>
                    <a:pt x="516" y="544"/>
                  </a:cubicBezTo>
                  <a:cubicBezTo>
                    <a:pt x="514" y="552"/>
                    <a:pt x="512" y="561"/>
                    <a:pt x="509" y="569"/>
                  </a:cubicBezTo>
                  <a:cubicBezTo>
                    <a:pt x="507" y="577"/>
                    <a:pt x="503" y="584"/>
                    <a:pt x="500" y="592"/>
                  </a:cubicBezTo>
                  <a:cubicBezTo>
                    <a:pt x="496" y="599"/>
                    <a:pt x="493" y="605"/>
                    <a:pt x="488" y="612"/>
                  </a:cubicBezTo>
                  <a:cubicBezTo>
                    <a:pt x="484" y="618"/>
                    <a:pt x="479" y="623"/>
                    <a:pt x="474" y="628"/>
                  </a:cubicBezTo>
                  <a:cubicBezTo>
                    <a:pt x="469" y="633"/>
                    <a:pt x="463" y="637"/>
                    <a:pt x="457" y="640"/>
                  </a:cubicBezTo>
                  <a:cubicBezTo>
                    <a:pt x="451" y="644"/>
                    <a:pt x="445" y="646"/>
                    <a:pt x="439" y="647"/>
                  </a:cubicBezTo>
                  <a:cubicBezTo>
                    <a:pt x="432" y="649"/>
                    <a:pt x="425" y="649"/>
                    <a:pt x="419" y="648"/>
                  </a:cubicBezTo>
                  <a:cubicBezTo>
                    <a:pt x="412" y="647"/>
                    <a:pt x="405" y="645"/>
                    <a:pt x="399" y="642"/>
                  </a:cubicBezTo>
                  <a:cubicBezTo>
                    <a:pt x="392" y="639"/>
                    <a:pt x="386" y="635"/>
                    <a:pt x="380" y="630"/>
                  </a:cubicBezTo>
                  <a:cubicBezTo>
                    <a:pt x="374" y="625"/>
                    <a:pt x="368" y="619"/>
                    <a:pt x="363" y="612"/>
                  </a:cubicBezTo>
                  <a:cubicBezTo>
                    <a:pt x="357" y="605"/>
                    <a:pt x="352" y="597"/>
                    <a:pt x="348" y="589"/>
                  </a:cubicBezTo>
                  <a:cubicBezTo>
                    <a:pt x="343" y="580"/>
                    <a:pt x="339" y="570"/>
                    <a:pt x="336" y="560"/>
                  </a:cubicBezTo>
                  <a:cubicBezTo>
                    <a:pt x="332" y="550"/>
                    <a:pt x="329" y="539"/>
                    <a:pt x="327" y="528"/>
                  </a:cubicBezTo>
                  <a:cubicBezTo>
                    <a:pt x="325" y="516"/>
                    <a:pt x="324" y="504"/>
                    <a:pt x="324" y="492"/>
                  </a:cubicBezTo>
                  <a:cubicBezTo>
                    <a:pt x="323" y="480"/>
                    <a:pt x="324" y="468"/>
                    <a:pt x="325" y="456"/>
                  </a:cubicBezTo>
                  <a:cubicBezTo>
                    <a:pt x="326" y="445"/>
                    <a:pt x="328" y="434"/>
                    <a:pt x="331" y="423"/>
                  </a:cubicBezTo>
                  <a:cubicBezTo>
                    <a:pt x="334" y="413"/>
                    <a:pt x="337" y="403"/>
                    <a:pt x="341" y="395"/>
                  </a:cubicBezTo>
                  <a:cubicBezTo>
                    <a:pt x="345" y="386"/>
                    <a:pt x="349" y="378"/>
                    <a:pt x="354" y="371"/>
                  </a:cubicBezTo>
                  <a:cubicBezTo>
                    <a:pt x="359" y="363"/>
                    <a:pt x="365" y="357"/>
                    <a:pt x="370" y="352"/>
                  </a:cubicBezTo>
                  <a:cubicBezTo>
                    <a:pt x="376" y="347"/>
                    <a:pt x="382" y="343"/>
                    <a:pt x="388" y="339"/>
                  </a:cubicBezTo>
                  <a:cubicBezTo>
                    <a:pt x="394" y="336"/>
                    <a:pt x="401" y="334"/>
                    <a:pt x="407" y="333"/>
                  </a:cubicBezTo>
                  <a:cubicBezTo>
                    <a:pt x="414" y="332"/>
                    <a:pt x="421" y="332"/>
                    <a:pt x="427" y="333"/>
                  </a:cubicBezTo>
                  <a:cubicBezTo>
                    <a:pt x="434" y="334"/>
                    <a:pt x="441" y="336"/>
                    <a:pt x="447" y="339"/>
                  </a:cubicBezTo>
                  <a:cubicBezTo>
                    <a:pt x="453" y="342"/>
                    <a:pt x="459" y="346"/>
                    <a:pt x="464" y="351"/>
                  </a:cubicBezTo>
                  <a:cubicBezTo>
                    <a:pt x="469" y="355"/>
                    <a:pt x="475" y="361"/>
                    <a:pt x="479" y="367"/>
                  </a:cubicBezTo>
                  <a:cubicBezTo>
                    <a:pt x="484" y="373"/>
                    <a:pt x="489" y="379"/>
                    <a:pt x="493" y="386"/>
                  </a:cubicBezTo>
                  <a:cubicBezTo>
                    <a:pt x="497" y="393"/>
                    <a:pt x="500" y="401"/>
                    <a:pt x="503" y="408"/>
                  </a:cubicBezTo>
                  <a:cubicBezTo>
                    <a:pt x="507" y="416"/>
                    <a:pt x="509" y="425"/>
                    <a:pt x="512" y="433"/>
                  </a:cubicBezTo>
                  <a:cubicBezTo>
                    <a:pt x="514" y="442"/>
                    <a:pt x="516" y="451"/>
                    <a:pt x="517" y="460"/>
                  </a:cubicBezTo>
                  <a:cubicBezTo>
                    <a:pt x="519" y="469"/>
                    <a:pt x="519" y="479"/>
                    <a:pt x="520" y="488"/>
                  </a:cubicBezTo>
                  <a:cubicBezTo>
                    <a:pt x="520" y="498"/>
                    <a:pt x="520" y="508"/>
                    <a:pt x="519" y="517"/>
                  </a:cubicBezTo>
                  <a:close/>
                  <a:moveTo>
                    <a:pt x="587" y="379"/>
                  </a:moveTo>
                  <a:cubicBezTo>
                    <a:pt x="579" y="344"/>
                    <a:pt x="567" y="311"/>
                    <a:pt x="552" y="282"/>
                  </a:cubicBezTo>
                  <a:cubicBezTo>
                    <a:pt x="537" y="251"/>
                    <a:pt x="519" y="224"/>
                    <a:pt x="498" y="201"/>
                  </a:cubicBezTo>
                  <a:cubicBezTo>
                    <a:pt x="475" y="177"/>
                    <a:pt x="449" y="159"/>
                    <a:pt x="421" y="148"/>
                  </a:cubicBezTo>
                  <a:cubicBezTo>
                    <a:pt x="390" y="136"/>
                    <a:pt x="359" y="134"/>
                    <a:pt x="330" y="142"/>
                  </a:cubicBezTo>
                  <a:cubicBezTo>
                    <a:pt x="298" y="151"/>
                    <a:pt x="268" y="170"/>
                    <a:pt x="241" y="199"/>
                  </a:cubicBezTo>
                  <a:cubicBezTo>
                    <a:pt x="213" y="230"/>
                    <a:pt x="190" y="271"/>
                    <a:pt x="174" y="321"/>
                  </a:cubicBezTo>
                  <a:cubicBezTo>
                    <a:pt x="157" y="372"/>
                    <a:pt x="148" y="432"/>
                    <a:pt x="150" y="495"/>
                  </a:cubicBezTo>
                  <a:cubicBezTo>
                    <a:pt x="152" y="558"/>
                    <a:pt x="165" y="618"/>
                    <a:pt x="185" y="669"/>
                  </a:cubicBezTo>
                  <a:cubicBezTo>
                    <a:pt x="204" y="719"/>
                    <a:pt x="231" y="760"/>
                    <a:pt x="261" y="790"/>
                  </a:cubicBezTo>
                  <a:cubicBezTo>
                    <a:pt x="289" y="818"/>
                    <a:pt x="321" y="837"/>
                    <a:pt x="354" y="844"/>
                  </a:cubicBezTo>
                  <a:cubicBezTo>
                    <a:pt x="384" y="851"/>
                    <a:pt x="415" y="848"/>
                    <a:pt x="445" y="835"/>
                  </a:cubicBezTo>
                  <a:cubicBezTo>
                    <a:pt x="473" y="823"/>
                    <a:pt x="498" y="803"/>
                    <a:pt x="519" y="778"/>
                  </a:cubicBezTo>
                  <a:cubicBezTo>
                    <a:pt x="538" y="754"/>
                    <a:pt x="555" y="726"/>
                    <a:pt x="568" y="694"/>
                  </a:cubicBezTo>
                  <a:cubicBezTo>
                    <a:pt x="580" y="664"/>
                    <a:pt x="590" y="631"/>
                    <a:pt x="595" y="596"/>
                  </a:cubicBezTo>
                  <a:cubicBezTo>
                    <a:pt x="601" y="561"/>
                    <a:pt x="604" y="525"/>
                    <a:pt x="602" y="487"/>
                  </a:cubicBezTo>
                  <a:cubicBezTo>
                    <a:pt x="601" y="449"/>
                    <a:pt x="596" y="412"/>
                    <a:pt x="587" y="379"/>
                  </a:cubicBezTo>
                  <a:close/>
                  <a:moveTo>
                    <a:pt x="574" y="534"/>
                  </a:moveTo>
                  <a:cubicBezTo>
                    <a:pt x="573" y="549"/>
                    <a:pt x="571" y="564"/>
                    <a:pt x="569" y="578"/>
                  </a:cubicBezTo>
                  <a:cubicBezTo>
                    <a:pt x="566" y="593"/>
                    <a:pt x="563" y="607"/>
                    <a:pt x="559" y="620"/>
                  </a:cubicBezTo>
                  <a:cubicBezTo>
                    <a:pt x="555" y="634"/>
                    <a:pt x="550" y="647"/>
                    <a:pt x="545" y="660"/>
                  </a:cubicBezTo>
                  <a:cubicBezTo>
                    <a:pt x="539" y="672"/>
                    <a:pt x="533" y="684"/>
                    <a:pt x="526" y="695"/>
                  </a:cubicBezTo>
                  <a:cubicBezTo>
                    <a:pt x="519" y="706"/>
                    <a:pt x="511" y="717"/>
                    <a:pt x="503" y="726"/>
                  </a:cubicBezTo>
                  <a:cubicBezTo>
                    <a:pt x="495" y="736"/>
                    <a:pt x="485" y="744"/>
                    <a:pt x="475" y="751"/>
                  </a:cubicBezTo>
                  <a:cubicBezTo>
                    <a:pt x="465" y="758"/>
                    <a:pt x="454" y="764"/>
                    <a:pt x="443" y="768"/>
                  </a:cubicBezTo>
                  <a:cubicBezTo>
                    <a:pt x="431" y="772"/>
                    <a:pt x="419" y="774"/>
                    <a:pt x="407" y="774"/>
                  </a:cubicBezTo>
                  <a:cubicBezTo>
                    <a:pt x="395" y="775"/>
                    <a:pt x="382" y="773"/>
                    <a:pt x="370" y="769"/>
                  </a:cubicBezTo>
                  <a:cubicBezTo>
                    <a:pt x="358" y="765"/>
                    <a:pt x="346" y="759"/>
                    <a:pt x="334" y="752"/>
                  </a:cubicBezTo>
                  <a:cubicBezTo>
                    <a:pt x="322" y="744"/>
                    <a:pt x="311" y="734"/>
                    <a:pt x="300" y="722"/>
                  </a:cubicBezTo>
                  <a:cubicBezTo>
                    <a:pt x="289" y="709"/>
                    <a:pt x="278" y="695"/>
                    <a:pt x="269" y="679"/>
                  </a:cubicBezTo>
                  <a:cubicBezTo>
                    <a:pt x="260" y="663"/>
                    <a:pt x="251" y="645"/>
                    <a:pt x="244" y="626"/>
                  </a:cubicBezTo>
                  <a:cubicBezTo>
                    <a:pt x="237" y="607"/>
                    <a:pt x="231" y="586"/>
                    <a:pt x="227" y="563"/>
                  </a:cubicBezTo>
                  <a:cubicBezTo>
                    <a:pt x="222" y="541"/>
                    <a:pt x="220" y="518"/>
                    <a:pt x="219" y="494"/>
                  </a:cubicBezTo>
                  <a:cubicBezTo>
                    <a:pt x="218" y="470"/>
                    <a:pt x="219" y="446"/>
                    <a:pt x="222" y="424"/>
                  </a:cubicBezTo>
                  <a:cubicBezTo>
                    <a:pt x="225" y="402"/>
                    <a:pt x="229" y="381"/>
                    <a:pt x="235" y="361"/>
                  </a:cubicBezTo>
                  <a:cubicBezTo>
                    <a:pt x="241" y="342"/>
                    <a:pt x="248" y="324"/>
                    <a:pt x="257" y="307"/>
                  </a:cubicBezTo>
                  <a:cubicBezTo>
                    <a:pt x="265" y="291"/>
                    <a:pt x="274" y="277"/>
                    <a:pt x="284" y="265"/>
                  </a:cubicBezTo>
                  <a:cubicBezTo>
                    <a:pt x="294" y="252"/>
                    <a:pt x="305" y="242"/>
                    <a:pt x="317" y="234"/>
                  </a:cubicBezTo>
                  <a:cubicBezTo>
                    <a:pt x="328" y="226"/>
                    <a:pt x="339" y="219"/>
                    <a:pt x="351" y="215"/>
                  </a:cubicBezTo>
                  <a:cubicBezTo>
                    <a:pt x="363" y="211"/>
                    <a:pt x="375" y="209"/>
                    <a:pt x="387" y="209"/>
                  </a:cubicBezTo>
                  <a:cubicBezTo>
                    <a:pt x="399" y="208"/>
                    <a:pt x="411" y="210"/>
                    <a:pt x="423" y="214"/>
                  </a:cubicBezTo>
                  <a:cubicBezTo>
                    <a:pt x="435" y="217"/>
                    <a:pt x="446" y="223"/>
                    <a:pt x="457" y="229"/>
                  </a:cubicBezTo>
                  <a:cubicBezTo>
                    <a:pt x="467" y="236"/>
                    <a:pt x="477" y="244"/>
                    <a:pt x="486" y="253"/>
                  </a:cubicBezTo>
                  <a:cubicBezTo>
                    <a:pt x="495" y="262"/>
                    <a:pt x="503" y="272"/>
                    <a:pt x="511" y="282"/>
                  </a:cubicBezTo>
                  <a:cubicBezTo>
                    <a:pt x="519" y="293"/>
                    <a:pt x="526" y="305"/>
                    <a:pt x="532" y="317"/>
                  </a:cubicBezTo>
                  <a:cubicBezTo>
                    <a:pt x="539" y="329"/>
                    <a:pt x="544" y="342"/>
                    <a:pt x="549" y="355"/>
                  </a:cubicBezTo>
                  <a:cubicBezTo>
                    <a:pt x="554" y="369"/>
                    <a:pt x="559" y="382"/>
                    <a:pt x="562" y="397"/>
                  </a:cubicBezTo>
                  <a:cubicBezTo>
                    <a:pt x="566" y="411"/>
                    <a:pt x="569" y="426"/>
                    <a:pt x="571" y="441"/>
                  </a:cubicBezTo>
                  <a:cubicBezTo>
                    <a:pt x="573" y="456"/>
                    <a:pt x="574" y="471"/>
                    <a:pt x="575" y="487"/>
                  </a:cubicBezTo>
                  <a:cubicBezTo>
                    <a:pt x="575" y="503"/>
                    <a:pt x="575" y="519"/>
                    <a:pt x="574" y="534"/>
                  </a:cubicBezTo>
                  <a:close/>
                  <a:moveTo>
                    <a:pt x="646" y="486"/>
                  </a:moveTo>
                  <a:cubicBezTo>
                    <a:pt x="644" y="438"/>
                    <a:pt x="638" y="392"/>
                    <a:pt x="628" y="349"/>
                  </a:cubicBezTo>
                  <a:cubicBezTo>
                    <a:pt x="618" y="305"/>
                    <a:pt x="604" y="263"/>
                    <a:pt x="586" y="224"/>
                  </a:cubicBezTo>
                  <a:cubicBezTo>
                    <a:pt x="567" y="183"/>
                    <a:pt x="544" y="145"/>
                    <a:pt x="517" y="113"/>
                  </a:cubicBezTo>
                  <a:cubicBezTo>
                    <a:pt x="488" y="79"/>
                    <a:pt x="455" y="50"/>
                    <a:pt x="417" y="30"/>
                  </a:cubicBezTo>
                  <a:cubicBezTo>
                    <a:pt x="375" y="8"/>
                    <a:pt x="332" y="0"/>
                    <a:pt x="289" y="4"/>
                  </a:cubicBezTo>
                  <a:cubicBezTo>
                    <a:pt x="242" y="9"/>
                    <a:pt x="196" y="30"/>
                    <a:pt x="154" y="67"/>
                  </a:cubicBezTo>
                  <a:cubicBezTo>
                    <a:pt x="110" y="107"/>
                    <a:pt x="71" y="164"/>
                    <a:pt x="44" y="236"/>
                  </a:cubicBezTo>
                  <a:cubicBezTo>
                    <a:pt x="15" y="312"/>
                    <a:pt x="0" y="401"/>
                    <a:pt x="3" y="498"/>
                  </a:cubicBezTo>
                  <a:cubicBezTo>
                    <a:pt x="5" y="594"/>
                    <a:pt x="26" y="684"/>
                    <a:pt x="60" y="759"/>
                  </a:cubicBezTo>
                  <a:cubicBezTo>
                    <a:pt x="92" y="831"/>
                    <a:pt x="134" y="888"/>
                    <a:pt x="182" y="927"/>
                  </a:cubicBezTo>
                  <a:cubicBezTo>
                    <a:pt x="226" y="963"/>
                    <a:pt x="274" y="983"/>
                    <a:pt x="322" y="986"/>
                  </a:cubicBezTo>
                  <a:cubicBezTo>
                    <a:pt x="366" y="989"/>
                    <a:pt x="409" y="979"/>
                    <a:pt x="449" y="955"/>
                  </a:cubicBezTo>
                  <a:cubicBezTo>
                    <a:pt x="487" y="934"/>
                    <a:pt x="518" y="903"/>
                    <a:pt x="545" y="867"/>
                  </a:cubicBezTo>
                  <a:cubicBezTo>
                    <a:pt x="569" y="833"/>
                    <a:pt x="590" y="794"/>
                    <a:pt x="606" y="752"/>
                  </a:cubicBezTo>
                  <a:cubicBezTo>
                    <a:pt x="620" y="712"/>
                    <a:pt x="632" y="669"/>
                    <a:pt x="638" y="624"/>
                  </a:cubicBezTo>
                  <a:cubicBezTo>
                    <a:pt x="645" y="580"/>
                    <a:pt x="648" y="534"/>
                    <a:pt x="646" y="486"/>
                  </a:cubicBezTo>
                  <a:close/>
                  <a:moveTo>
                    <a:pt x="622" y="549"/>
                  </a:moveTo>
                  <a:cubicBezTo>
                    <a:pt x="620" y="569"/>
                    <a:pt x="618" y="589"/>
                    <a:pt x="615" y="609"/>
                  </a:cubicBezTo>
                  <a:cubicBezTo>
                    <a:pt x="612" y="628"/>
                    <a:pt x="608" y="647"/>
                    <a:pt x="603" y="666"/>
                  </a:cubicBezTo>
                  <a:cubicBezTo>
                    <a:pt x="598" y="685"/>
                    <a:pt x="592" y="703"/>
                    <a:pt x="585" y="720"/>
                  </a:cubicBezTo>
                  <a:cubicBezTo>
                    <a:pt x="578" y="738"/>
                    <a:pt x="570" y="755"/>
                    <a:pt x="561" y="771"/>
                  </a:cubicBezTo>
                  <a:cubicBezTo>
                    <a:pt x="552" y="788"/>
                    <a:pt x="541" y="803"/>
                    <a:pt x="530" y="818"/>
                  </a:cubicBezTo>
                  <a:cubicBezTo>
                    <a:pt x="519" y="832"/>
                    <a:pt x="506" y="846"/>
                    <a:pt x="493" y="857"/>
                  </a:cubicBezTo>
                  <a:cubicBezTo>
                    <a:pt x="479" y="869"/>
                    <a:pt x="463" y="880"/>
                    <a:pt x="447" y="888"/>
                  </a:cubicBezTo>
                  <a:cubicBezTo>
                    <a:pt x="430" y="896"/>
                    <a:pt x="413" y="902"/>
                    <a:pt x="395" y="905"/>
                  </a:cubicBezTo>
                  <a:cubicBezTo>
                    <a:pt x="377" y="908"/>
                    <a:pt x="358" y="908"/>
                    <a:pt x="340" y="905"/>
                  </a:cubicBezTo>
                  <a:cubicBezTo>
                    <a:pt x="321" y="902"/>
                    <a:pt x="302" y="896"/>
                    <a:pt x="283" y="886"/>
                  </a:cubicBezTo>
                  <a:cubicBezTo>
                    <a:pt x="264" y="877"/>
                    <a:pt x="245" y="864"/>
                    <a:pt x="228" y="847"/>
                  </a:cubicBezTo>
                  <a:cubicBezTo>
                    <a:pt x="209" y="831"/>
                    <a:pt x="192" y="810"/>
                    <a:pt x="176" y="787"/>
                  </a:cubicBezTo>
                  <a:cubicBezTo>
                    <a:pt x="160" y="763"/>
                    <a:pt x="146" y="736"/>
                    <a:pt x="133" y="706"/>
                  </a:cubicBezTo>
                  <a:cubicBezTo>
                    <a:pt x="121" y="676"/>
                    <a:pt x="110" y="643"/>
                    <a:pt x="103" y="608"/>
                  </a:cubicBezTo>
                  <a:cubicBezTo>
                    <a:pt x="95" y="572"/>
                    <a:pt x="91" y="535"/>
                    <a:pt x="90" y="496"/>
                  </a:cubicBezTo>
                  <a:cubicBezTo>
                    <a:pt x="89" y="458"/>
                    <a:pt x="91" y="420"/>
                    <a:pt x="96" y="385"/>
                  </a:cubicBezTo>
                  <a:cubicBezTo>
                    <a:pt x="101" y="350"/>
                    <a:pt x="109" y="316"/>
                    <a:pt x="120" y="286"/>
                  </a:cubicBezTo>
                  <a:cubicBezTo>
                    <a:pt x="130" y="256"/>
                    <a:pt x="143" y="229"/>
                    <a:pt x="158" y="205"/>
                  </a:cubicBezTo>
                  <a:cubicBezTo>
                    <a:pt x="172" y="181"/>
                    <a:pt x="188" y="161"/>
                    <a:pt x="205" y="143"/>
                  </a:cubicBezTo>
                  <a:cubicBezTo>
                    <a:pt x="221" y="127"/>
                    <a:pt x="239" y="113"/>
                    <a:pt x="257" y="103"/>
                  </a:cubicBezTo>
                  <a:cubicBezTo>
                    <a:pt x="275" y="93"/>
                    <a:pt x="293" y="86"/>
                    <a:pt x="312" y="83"/>
                  </a:cubicBezTo>
                  <a:cubicBezTo>
                    <a:pt x="330" y="79"/>
                    <a:pt x="348" y="79"/>
                    <a:pt x="366" y="81"/>
                  </a:cubicBezTo>
                  <a:cubicBezTo>
                    <a:pt x="384" y="83"/>
                    <a:pt x="402" y="88"/>
                    <a:pt x="419" y="96"/>
                  </a:cubicBezTo>
                  <a:cubicBezTo>
                    <a:pt x="436" y="103"/>
                    <a:pt x="452" y="113"/>
                    <a:pt x="466" y="124"/>
                  </a:cubicBezTo>
                  <a:cubicBezTo>
                    <a:pt x="481" y="135"/>
                    <a:pt x="494" y="148"/>
                    <a:pt x="506" y="162"/>
                  </a:cubicBezTo>
                  <a:cubicBezTo>
                    <a:pt x="518" y="175"/>
                    <a:pt x="530" y="190"/>
                    <a:pt x="540" y="206"/>
                  </a:cubicBezTo>
                  <a:cubicBezTo>
                    <a:pt x="550" y="222"/>
                    <a:pt x="559" y="238"/>
                    <a:pt x="568" y="255"/>
                  </a:cubicBezTo>
                  <a:cubicBezTo>
                    <a:pt x="576" y="272"/>
                    <a:pt x="583" y="290"/>
                    <a:pt x="589" y="309"/>
                  </a:cubicBezTo>
                  <a:cubicBezTo>
                    <a:pt x="596" y="327"/>
                    <a:pt x="601" y="346"/>
                    <a:pt x="606" y="365"/>
                  </a:cubicBezTo>
                  <a:cubicBezTo>
                    <a:pt x="610" y="384"/>
                    <a:pt x="614" y="404"/>
                    <a:pt x="617" y="424"/>
                  </a:cubicBezTo>
                  <a:cubicBezTo>
                    <a:pt x="620" y="444"/>
                    <a:pt x="621" y="465"/>
                    <a:pt x="622" y="486"/>
                  </a:cubicBezTo>
                  <a:cubicBezTo>
                    <a:pt x="623" y="508"/>
                    <a:pt x="623" y="528"/>
                    <a:pt x="622" y="549"/>
                  </a:cubicBezTo>
                  <a:close/>
                  <a:moveTo>
                    <a:pt x="482" y="454"/>
                  </a:moveTo>
                  <a:cubicBezTo>
                    <a:pt x="479" y="443"/>
                    <a:pt x="475" y="433"/>
                    <a:pt x="470" y="425"/>
                  </a:cubicBezTo>
                  <a:cubicBezTo>
                    <a:pt x="465" y="416"/>
                    <a:pt x="459" y="409"/>
                    <a:pt x="452" y="404"/>
                  </a:cubicBezTo>
                  <a:cubicBezTo>
                    <a:pt x="445" y="399"/>
                    <a:pt x="438" y="396"/>
                    <a:pt x="430" y="395"/>
                  </a:cubicBezTo>
                  <a:cubicBezTo>
                    <a:pt x="421" y="394"/>
                    <a:pt x="414" y="396"/>
                    <a:pt x="406" y="400"/>
                  </a:cubicBezTo>
                  <a:cubicBezTo>
                    <a:pt x="399" y="405"/>
                    <a:pt x="392" y="411"/>
                    <a:pt x="387" y="420"/>
                  </a:cubicBezTo>
                  <a:cubicBezTo>
                    <a:pt x="381" y="429"/>
                    <a:pt x="377" y="439"/>
                    <a:pt x="374" y="451"/>
                  </a:cubicBezTo>
                  <a:cubicBezTo>
                    <a:pt x="371" y="463"/>
                    <a:pt x="369" y="477"/>
                    <a:pt x="370" y="491"/>
                  </a:cubicBezTo>
                  <a:cubicBezTo>
                    <a:pt x="370" y="505"/>
                    <a:pt x="373" y="519"/>
                    <a:pt x="377" y="531"/>
                  </a:cubicBezTo>
                  <a:cubicBezTo>
                    <a:pt x="380" y="542"/>
                    <a:pt x="386" y="553"/>
                    <a:pt x="392" y="562"/>
                  </a:cubicBezTo>
                  <a:cubicBezTo>
                    <a:pt x="398" y="570"/>
                    <a:pt x="405" y="576"/>
                    <a:pt x="413" y="581"/>
                  </a:cubicBezTo>
                  <a:cubicBezTo>
                    <a:pt x="420" y="585"/>
                    <a:pt x="428" y="586"/>
                    <a:pt x="436" y="585"/>
                  </a:cubicBezTo>
                  <a:cubicBezTo>
                    <a:pt x="444" y="584"/>
                    <a:pt x="452" y="581"/>
                    <a:pt x="458" y="575"/>
                  </a:cubicBezTo>
                  <a:cubicBezTo>
                    <a:pt x="465" y="569"/>
                    <a:pt x="470" y="562"/>
                    <a:pt x="475" y="553"/>
                  </a:cubicBezTo>
                  <a:cubicBezTo>
                    <a:pt x="479" y="545"/>
                    <a:pt x="483" y="535"/>
                    <a:pt x="485" y="524"/>
                  </a:cubicBezTo>
                  <a:cubicBezTo>
                    <a:pt x="487" y="513"/>
                    <a:pt x="488" y="501"/>
                    <a:pt x="488" y="489"/>
                  </a:cubicBezTo>
                  <a:cubicBezTo>
                    <a:pt x="487" y="477"/>
                    <a:pt x="485" y="465"/>
                    <a:pt x="482" y="454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>
              <a:prstTxWarp prst="textNoShape"/>
            </a:bodyPr>
            <a:p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746" name="Freeform 7"/>
            <p:cNvSpPr>
              <a:spLocks noEditPoints="1"/>
            </p:cNvSpPr>
            <p:nvPr/>
          </p:nvSpPr>
          <p:spPr bwMode="auto">
            <a:xfrm>
              <a:off x="971" y="1492"/>
              <a:ext cx="1538" cy="2343"/>
            </a:xfrm>
            <a:custGeom>
              <a:avLst/>
              <a:gdLst>
                <a:gd name="T0" fmla="*/ 477 w 648"/>
                <a:gd name="T1" fmla="*/ 296 h 989"/>
                <a:gd name="T2" fmla="*/ 317 w 648"/>
                <a:gd name="T3" fmla="*/ 313 h 989"/>
                <a:gd name="T4" fmla="*/ 287 w 648"/>
                <a:gd name="T5" fmla="*/ 595 h 989"/>
                <a:gd name="T6" fmla="*/ 441 w 648"/>
                <a:gd name="T7" fmla="*/ 714 h 989"/>
                <a:gd name="T8" fmla="*/ 546 w 648"/>
                <a:gd name="T9" fmla="*/ 564 h 989"/>
                <a:gd name="T10" fmla="*/ 519 w 648"/>
                <a:gd name="T11" fmla="*/ 517 h 989"/>
                <a:gd name="T12" fmla="*/ 500 w 648"/>
                <a:gd name="T13" fmla="*/ 592 h 989"/>
                <a:gd name="T14" fmla="*/ 458 w 648"/>
                <a:gd name="T15" fmla="*/ 640 h 989"/>
                <a:gd name="T16" fmla="*/ 399 w 648"/>
                <a:gd name="T17" fmla="*/ 642 h 989"/>
                <a:gd name="T18" fmla="*/ 348 w 648"/>
                <a:gd name="T19" fmla="*/ 589 h 989"/>
                <a:gd name="T20" fmla="*/ 324 w 648"/>
                <a:gd name="T21" fmla="*/ 492 h 989"/>
                <a:gd name="T22" fmla="*/ 341 w 648"/>
                <a:gd name="T23" fmla="*/ 395 h 989"/>
                <a:gd name="T24" fmla="*/ 388 w 648"/>
                <a:gd name="T25" fmla="*/ 339 h 989"/>
                <a:gd name="T26" fmla="*/ 447 w 648"/>
                <a:gd name="T27" fmla="*/ 339 h 989"/>
                <a:gd name="T28" fmla="*/ 493 w 648"/>
                <a:gd name="T29" fmla="*/ 386 h 989"/>
                <a:gd name="T30" fmla="*/ 517 w 648"/>
                <a:gd name="T31" fmla="*/ 460 h 989"/>
                <a:gd name="T32" fmla="*/ 587 w 648"/>
                <a:gd name="T33" fmla="*/ 379 h 989"/>
                <a:gd name="T34" fmla="*/ 421 w 648"/>
                <a:gd name="T35" fmla="*/ 148 h 989"/>
                <a:gd name="T36" fmla="*/ 174 w 648"/>
                <a:gd name="T37" fmla="*/ 321 h 989"/>
                <a:gd name="T38" fmla="*/ 261 w 648"/>
                <a:gd name="T39" fmla="*/ 790 h 989"/>
                <a:gd name="T40" fmla="*/ 519 w 648"/>
                <a:gd name="T41" fmla="*/ 778 h 989"/>
                <a:gd name="T42" fmla="*/ 602 w 648"/>
                <a:gd name="T43" fmla="*/ 487 h 989"/>
                <a:gd name="T44" fmla="*/ 569 w 648"/>
                <a:gd name="T45" fmla="*/ 578 h 989"/>
                <a:gd name="T46" fmla="*/ 526 w 648"/>
                <a:gd name="T47" fmla="*/ 695 h 989"/>
                <a:gd name="T48" fmla="*/ 443 w 648"/>
                <a:gd name="T49" fmla="*/ 768 h 989"/>
                <a:gd name="T50" fmla="*/ 334 w 648"/>
                <a:gd name="T51" fmla="*/ 752 h 989"/>
                <a:gd name="T52" fmla="*/ 244 w 648"/>
                <a:gd name="T53" fmla="*/ 626 h 989"/>
                <a:gd name="T54" fmla="*/ 222 w 648"/>
                <a:gd name="T55" fmla="*/ 424 h 989"/>
                <a:gd name="T56" fmla="*/ 285 w 648"/>
                <a:gd name="T57" fmla="*/ 265 h 989"/>
                <a:gd name="T58" fmla="*/ 387 w 648"/>
                <a:gd name="T59" fmla="*/ 209 h 989"/>
                <a:gd name="T60" fmla="*/ 486 w 648"/>
                <a:gd name="T61" fmla="*/ 253 h 989"/>
                <a:gd name="T62" fmla="*/ 549 w 648"/>
                <a:gd name="T63" fmla="*/ 355 h 989"/>
                <a:gd name="T64" fmla="*/ 575 w 648"/>
                <a:gd name="T65" fmla="*/ 487 h 989"/>
                <a:gd name="T66" fmla="*/ 628 w 648"/>
                <a:gd name="T67" fmla="*/ 349 h 989"/>
                <a:gd name="T68" fmla="*/ 417 w 648"/>
                <a:gd name="T69" fmla="*/ 30 h 989"/>
                <a:gd name="T70" fmla="*/ 44 w 648"/>
                <a:gd name="T71" fmla="*/ 236 h 989"/>
                <a:gd name="T72" fmla="*/ 182 w 648"/>
                <a:gd name="T73" fmla="*/ 927 h 989"/>
                <a:gd name="T74" fmla="*/ 545 w 648"/>
                <a:gd name="T75" fmla="*/ 867 h 989"/>
                <a:gd name="T76" fmla="*/ 646 w 648"/>
                <a:gd name="T77" fmla="*/ 486 h 989"/>
                <a:gd name="T78" fmla="*/ 603 w 648"/>
                <a:gd name="T79" fmla="*/ 666 h 989"/>
                <a:gd name="T80" fmla="*/ 530 w 648"/>
                <a:gd name="T81" fmla="*/ 818 h 989"/>
                <a:gd name="T82" fmla="*/ 395 w 648"/>
                <a:gd name="T83" fmla="*/ 905 h 989"/>
                <a:gd name="T84" fmla="*/ 228 w 648"/>
                <a:gd name="T85" fmla="*/ 847 h 989"/>
                <a:gd name="T86" fmla="*/ 103 w 648"/>
                <a:gd name="T87" fmla="*/ 608 h 989"/>
                <a:gd name="T88" fmla="*/ 120 w 648"/>
                <a:gd name="T89" fmla="*/ 286 h 989"/>
                <a:gd name="T90" fmla="*/ 257 w 648"/>
                <a:gd name="T91" fmla="*/ 103 h 989"/>
                <a:gd name="T92" fmla="*/ 419 w 648"/>
                <a:gd name="T93" fmla="*/ 96 h 989"/>
                <a:gd name="T94" fmla="*/ 540 w 648"/>
                <a:gd name="T95" fmla="*/ 206 h 989"/>
                <a:gd name="T96" fmla="*/ 606 w 648"/>
                <a:gd name="T97" fmla="*/ 365 h 989"/>
                <a:gd name="T98" fmla="*/ 622 w 648"/>
                <a:gd name="T99" fmla="*/ 549 h 989"/>
                <a:gd name="T100" fmla="*/ 452 w 648"/>
                <a:gd name="T101" fmla="*/ 404 h 989"/>
                <a:gd name="T102" fmla="*/ 387 w 648"/>
                <a:gd name="T103" fmla="*/ 420 h 989"/>
                <a:gd name="T104" fmla="*/ 377 w 648"/>
                <a:gd name="T105" fmla="*/ 531 h 989"/>
                <a:gd name="T106" fmla="*/ 436 w 648"/>
                <a:gd name="T107" fmla="*/ 585 h 989"/>
                <a:gd name="T108" fmla="*/ 485 w 648"/>
                <a:gd name="T109" fmla="*/ 524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8" h="989">
                  <a:moveTo>
                    <a:pt x="541" y="412"/>
                  </a:moveTo>
                  <a:cubicBezTo>
                    <a:pt x="534" y="388"/>
                    <a:pt x="526" y="366"/>
                    <a:pt x="515" y="347"/>
                  </a:cubicBezTo>
                  <a:cubicBezTo>
                    <a:pt x="504" y="327"/>
                    <a:pt x="491" y="309"/>
                    <a:pt x="477" y="296"/>
                  </a:cubicBezTo>
                  <a:cubicBezTo>
                    <a:pt x="461" y="281"/>
                    <a:pt x="444" y="271"/>
                    <a:pt x="425" y="267"/>
                  </a:cubicBezTo>
                  <a:cubicBezTo>
                    <a:pt x="406" y="262"/>
                    <a:pt x="386" y="264"/>
                    <a:pt x="368" y="271"/>
                  </a:cubicBezTo>
                  <a:cubicBezTo>
                    <a:pt x="349" y="279"/>
                    <a:pt x="332" y="294"/>
                    <a:pt x="317" y="313"/>
                  </a:cubicBezTo>
                  <a:cubicBezTo>
                    <a:pt x="301" y="334"/>
                    <a:pt x="289" y="360"/>
                    <a:pt x="280" y="390"/>
                  </a:cubicBezTo>
                  <a:cubicBezTo>
                    <a:pt x="271" y="421"/>
                    <a:pt x="267" y="456"/>
                    <a:pt x="268" y="493"/>
                  </a:cubicBezTo>
                  <a:cubicBezTo>
                    <a:pt x="270" y="530"/>
                    <a:pt x="276" y="565"/>
                    <a:pt x="287" y="595"/>
                  </a:cubicBezTo>
                  <a:cubicBezTo>
                    <a:pt x="298" y="625"/>
                    <a:pt x="312" y="651"/>
                    <a:pt x="329" y="671"/>
                  </a:cubicBezTo>
                  <a:cubicBezTo>
                    <a:pt x="345" y="691"/>
                    <a:pt x="364" y="704"/>
                    <a:pt x="383" y="712"/>
                  </a:cubicBezTo>
                  <a:cubicBezTo>
                    <a:pt x="402" y="719"/>
                    <a:pt x="422" y="720"/>
                    <a:pt x="441" y="714"/>
                  </a:cubicBezTo>
                  <a:cubicBezTo>
                    <a:pt x="460" y="709"/>
                    <a:pt x="476" y="698"/>
                    <a:pt x="491" y="683"/>
                  </a:cubicBezTo>
                  <a:cubicBezTo>
                    <a:pt x="504" y="669"/>
                    <a:pt x="516" y="651"/>
                    <a:pt x="526" y="630"/>
                  </a:cubicBezTo>
                  <a:cubicBezTo>
                    <a:pt x="535" y="610"/>
                    <a:pt x="542" y="588"/>
                    <a:pt x="546" y="564"/>
                  </a:cubicBezTo>
                  <a:cubicBezTo>
                    <a:pt x="551" y="540"/>
                    <a:pt x="553" y="514"/>
                    <a:pt x="552" y="488"/>
                  </a:cubicBezTo>
                  <a:cubicBezTo>
                    <a:pt x="551" y="461"/>
                    <a:pt x="547" y="436"/>
                    <a:pt x="541" y="412"/>
                  </a:cubicBezTo>
                  <a:close/>
                  <a:moveTo>
                    <a:pt x="519" y="517"/>
                  </a:moveTo>
                  <a:cubicBezTo>
                    <a:pt x="519" y="526"/>
                    <a:pt x="517" y="535"/>
                    <a:pt x="516" y="544"/>
                  </a:cubicBezTo>
                  <a:cubicBezTo>
                    <a:pt x="514" y="552"/>
                    <a:pt x="512" y="561"/>
                    <a:pt x="509" y="569"/>
                  </a:cubicBezTo>
                  <a:cubicBezTo>
                    <a:pt x="507" y="577"/>
                    <a:pt x="504" y="584"/>
                    <a:pt x="500" y="592"/>
                  </a:cubicBezTo>
                  <a:cubicBezTo>
                    <a:pt x="497" y="599"/>
                    <a:pt x="493" y="605"/>
                    <a:pt x="488" y="612"/>
                  </a:cubicBezTo>
                  <a:cubicBezTo>
                    <a:pt x="484" y="618"/>
                    <a:pt x="479" y="623"/>
                    <a:pt x="474" y="628"/>
                  </a:cubicBezTo>
                  <a:cubicBezTo>
                    <a:pt x="469" y="633"/>
                    <a:pt x="463" y="637"/>
                    <a:pt x="458" y="640"/>
                  </a:cubicBezTo>
                  <a:cubicBezTo>
                    <a:pt x="452" y="644"/>
                    <a:pt x="445" y="646"/>
                    <a:pt x="439" y="647"/>
                  </a:cubicBezTo>
                  <a:cubicBezTo>
                    <a:pt x="432" y="649"/>
                    <a:pt x="425" y="649"/>
                    <a:pt x="419" y="648"/>
                  </a:cubicBezTo>
                  <a:cubicBezTo>
                    <a:pt x="412" y="647"/>
                    <a:pt x="405" y="645"/>
                    <a:pt x="399" y="642"/>
                  </a:cubicBezTo>
                  <a:cubicBezTo>
                    <a:pt x="392" y="639"/>
                    <a:pt x="386" y="635"/>
                    <a:pt x="380" y="630"/>
                  </a:cubicBezTo>
                  <a:cubicBezTo>
                    <a:pt x="374" y="625"/>
                    <a:pt x="368" y="619"/>
                    <a:pt x="363" y="612"/>
                  </a:cubicBezTo>
                  <a:cubicBezTo>
                    <a:pt x="357" y="605"/>
                    <a:pt x="352" y="597"/>
                    <a:pt x="348" y="589"/>
                  </a:cubicBezTo>
                  <a:cubicBezTo>
                    <a:pt x="343" y="580"/>
                    <a:pt x="339" y="570"/>
                    <a:pt x="336" y="560"/>
                  </a:cubicBezTo>
                  <a:cubicBezTo>
                    <a:pt x="332" y="550"/>
                    <a:pt x="329" y="539"/>
                    <a:pt x="327" y="528"/>
                  </a:cubicBezTo>
                  <a:cubicBezTo>
                    <a:pt x="325" y="516"/>
                    <a:pt x="324" y="504"/>
                    <a:pt x="324" y="492"/>
                  </a:cubicBezTo>
                  <a:cubicBezTo>
                    <a:pt x="323" y="480"/>
                    <a:pt x="324" y="468"/>
                    <a:pt x="325" y="456"/>
                  </a:cubicBezTo>
                  <a:cubicBezTo>
                    <a:pt x="326" y="445"/>
                    <a:pt x="328" y="434"/>
                    <a:pt x="331" y="423"/>
                  </a:cubicBezTo>
                  <a:cubicBezTo>
                    <a:pt x="334" y="413"/>
                    <a:pt x="337" y="403"/>
                    <a:pt x="341" y="395"/>
                  </a:cubicBezTo>
                  <a:cubicBezTo>
                    <a:pt x="345" y="386"/>
                    <a:pt x="349" y="378"/>
                    <a:pt x="354" y="371"/>
                  </a:cubicBezTo>
                  <a:cubicBezTo>
                    <a:pt x="359" y="363"/>
                    <a:pt x="365" y="357"/>
                    <a:pt x="370" y="352"/>
                  </a:cubicBezTo>
                  <a:cubicBezTo>
                    <a:pt x="376" y="347"/>
                    <a:pt x="382" y="343"/>
                    <a:pt x="388" y="339"/>
                  </a:cubicBezTo>
                  <a:cubicBezTo>
                    <a:pt x="395" y="336"/>
                    <a:pt x="401" y="334"/>
                    <a:pt x="408" y="333"/>
                  </a:cubicBezTo>
                  <a:cubicBezTo>
                    <a:pt x="414" y="332"/>
                    <a:pt x="421" y="332"/>
                    <a:pt x="428" y="333"/>
                  </a:cubicBezTo>
                  <a:cubicBezTo>
                    <a:pt x="434" y="334"/>
                    <a:pt x="441" y="336"/>
                    <a:pt x="447" y="339"/>
                  </a:cubicBezTo>
                  <a:cubicBezTo>
                    <a:pt x="453" y="342"/>
                    <a:pt x="459" y="346"/>
                    <a:pt x="464" y="351"/>
                  </a:cubicBezTo>
                  <a:cubicBezTo>
                    <a:pt x="470" y="355"/>
                    <a:pt x="475" y="361"/>
                    <a:pt x="479" y="367"/>
                  </a:cubicBezTo>
                  <a:cubicBezTo>
                    <a:pt x="484" y="373"/>
                    <a:pt x="489" y="379"/>
                    <a:pt x="493" y="386"/>
                  </a:cubicBezTo>
                  <a:cubicBezTo>
                    <a:pt x="497" y="393"/>
                    <a:pt x="500" y="401"/>
                    <a:pt x="503" y="408"/>
                  </a:cubicBezTo>
                  <a:cubicBezTo>
                    <a:pt x="507" y="416"/>
                    <a:pt x="509" y="425"/>
                    <a:pt x="512" y="433"/>
                  </a:cubicBezTo>
                  <a:cubicBezTo>
                    <a:pt x="514" y="442"/>
                    <a:pt x="516" y="451"/>
                    <a:pt x="517" y="460"/>
                  </a:cubicBezTo>
                  <a:cubicBezTo>
                    <a:pt x="519" y="469"/>
                    <a:pt x="520" y="479"/>
                    <a:pt x="520" y="488"/>
                  </a:cubicBezTo>
                  <a:cubicBezTo>
                    <a:pt x="520" y="498"/>
                    <a:pt x="520" y="508"/>
                    <a:pt x="519" y="517"/>
                  </a:cubicBezTo>
                  <a:close/>
                  <a:moveTo>
                    <a:pt x="587" y="379"/>
                  </a:moveTo>
                  <a:cubicBezTo>
                    <a:pt x="579" y="344"/>
                    <a:pt x="567" y="311"/>
                    <a:pt x="553" y="282"/>
                  </a:cubicBezTo>
                  <a:cubicBezTo>
                    <a:pt x="537" y="251"/>
                    <a:pt x="519" y="224"/>
                    <a:pt x="498" y="201"/>
                  </a:cubicBezTo>
                  <a:cubicBezTo>
                    <a:pt x="475" y="177"/>
                    <a:pt x="449" y="159"/>
                    <a:pt x="421" y="148"/>
                  </a:cubicBezTo>
                  <a:cubicBezTo>
                    <a:pt x="390" y="136"/>
                    <a:pt x="359" y="134"/>
                    <a:pt x="330" y="142"/>
                  </a:cubicBezTo>
                  <a:cubicBezTo>
                    <a:pt x="298" y="151"/>
                    <a:pt x="268" y="170"/>
                    <a:pt x="241" y="199"/>
                  </a:cubicBezTo>
                  <a:cubicBezTo>
                    <a:pt x="213" y="230"/>
                    <a:pt x="190" y="271"/>
                    <a:pt x="174" y="321"/>
                  </a:cubicBezTo>
                  <a:cubicBezTo>
                    <a:pt x="157" y="372"/>
                    <a:pt x="148" y="432"/>
                    <a:pt x="150" y="495"/>
                  </a:cubicBezTo>
                  <a:cubicBezTo>
                    <a:pt x="152" y="558"/>
                    <a:pt x="165" y="618"/>
                    <a:pt x="185" y="669"/>
                  </a:cubicBezTo>
                  <a:cubicBezTo>
                    <a:pt x="204" y="719"/>
                    <a:pt x="231" y="760"/>
                    <a:pt x="261" y="790"/>
                  </a:cubicBezTo>
                  <a:cubicBezTo>
                    <a:pt x="290" y="818"/>
                    <a:pt x="321" y="837"/>
                    <a:pt x="354" y="844"/>
                  </a:cubicBezTo>
                  <a:cubicBezTo>
                    <a:pt x="384" y="851"/>
                    <a:pt x="415" y="848"/>
                    <a:pt x="445" y="835"/>
                  </a:cubicBezTo>
                  <a:cubicBezTo>
                    <a:pt x="473" y="823"/>
                    <a:pt x="498" y="803"/>
                    <a:pt x="519" y="778"/>
                  </a:cubicBezTo>
                  <a:cubicBezTo>
                    <a:pt x="538" y="754"/>
                    <a:pt x="555" y="726"/>
                    <a:pt x="568" y="694"/>
                  </a:cubicBezTo>
                  <a:cubicBezTo>
                    <a:pt x="580" y="664"/>
                    <a:pt x="590" y="631"/>
                    <a:pt x="596" y="596"/>
                  </a:cubicBezTo>
                  <a:cubicBezTo>
                    <a:pt x="601" y="561"/>
                    <a:pt x="604" y="525"/>
                    <a:pt x="602" y="487"/>
                  </a:cubicBezTo>
                  <a:cubicBezTo>
                    <a:pt x="601" y="449"/>
                    <a:pt x="596" y="412"/>
                    <a:pt x="587" y="379"/>
                  </a:cubicBezTo>
                  <a:close/>
                  <a:moveTo>
                    <a:pt x="574" y="534"/>
                  </a:moveTo>
                  <a:cubicBezTo>
                    <a:pt x="573" y="549"/>
                    <a:pt x="571" y="564"/>
                    <a:pt x="569" y="578"/>
                  </a:cubicBezTo>
                  <a:cubicBezTo>
                    <a:pt x="566" y="593"/>
                    <a:pt x="563" y="607"/>
                    <a:pt x="559" y="620"/>
                  </a:cubicBezTo>
                  <a:cubicBezTo>
                    <a:pt x="555" y="634"/>
                    <a:pt x="550" y="647"/>
                    <a:pt x="545" y="660"/>
                  </a:cubicBezTo>
                  <a:cubicBezTo>
                    <a:pt x="539" y="672"/>
                    <a:pt x="533" y="684"/>
                    <a:pt x="526" y="695"/>
                  </a:cubicBezTo>
                  <a:cubicBezTo>
                    <a:pt x="519" y="706"/>
                    <a:pt x="512" y="717"/>
                    <a:pt x="503" y="726"/>
                  </a:cubicBezTo>
                  <a:cubicBezTo>
                    <a:pt x="495" y="736"/>
                    <a:pt x="485" y="744"/>
                    <a:pt x="476" y="751"/>
                  </a:cubicBezTo>
                  <a:cubicBezTo>
                    <a:pt x="465" y="758"/>
                    <a:pt x="454" y="764"/>
                    <a:pt x="443" y="768"/>
                  </a:cubicBezTo>
                  <a:cubicBezTo>
                    <a:pt x="431" y="772"/>
                    <a:pt x="419" y="774"/>
                    <a:pt x="407" y="774"/>
                  </a:cubicBezTo>
                  <a:cubicBezTo>
                    <a:pt x="395" y="775"/>
                    <a:pt x="383" y="773"/>
                    <a:pt x="371" y="769"/>
                  </a:cubicBezTo>
                  <a:cubicBezTo>
                    <a:pt x="358" y="765"/>
                    <a:pt x="346" y="759"/>
                    <a:pt x="334" y="752"/>
                  </a:cubicBezTo>
                  <a:cubicBezTo>
                    <a:pt x="322" y="744"/>
                    <a:pt x="311" y="734"/>
                    <a:pt x="300" y="722"/>
                  </a:cubicBezTo>
                  <a:cubicBezTo>
                    <a:pt x="289" y="709"/>
                    <a:pt x="279" y="695"/>
                    <a:pt x="269" y="679"/>
                  </a:cubicBezTo>
                  <a:cubicBezTo>
                    <a:pt x="260" y="663"/>
                    <a:pt x="251" y="645"/>
                    <a:pt x="244" y="626"/>
                  </a:cubicBezTo>
                  <a:cubicBezTo>
                    <a:pt x="237" y="607"/>
                    <a:pt x="231" y="586"/>
                    <a:pt x="227" y="563"/>
                  </a:cubicBezTo>
                  <a:cubicBezTo>
                    <a:pt x="223" y="541"/>
                    <a:pt x="220" y="518"/>
                    <a:pt x="219" y="494"/>
                  </a:cubicBezTo>
                  <a:cubicBezTo>
                    <a:pt x="218" y="470"/>
                    <a:pt x="219" y="446"/>
                    <a:pt x="222" y="424"/>
                  </a:cubicBezTo>
                  <a:cubicBezTo>
                    <a:pt x="225" y="402"/>
                    <a:pt x="230" y="381"/>
                    <a:pt x="235" y="361"/>
                  </a:cubicBezTo>
                  <a:cubicBezTo>
                    <a:pt x="241" y="342"/>
                    <a:pt x="248" y="324"/>
                    <a:pt x="257" y="307"/>
                  </a:cubicBezTo>
                  <a:cubicBezTo>
                    <a:pt x="265" y="291"/>
                    <a:pt x="274" y="277"/>
                    <a:pt x="285" y="265"/>
                  </a:cubicBezTo>
                  <a:cubicBezTo>
                    <a:pt x="295" y="252"/>
                    <a:pt x="305" y="242"/>
                    <a:pt x="317" y="234"/>
                  </a:cubicBezTo>
                  <a:cubicBezTo>
                    <a:pt x="328" y="226"/>
                    <a:pt x="339" y="219"/>
                    <a:pt x="351" y="215"/>
                  </a:cubicBezTo>
                  <a:cubicBezTo>
                    <a:pt x="363" y="211"/>
                    <a:pt x="375" y="209"/>
                    <a:pt x="387" y="209"/>
                  </a:cubicBezTo>
                  <a:cubicBezTo>
                    <a:pt x="399" y="208"/>
                    <a:pt x="411" y="210"/>
                    <a:pt x="423" y="214"/>
                  </a:cubicBezTo>
                  <a:cubicBezTo>
                    <a:pt x="435" y="217"/>
                    <a:pt x="446" y="223"/>
                    <a:pt x="457" y="229"/>
                  </a:cubicBezTo>
                  <a:cubicBezTo>
                    <a:pt x="467" y="236"/>
                    <a:pt x="477" y="244"/>
                    <a:pt x="486" y="253"/>
                  </a:cubicBezTo>
                  <a:cubicBezTo>
                    <a:pt x="495" y="262"/>
                    <a:pt x="503" y="272"/>
                    <a:pt x="511" y="282"/>
                  </a:cubicBezTo>
                  <a:cubicBezTo>
                    <a:pt x="519" y="293"/>
                    <a:pt x="526" y="305"/>
                    <a:pt x="532" y="317"/>
                  </a:cubicBezTo>
                  <a:cubicBezTo>
                    <a:pt x="539" y="329"/>
                    <a:pt x="544" y="342"/>
                    <a:pt x="549" y="355"/>
                  </a:cubicBezTo>
                  <a:cubicBezTo>
                    <a:pt x="554" y="369"/>
                    <a:pt x="559" y="382"/>
                    <a:pt x="562" y="397"/>
                  </a:cubicBezTo>
                  <a:cubicBezTo>
                    <a:pt x="566" y="411"/>
                    <a:pt x="569" y="426"/>
                    <a:pt x="571" y="441"/>
                  </a:cubicBezTo>
                  <a:cubicBezTo>
                    <a:pt x="573" y="456"/>
                    <a:pt x="574" y="471"/>
                    <a:pt x="575" y="487"/>
                  </a:cubicBezTo>
                  <a:cubicBezTo>
                    <a:pt x="576" y="503"/>
                    <a:pt x="575" y="519"/>
                    <a:pt x="574" y="534"/>
                  </a:cubicBezTo>
                  <a:close/>
                  <a:moveTo>
                    <a:pt x="646" y="486"/>
                  </a:moveTo>
                  <a:cubicBezTo>
                    <a:pt x="644" y="438"/>
                    <a:pt x="638" y="392"/>
                    <a:pt x="628" y="349"/>
                  </a:cubicBezTo>
                  <a:cubicBezTo>
                    <a:pt x="618" y="305"/>
                    <a:pt x="604" y="263"/>
                    <a:pt x="586" y="224"/>
                  </a:cubicBezTo>
                  <a:cubicBezTo>
                    <a:pt x="567" y="183"/>
                    <a:pt x="544" y="145"/>
                    <a:pt x="517" y="113"/>
                  </a:cubicBezTo>
                  <a:cubicBezTo>
                    <a:pt x="489" y="79"/>
                    <a:pt x="455" y="50"/>
                    <a:pt x="417" y="30"/>
                  </a:cubicBezTo>
                  <a:cubicBezTo>
                    <a:pt x="375" y="8"/>
                    <a:pt x="332" y="0"/>
                    <a:pt x="289" y="4"/>
                  </a:cubicBezTo>
                  <a:cubicBezTo>
                    <a:pt x="242" y="9"/>
                    <a:pt x="196" y="30"/>
                    <a:pt x="155" y="67"/>
                  </a:cubicBezTo>
                  <a:cubicBezTo>
                    <a:pt x="110" y="107"/>
                    <a:pt x="71" y="164"/>
                    <a:pt x="44" y="236"/>
                  </a:cubicBezTo>
                  <a:cubicBezTo>
                    <a:pt x="15" y="312"/>
                    <a:pt x="0" y="401"/>
                    <a:pt x="3" y="498"/>
                  </a:cubicBezTo>
                  <a:cubicBezTo>
                    <a:pt x="6" y="594"/>
                    <a:pt x="26" y="684"/>
                    <a:pt x="60" y="759"/>
                  </a:cubicBezTo>
                  <a:cubicBezTo>
                    <a:pt x="92" y="831"/>
                    <a:pt x="134" y="888"/>
                    <a:pt x="182" y="927"/>
                  </a:cubicBezTo>
                  <a:cubicBezTo>
                    <a:pt x="226" y="963"/>
                    <a:pt x="274" y="983"/>
                    <a:pt x="322" y="986"/>
                  </a:cubicBezTo>
                  <a:cubicBezTo>
                    <a:pt x="366" y="989"/>
                    <a:pt x="409" y="979"/>
                    <a:pt x="450" y="955"/>
                  </a:cubicBezTo>
                  <a:cubicBezTo>
                    <a:pt x="487" y="934"/>
                    <a:pt x="519" y="903"/>
                    <a:pt x="545" y="867"/>
                  </a:cubicBezTo>
                  <a:cubicBezTo>
                    <a:pt x="570" y="833"/>
                    <a:pt x="590" y="794"/>
                    <a:pt x="606" y="752"/>
                  </a:cubicBezTo>
                  <a:cubicBezTo>
                    <a:pt x="621" y="712"/>
                    <a:pt x="632" y="669"/>
                    <a:pt x="639" y="624"/>
                  </a:cubicBezTo>
                  <a:cubicBezTo>
                    <a:pt x="645" y="580"/>
                    <a:pt x="648" y="534"/>
                    <a:pt x="646" y="486"/>
                  </a:cubicBezTo>
                  <a:close/>
                  <a:moveTo>
                    <a:pt x="622" y="549"/>
                  </a:moveTo>
                  <a:cubicBezTo>
                    <a:pt x="620" y="569"/>
                    <a:pt x="618" y="589"/>
                    <a:pt x="615" y="609"/>
                  </a:cubicBezTo>
                  <a:cubicBezTo>
                    <a:pt x="612" y="628"/>
                    <a:pt x="608" y="647"/>
                    <a:pt x="603" y="666"/>
                  </a:cubicBezTo>
                  <a:cubicBezTo>
                    <a:pt x="598" y="685"/>
                    <a:pt x="592" y="703"/>
                    <a:pt x="585" y="720"/>
                  </a:cubicBezTo>
                  <a:cubicBezTo>
                    <a:pt x="578" y="738"/>
                    <a:pt x="570" y="755"/>
                    <a:pt x="561" y="771"/>
                  </a:cubicBezTo>
                  <a:cubicBezTo>
                    <a:pt x="552" y="788"/>
                    <a:pt x="542" y="803"/>
                    <a:pt x="530" y="818"/>
                  </a:cubicBezTo>
                  <a:cubicBezTo>
                    <a:pt x="519" y="832"/>
                    <a:pt x="506" y="846"/>
                    <a:pt x="493" y="857"/>
                  </a:cubicBezTo>
                  <a:cubicBezTo>
                    <a:pt x="479" y="869"/>
                    <a:pt x="464" y="880"/>
                    <a:pt x="447" y="888"/>
                  </a:cubicBezTo>
                  <a:cubicBezTo>
                    <a:pt x="430" y="896"/>
                    <a:pt x="413" y="902"/>
                    <a:pt x="395" y="905"/>
                  </a:cubicBezTo>
                  <a:cubicBezTo>
                    <a:pt x="377" y="908"/>
                    <a:pt x="359" y="908"/>
                    <a:pt x="340" y="905"/>
                  </a:cubicBezTo>
                  <a:cubicBezTo>
                    <a:pt x="321" y="902"/>
                    <a:pt x="302" y="896"/>
                    <a:pt x="284" y="886"/>
                  </a:cubicBezTo>
                  <a:cubicBezTo>
                    <a:pt x="264" y="877"/>
                    <a:pt x="246" y="864"/>
                    <a:pt x="228" y="847"/>
                  </a:cubicBezTo>
                  <a:cubicBezTo>
                    <a:pt x="209" y="831"/>
                    <a:pt x="192" y="810"/>
                    <a:pt x="176" y="787"/>
                  </a:cubicBezTo>
                  <a:cubicBezTo>
                    <a:pt x="160" y="763"/>
                    <a:pt x="146" y="736"/>
                    <a:pt x="133" y="706"/>
                  </a:cubicBezTo>
                  <a:cubicBezTo>
                    <a:pt x="121" y="676"/>
                    <a:pt x="110" y="643"/>
                    <a:pt x="103" y="608"/>
                  </a:cubicBezTo>
                  <a:cubicBezTo>
                    <a:pt x="96" y="572"/>
                    <a:pt x="91" y="535"/>
                    <a:pt x="90" y="496"/>
                  </a:cubicBezTo>
                  <a:cubicBezTo>
                    <a:pt x="89" y="458"/>
                    <a:pt x="91" y="420"/>
                    <a:pt x="96" y="385"/>
                  </a:cubicBezTo>
                  <a:cubicBezTo>
                    <a:pt x="101" y="350"/>
                    <a:pt x="109" y="316"/>
                    <a:pt x="120" y="286"/>
                  </a:cubicBezTo>
                  <a:cubicBezTo>
                    <a:pt x="130" y="256"/>
                    <a:pt x="143" y="229"/>
                    <a:pt x="158" y="205"/>
                  </a:cubicBezTo>
                  <a:cubicBezTo>
                    <a:pt x="172" y="181"/>
                    <a:pt x="188" y="161"/>
                    <a:pt x="205" y="143"/>
                  </a:cubicBezTo>
                  <a:cubicBezTo>
                    <a:pt x="221" y="127"/>
                    <a:pt x="239" y="113"/>
                    <a:pt x="257" y="103"/>
                  </a:cubicBezTo>
                  <a:cubicBezTo>
                    <a:pt x="275" y="93"/>
                    <a:pt x="293" y="86"/>
                    <a:pt x="312" y="83"/>
                  </a:cubicBezTo>
                  <a:cubicBezTo>
                    <a:pt x="330" y="79"/>
                    <a:pt x="348" y="79"/>
                    <a:pt x="367" y="81"/>
                  </a:cubicBezTo>
                  <a:cubicBezTo>
                    <a:pt x="384" y="83"/>
                    <a:pt x="402" y="88"/>
                    <a:pt x="419" y="96"/>
                  </a:cubicBezTo>
                  <a:cubicBezTo>
                    <a:pt x="436" y="103"/>
                    <a:pt x="452" y="113"/>
                    <a:pt x="466" y="124"/>
                  </a:cubicBezTo>
                  <a:cubicBezTo>
                    <a:pt x="481" y="135"/>
                    <a:pt x="494" y="148"/>
                    <a:pt x="506" y="162"/>
                  </a:cubicBezTo>
                  <a:cubicBezTo>
                    <a:pt x="519" y="175"/>
                    <a:pt x="530" y="190"/>
                    <a:pt x="540" y="206"/>
                  </a:cubicBezTo>
                  <a:cubicBezTo>
                    <a:pt x="550" y="222"/>
                    <a:pt x="559" y="238"/>
                    <a:pt x="568" y="255"/>
                  </a:cubicBezTo>
                  <a:cubicBezTo>
                    <a:pt x="576" y="272"/>
                    <a:pt x="583" y="290"/>
                    <a:pt x="590" y="309"/>
                  </a:cubicBezTo>
                  <a:cubicBezTo>
                    <a:pt x="596" y="327"/>
                    <a:pt x="601" y="346"/>
                    <a:pt x="606" y="365"/>
                  </a:cubicBezTo>
                  <a:cubicBezTo>
                    <a:pt x="611" y="384"/>
                    <a:pt x="614" y="404"/>
                    <a:pt x="617" y="424"/>
                  </a:cubicBezTo>
                  <a:cubicBezTo>
                    <a:pt x="620" y="444"/>
                    <a:pt x="621" y="465"/>
                    <a:pt x="622" y="486"/>
                  </a:cubicBezTo>
                  <a:cubicBezTo>
                    <a:pt x="623" y="508"/>
                    <a:pt x="623" y="528"/>
                    <a:pt x="622" y="549"/>
                  </a:cubicBezTo>
                  <a:close/>
                  <a:moveTo>
                    <a:pt x="483" y="454"/>
                  </a:moveTo>
                  <a:cubicBezTo>
                    <a:pt x="480" y="443"/>
                    <a:pt x="475" y="433"/>
                    <a:pt x="470" y="425"/>
                  </a:cubicBezTo>
                  <a:cubicBezTo>
                    <a:pt x="465" y="416"/>
                    <a:pt x="459" y="409"/>
                    <a:pt x="452" y="404"/>
                  </a:cubicBezTo>
                  <a:cubicBezTo>
                    <a:pt x="445" y="399"/>
                    <a:pt x="438" y="396"/>
                    <a:pt x="430" y="395"/>
                  </a:cubicBezTo>
                  <a:cubicBezTo>
                    <a:pt x="422" y="394"/>
                    <a:pt x="414" y="396"/>
                    <a:pt x="406" y="400"/>
                  </a:cubicBezTo>
                  <a:cubicBezTo>
                    <a:pt x="399" y="405"/>
                    <a:pt x="393" y="411"/>
                    <a:pt x="387" y="420"/>
                  </a:cubicBezTo>
                  <a:cubicBezTo>
                    <a:pt x="381" y="429"/>
                    <a:pt x="377" y="439"/>
                    <a:pt x="374" y="451"/>
                  </a:cubicBezTo>
                  <a:cubicBezTo>
                    <a:pt x="371" y="463"/>
                    <a:pt x="370" y="477"/>
                    <a:pt x="370" y="491"/>
                  </a:cubicBezTo>
                  <a:cubicBezTo>
                    <a:pt x="371" y="505"/>
                    <a:pt x="373" y="519"/>
                    <a:pt x="377" y="531"/>
                  </a:cubicBezTo>
                  <a:cubicBezTo>
                    <a:pt x="380" y="542"/>
                    <a:pt x="386" y="553"/>
                    <a:pt x="392" y="562"/>
                  </a:cubicBezTo>
                  <a:cubicBezTo>
                    <a:pt x="398" y="570"/>
                    <a:pt x="405" y="576"/>
                    <a:pt x="413" y="581"/>
                  </a:cubicBezTo>
                  <a:cubicBezTo>
                    <a:pt x="420" y="585"/>
                    <a:pt x="428" y="586"/>
                    <a:pt x="436" y="585"/>
                  </a:cubicBezTo>
                  <a:cubicBezTo>
                    <a:pt x="444" y="584"/>
                    <a:pt x="452" y="581"/>
                    <a:pt x="458" y="575"/>
                  </a:cubicBezTo>
                  <a:cubicBezTo>
                    <a:pt x="465" y="569"/>
                    <a:pt x="470" y="562"/>
                    <a:pt x="475" y="553"/>
                  </a:cubicBezTo>
                  <a:cubicBezTo>
                    <a:pt x="479" y="545"/>
                    <a:pt x="483" y="535"/>
                    <a:pt x="485" y="524"/>
                  </a:cubicBezTo>
                  <a:cubicBezTo>
                    <a:pt x="487" y="513"/>
                    <a:pt x="488" y="501"/>
                    <a:pt x="488" y="489"/>
                  </a:cubicBezTo>
                  <a:cubicBezTo>
                    <a:pt x="487" y="477"/>
                    <a:pt x="486" y="465"/>
                    <a:pt x="483" y="454"/>
                  </a:cubicBezTo>
                  <a:close/>
                </a:path>
              </a:pathLst>
            </a:custGeom>
            <a:solidFill>
              <a:srgbClr val="344F66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>
              <a:prstTxWarp prst="textNoShape"/>
            </a:bodyPr>
            <a:p>
              <a:endParaRPr altLang="en-US" dirty="0" lang="zh-CN">
                <a:cs typeface="+mn-ea"/>
                <a:sym typeface="+mn-lt"/>
              </a:endParaRPr>
            </a:p>
          </p:txBody>
        </p:sp>
      </p:grpSp>
      <p:grpSp>
        <p:nvGrpSpPr>
          <p:cNvPr id="86" name="组合 5"/>
          <p:cNvGrpSpPr/>
          <p:nvPr/>
        </p:nvGrpSpPr>
        <p:grpSpPr>
          <a:xfrm>
            <a:off x="2446356" y="2968958"/>
            <a:ext cx="8240730" cy="2448646"/>
            <a:chOff x="3659187" y="2476502"/>
            <a:chExt cx="6411128" cy="1904999"/>
          </a:xfrm>
        </p:grpSpPr>
        <p:sp>
          <p:nvSpPr>
            <p:cNvPr id="1048747" name="任意多边形 17"/>
            <p:cNvSpPr/>
            <p:nvPr/>
          </p:nvSpPr>
          <p:spPr>
            <a:xfrm rot="10800000">
              <a:off x="8757339" y="2578317"/>
              <a:ext cx="1312976" cy="1701363"/>
            </a:xfrm>
            <a:custGeom>
              <a:avLst/>
              <a:gdLst>
                <a:gd name="connsiteX0" fmla="*/ 653834 w 1312976"/>
                <a:gd name="connsiteY0" fmla="*/ 1701363 h 1701363"/>
                <a:gd name="connsiteX1" fmla="*/ 0 w 1312976"/>
                <a:gd name="connsiteY1" fmla="*/ 1701363 h 1701363"/>
                <a:gd name="connsiteX2" fmla="*/ 261230 w 1312976"/>
                <a:gd name="connsiteY2" fmla="*/ 1361485 h 1701363"/>
                <a:gd name="connsiteX3" fmla="*/ 209105 w 1312976"/>
                <a:gd name="connsiteY3" fmla="*/ 1361485 h 1701363"/>
                <a:gd name="connsiteX4" fmla="*/ 209105 w 1312976"/>
                <a:gd name="connsiteY4" fmla="*/ 339879 h 1701363"/>
                <a:gd name="connsiteX5" fmla="*/ 261231 w 1312976"/>
                <a:gd name="connsiteY5" fmla="*/ 339879 h 1701363"/>
                <a:gd name="connsiteX6" fmla="*/ 0 w 1312976"/>
                <a:gd name="connsiteY6" fmla="*/ 0 h 1701363"/>
                <a:gd name="connsiteX7" fmla="*/ 653834 w 1312976"/>
                <a:gd name="connsiteY7" fmla="*/ 0 h 1701363"/>
                <a:gd name="connsiteX8" fmla="*/ 915065 w 1312976"/>
                <a:gd name="connsiteY8" fmla="*/ 339879 h 1701363"/>
                <a:gd name="connsiteX9" fmla="*/ 1312976 w 1312976"/>
                <a:gd name="connsiteY9" fmla="*/ 339879 h 1701363"/>
                <a:gd name="connsiteX10" fmla="*/ 1312976 w 1312976"/>
                <a:gd name="connsiteY10" fmla="*/ 1361485 h 1701363"/>
                <a:gd name="connsiteX11" fmla="*/ 915064 w 1312976"/>
                <a:gd name="connsiteY11" fmla="*/ 1361485 h 170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12976" h="1701363">
                  <a:moveTo>
                    <a:pt x="653834" y="1701363"/>
                  </a:moveTo>
                  <a:lnTo>
                    <a:pt x="0" y="1701363"/>
                  </a:lnTo>
                  <a:lnTo>
                    <a:pt x="261230" y="1361485"/>
                  </a:lnTo>
                  <a:lnTo>
                    <a:pt x="209105" y="1361485"/>
                  </a:lnTo>
                  <a:lnTo>
                    <a:pt x="209105" y="339879"/>
                  </a:lnTo>
                  <a:lnTo>
                    <a:pt x="261231" y="339879"/>
                  </a:lnTo>
                  <a:lnTo>
                    <a:pt x="0" y="0"/>
                  </a:lnTo>
                  <a:lnTo>
                    <a:pt x="653834" y="0"/>
                  </a:lnTo>
                  <a:lnTo>
                    <a:pt x="915065" y="339879"/>
                  </a:lnTo>
                  <a:lnTo>
                    <a:pt x="1312976" y="339879"/>
                  </a:lnTo>
                  <a:lnTo>
                    <a:pt x="1312976" y="1361485"/>
                  </a:lnTo>
                  <a:lnTo>
                    <a:pt x="915064" y="1361485"/>
                  </a:lnTo>
                  <a:close/>
                </a:path>
              </a:pathLst>
            </a:custGeom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square">
              <a:noAutofit/>
            </a:bodyPr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altLang="en-US" lang="zh-CN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048748" name="任意多边形 15"/>
            <p:cNvSpPr/>
            <p:nvPr/>
          </p:nvSpPr>
          <p:spPr>
            <a:xfrm rot="5400000">
              <a:off x="7751852" y="2819046"/>
              <a:ext cx="1021607" cy="1219907"/>
            </a:xfrm>
            <a:custGeom>
              <a:avLst/>
              <a:gdLst>
                <a:gd name="connsiteX0" fmla="*/ 0 w 1021607"/>
                <a:gd name="connsiteY0" fmla="*/ 1219907 h 1219907"/>
                <a:gd name="connsiteX1" fmla="*/ 0 w 1021607"/>
                <a:gd name="connsiteY1" fmla="*/ 116036 h 1219907"/>
                <a:gd name="connsiteX2" fmla="*/ 381631 w 1021607"/>
                <a:gd name="connsiteY2" fmla="*/ 116036 h 1219907"/>
                <a:gd name="connsiteX3" fmla="*/ 510804 w 1021607"/>
                <a:gd name="connsiteY3" fmla="*/ 0 h 1219907"/>
                <a:gd name="connsiteX4" fmla="*/ 639977 w 1021607"/>
                <a:gd name="connsiteY4" fmla="*/ 116036 h 1219907"/>
                <a:gd name="connsiteX5" fmla="*/ 1021607 w 1021607"/>
                <a:gd name="connsiteY5" fmla="*/ 116036 h 1219907"/>
                <a:gd name="connsiteX6" fmla="*/ 1021607 w 1021607"/>
                <a:gd name="connsiteY6" fmla="*/ 1219907 h 1219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1607" h="1219907">
                  <a:moveTo>
                    <a:pt x="0" y="1219907"/>
                  </a:moveTo>
                  <a:lnTo>
                    <a:pt x="0" y="116036"/>
                  </a:lnTo>
                  <a:lnTo>
                    <a:pt x="381631" y="116036"/>
                  </a:lnTo>
                  <a:lnTo>
                    <a:pt x="510804" y="0"/>
                  </a:lnTo>
                  <a:lnTo>
                    <a:pt x="639977" y="116036"/>
                  </a:lnTo>
                  <a:lnTo>
                    <a:pt x="1021607" y="116036"/>
                  </a:lnTo>
                  <a:lnTo>
                    <a:pt x="1021607" y="1219907"/>
                  </a:lnTo>
                  <a:close/>
                </a:path>
              </a:pathLst>
            </a:custGeom>
            <a:solidFill>
              <a:srgbClr val="CF3B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749" name="任意多边形 14"/>
            <p:cNvSpPr/>
            <p:nvPr/>
          </p:nvSpPr>
          <p:spPr>
            <a:xfrm rot="5400000">
              <a:off x="6671246" y="2819047"/>
              <a:ext cx="1021607" cy="1219907"/>
            </a:xfrm>
            <a:custGeom>
              <a:avLst/>
              <a:gdLst>
                <a:gd name="connsiteX0" fmla="*/ 0 w 1021607"/>
                <a:gd name="connsiteY0" fmla="*/ 1219907 h 1219907"/>
                <a:gd name="connsiteX1" fmla="*/ 0 w 1021607"/>
                <a:gd name="connsiteY1" fmla="*/ 116036 h 1219907"/>
                <a:gd name="connsiteX2" fmla="*/ 381631 w 1021607"/>
                <a:gd name="connsiteY2" fmla="*/ 116036 h 1219907"/>
                <a:gd name="connsiteX3" fmla="*/ 510804 w 1021607"/>
                <a:gd name="connsiteY3" fmla="*/ 0 h 1219907"/>
                <a:gd name="connsiteX4" fmla="*/ 639977 w 1021607"/>
                <a:gd name="connsiteY4" fmla="*/ 116036 h 1219907"/>
                <a:gd name="connsiteX5" fmla="*/ 1021607 w 1021607"/>
                <a:gd name="connsiteY5" fmla="*/ 116036 h 1219907"/>
                <a:gd name="connsiteX6" fmla="*/ 1021607 w 1021607"/>
                <a:gd name="connsiteY6" fmla="*/ 1219907 h 1219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1607" h="1219907">
                  <a:moveTo>
                    <a:pt x="0" y="1219907"/>
                  </a:moveTo>
                  <a:lnTo>
                    <a:pt x="0" y="116036"/>
                  </a:lnTo>
                  <a:lnTo>
                    <a:pt x="381631" y="116036"/>
                  </a:lnTo>
                  <a:lnTo>
                    <a:pt x="510804" y="0"/>
                  </a:lnTo>
                  <a:lnTo>
                    <a:pt x="639977" y="116036"/>
                  </a:lnTo>
                  <a:lnTo>
                    <a:pt x="1021607" y="116036"/>
                  </a:lnTo>
                  <a:lnTo>
                    <a:pt x="1021607" y="1219907"/>
                  </a:lnTo>
                  <a:close/>
                </a:path>
              </a:pathLst>
            </a:custGeom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750" name="任意多边形 13"/>
            <p:cNvSpPr/>
            <p:nvPr/>
          </p:nvSpPr>
          <p:spPr>
            <a:xfrm rot="5400000">
              <a:off x="5566609" y="2819048"/>
              <a:ext cx="1021607" cy="1219907"/>
            </a:xfrm>
            <a:custGeom>
              <a:avLst/>
              <a:gdLst>
                <a:gd name="connsiteX0" fmla="*/ 0 w 1021607"/>
                <a:gd name="connsiteY0" fmla="*/ 1219907 h 1219907"/>
                <a:gd name="connsiteX1" fmla="*/ 0 w 1021607"/>
                <a:gd name="connsiteY1" fmla="*/ 116036 h 1219907"/>
                <a:gd name="connsiteX2" fmla="*/ 381631 w 1021607"/>
                <a:gd name="connsiteY2" fmla="*/ 116036 h 1219907"/>
                <a:gd name="connsiteX3" fmla="*/ 510804 w 1021607"/>
                <a:gd name="connsiteY3" fmla="*/ 0 h 1219907"/>
                <a:gd name="connsiteX4" fmla="*/ 639977 w 1021607"/>
                <a:gd name="connsiteY4" fmla="*/ 116036 h 1219907"/>
                <a:gd name="connsiteX5" fmla="*/ 1021607 w 1021607"/>
                <a:gd name="connsiteY5" fmla="*/ 116036 h 1219907"/>
                <a:gd name="connsiteX6" fmla="*/ 1021607 w 1021607"/>
                <a:gd name="connsiteY6" fmla="*/ 1219907 h 1219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1607" h="1219907">
                  <a:moveTo>
                    <a:pt x="0" y="1219907"/>
                  </a:moveTo>
                  <a:lnTo>
                    <a:pt x="0" y="116036"/>
                  </a:lnTo>
                  <a:lnTo>
                    <a:pt x="381631" y="116036"/>
                  </a:lnTo>
                  <a:lnTo>
                    <a:pt x="510804" y="0"/>
                  </a:lnTo>
                  <a:lnTo>
                    <a:pt x="639977" y="116036"/>
                  </a:lnTo>
                  <a:lnTo>
                    <a:pt x="1021607" y="116036"/>
                  </a:lnTo>
                  <a:lnTo>
                    <a:pt x="1021607" y="1219907"/>
                  </a:lnTo>
                  <a:close/>
                </a:path>
              </a:pathLst>
            </a:custGeom>
            <a:solidFill>
              <a:srgbClr val="CF3B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751" name="任意多边形 10"/>
            <p:cNvSpPr/>
            <p:nvPr/>
          </p:nvSpPr>
          <p:spPr>
            <a:xfrm rot="16200000">
              <a:off x="3663949" y="2471740"/>
              <a:ext cx="1904999" cy="1914523"/>
            </a:xfrm>
            <a:custGeom>
              <a:avLst/>
              <a:gdLst>
                <a:gd name="connsiteX0" fmla="*/ 1904845 w 1904999"/>
                <a:gd name="connsiteY0" fmla="*/ 1752153 h 1914523"/>
                <a:gd name="connsiteX1" fmla="*/ 1877202 w 1904999"/>
                <a:gd name="connsiteY1" fmla="*/ 1803749 h 1914523"/>
                <a:gd name="connsiteX2" fmla="*/ 1875316 w 1904999"/>
                <a:gd name="connsiteY2" fmla="*/ 1806080 h 1914523"/>
                <a:gd name="connsiteX3" fmla="*/ 1694971 w 1904999"/>
                <a:gd name="connsiteY3" fmla="*/ 1808463 h 1914523"/>
                <a:gd name="connsiteX4" fmla="*/ 1070569 w 1904999"/>
                <a:gd name="connsiteY4" fmla="*/ 1808462 h 1914523"/>
                <a:gd name="connsiteX5" fmla="*/ 952500 w 1904999"/>
                <a:gd name="connsiteY5" fmla="*/ 1914523 h 1914523"/>
                <a:gd name="connsiteX6" fmla="*/ 834430 w 1904999"/>
                <a:gd name="connsiteY6" fmla="*/ 1808461 h 1914523"/>
                <a:gd name="connsiteX7" fmla="*/ 196759 w 1904999"/>
                <a:gd name="connsiteY7" fmla="*/ 1808459 h 1914523"/>
                <a:gd name="connsiteX8" fmla="*/ 29203 w 1904999"/>
                <a:gd name="connsiteY8" fmla="*/ 1806079 h 1914523"/>
                <a:gd name="connsiteX9" fmla="*/ 27317 w 1904999"/>
                <a:gd name="connsiteY9" fmla="*/ 1803748 h 1914523"/>
                <a:gd name="connsiteX10" fmla="*/ 2898 w 1904999"/>
                <a:gd name="connsiteY10" fmla="*/ 1724324 h 1914523"/>
                <a:gd name="connsiteX11" fmla="*/ 815756 w 1904999"/>
                <a:gd name="connsiteY11" fmla="*/ 123258 h 1914523"/>
                <a:gd name="connsiteX12" fmla="*/ 833024 w 1904999"/>
                <a:gd name="connsiteY12" fmla="*/ 91381 h 1914523"/>
                <a:gd name="connsiteX13" fmla="*/ 955923 w 1904999"/>
                <a:gd name="connsiteY13" fmla="*/ 601 h 1914523"/>
                <a:gd name="connsiteX14" fmla="*/ 959324 w 1904999"/>
                <a:gd name="connsiteY14" fmla="*/ 0 h 1914523"/>
                <a:gd name="connsiteX15" fmla="*/ 1078826 w 1904999"/>
                <a:gd name="connsiteY15" fmla="*/ 91381 h 1914523"/>
                <a:gd name="connsiteX16" fmla="*/ 1148780 w 1904999"/>
                <a:gd name="connsiteY16" fmla="*/ 220519 h 1914523"/>
                <a:gd name="connsiteX17" fmla="*/ 1623257 w 1904999"/>
                <a:gd name="connsiteY17" fmla="*/ 1155085 h 1914523"/>
                <a:gd name="connsiteX18" fmla="*/ 1620212 w 1904999"/>
                <a:gd name="connsiteY18" fmla="*/ 1153362 h 1914523"/>
                <a:gd name="connsiteX19" fmla="*/ 1883174 w 1904999"/>
                <a:gd name="connsiteY19" fmla="*/ 1670667 h 1914523"/>
                <a:gd name="connsiteX20" fmla="*/ 1904845 w 1904999"/>
                <a:gd name="connsiteY20" fmla="*/ 1752153 h 191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04999" h="1914523">
                  <a:moveTo>
                    <a:pt x="1904845" y="1752153"/>
                  </a:moveTo>
                  <a:cubicBezTo>
                    <a:pt x="1903540" y="1774608"/>
                    <a:pt x="1894016" y="1792082"/>
                    <a:pt x="1877202" y="1803749"/>
                  </a:cubicBezTo>
                  <a:cubicBezTo>
                    <a:pt x="1876917" y="1804790"/>
                    <a:pt x="1905689" y="1805294"/>
                    <a:pt x="1875316" y="1806080"/>
                  </a:cubicBezTo>
                  <a:cubicBezTo>
                    <a:pt x="1844945" y="1806866"/>
                    <a:pt x="1832201" y="1809506"/>
                    <a:pt x="1694971" y="1808463"/>
                  </a:cubicBezTo>
                  <a:lnTo>
                    <a:pt x="1070569" y="1808462"/>
                  </a:lnTo>
                  <a:lnTo>
                    <a:pt x="952500" y="1914523"/>
                  </a:lnTo>
                  <a:lnTo>
                    <a:pt x="834430" y="1808461"/>
                  </a:lnTo>
                  <a:lnTo>
                    <a:pt x="196759" y="1808459"/>
                  </a:lnTo>
                  <a:cubicBezTo>
                    <a:pt x="94828" y="1809500"/>
                    <a:pt x="60068" y="1830323"/>
                    <a:pt x="29203" y="1806079"/>
                  </a:cubicBezTo>
                  <a:cubicBezTo>
                    <a:pt x="28391" y="1805443"/>
                    <a:pt x="28332" y="1804453"/>
                    <a:pt x="27317" y="1803748"/>
                  </a:cubicBezTo>
                  <a:cubicBezTo>
                    <a:pt x="4061" y="1787610"/>
                    <a:pt x="-5249" y="1760366"/>
                    <a:pt x="2898" y="1724324"/>
                  </a:cubicBezTo>
                  <a:lnTo>
                    <a:pt x="815756" y="123258"/>
                  </a:lnTo>
                  <a:lnTo>
                    <a:pt x="833024" y="91381"/>
                  </a:lnTo>
                  <a:cubicBezTo>
                    <a:pt x="866887" y="28860"/>
                    <a:pt x="911551" y="-1578"/>
                    <a:pt x="955923" y="601"/>
                  </a:cubicBezTo>
                  <a:cubicBezTo>
                    <a:pt x="957052" y="24"/>
                    <a:pt x="958190" y="0"/>
                    <a:pt x="959324" y="0"/>
                  </a:cubicBezTo>
                  <a:cubicBezTo>
                    <a:pt x="1002574" y="0"/>
                    <a:pt x="1045826" y="30460"/>
                    <a:pt x="1078826" y="91381"/>
                  </a:cubicBezTo>
                  <a:lnTo>
                    <a:pt x="1148780" y="220519"/>
                  </a:lnTo>
                  <a:lnTo>
                    <a:pt x="1623257" y="1155085"/>
                  </a:lnTo>
                  <a:lnTo>
                    <a:pt x="1620212" y="1153362"/>
                  </a:lnTo>
                  <a:lnTo>
                    <a:pt x="1883174" y="1670667"/>
                  </a:lnTo>
                  <a:cubicBezTo>
                    <a:pt x="1899236" y="1702261"/>
                    <a:pt x="1906150" y="1729698"/>
                    <a:pt x="1904845" y="1752153"/>
                  </a:cubicBezTo>
                  <a:close/>
                </a:path>
              </a:pathLst>
            </a:custGeom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wrap="square">
              <a:noAutofit/>
            </a:bodyPr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altLang="en-US" lang="zh-CN">
                <a:cs typeface="+mn-ea"/>
                <a:sym typeface="+mn-lt"/>
              </a:endParaRPr>
            </a:p>
          </p:txBody>
        </p:sp>
      </p:grpSp>
      <p:grpSp>
        <p:nvGrpSpPr>
          <p:cNvPr id="87" name="Group 4"/>
          <p:cNvGrpSpPr>
            <a:grpSpLocks noChangeAspect="1"/>
          </p:cNvGrpSpPr>
          <p:nvPr/>
        </p:nvGrpSpPr>
        <p:grpSpPr bwMode="auto">
          <a:xfrm>
            <a:off x="6669828" y="3958809"/>
            <a:ext cx="436982" cy="459201"/>
            <a:chOff x="-334" y="2326"/>
            <a:chExt cx="472" cy="496"/>
          </a:xfrm>
          <a:solidFill>
            <a:schemeClr val="bg1"/>
          </a:solidFill>
          <a:effectLst/>
        </p:grpSpPr>
        <p:sp>
          <p:nvSpPr>
            <p:cNvPr id="1048752" name="Freeform 5"/>
            <p:cNvSpPr/>
            <p:nvPr/>
          </p:nvSpPr>
          <p:spPr bwMode="auto">
            <a:xfrm>
              <a:off x="-334" y="2326"/>
              <a:ext cx="472" cy="294"/>
            </a:xfrm>
            <a:custGeom>
              <a:avLst/>
              <a:gdLst>
                <a:gd name="T0" fmla="*/ 295 w 472"/>
                <a:gd name="T1" fmla="*/ 25 h 294"/>
                <a:gd name="T2" fmla="*/ 350 w 472"/>
                <a:gd name="T3" fmla="*/ 76 h 294"/>
                <a:gd name="T4" fmla="*/ 270 w 472"/>
                <a:gd name="T5" fmla="*/ 156 h 294"/>
                <a:gd name="T6" fmla="*/ 228 w 472"/>
                <a:gd name="T7" fmla="*/ 118 h 294"/>
                <a:gd name="T8" fmla="*/ 228 w 472"/>
                <a:gd name="T9" fmla="*/ 118 h 294"/>
                <a:gd name="T10" fmla="*/ 181 w 472"/>
                <a:gd name="T11" fmla="*/ 67 h 294"/>
                <a:gd name="T12" fmla="*/ 177 w 472"/>
                <a:gd name="T13" fmla="*/ 67 h 294"/>
                <a:gd name="T14" fmla="*/ 177 w 472"/>
                <a:gd name="T15" fmla="*/ 67 h 294"/>
                <a:gd name="T16" fmla="*/ 131 w 472"/>
                <a:gd name="T17" fmla="*/ 118 h 294"/>
                <a:gd name="T18" fmla="*/ 131 w 472"/>
                <a:gd name="T19" fmla="*/ 118 h 294"/>
                <a:gd name="T20" fmla="*/ 0 w 472"/>
                <a:gd name="T21" fmla="*/ 244 h 294"/>
                <a:gd name="T22" fmla="*/ 50 w 472"/>
                <a:gd name="T23" fmla="*/ 294 h 294"/>
                <a:gd name="T24" fmla="*/ 177 w 472"/>
                <a:gd name="T25" fmla="*/ 168 h 294"/>
                <a:gd name="T26" fmla="*/ 219 w 472"/>
                <a:gd name="T27" fmla="*/ 206 h 294"/>
                <a:gd name="T28" fmla="*/ 219 w 472"/>
                <a:gd name="T29" fmla="*/ 206 h 294"/>
                <a:gd name="T30" fmla="*/ 266 w 472"/>
                <a:gd name="T31" fmla="*/ 257 h 294"/>
                <a:gd name="T32" fmla="*/ 270 w 472"/>
                <a:gd name="T33" fmla="*/ 257 h 294"/>
                <a:gd name="T34" fmla="*/ 270 w 472"/>
                <a:gd name="T35" fmla="*/ 257 h 294"/>
                <a:gd name="T36" fmla="*/ 316 w 472"/>
                <a:gd name="T37" fmla="*/ 206 h 294"/>
                <a:gd name="T38" fmla="*/ 316 w 472"/>
                <a:gd name="T39" fmla="*/ 206 h 294"/>
                <a:gd name="T40" fmla="*/ 396 w 472"/>
                <a:gd name="T41" fmla="*/ 126 h 294"/>
                <a:gd name="T42" fmla="*/ 451 w 472"/>
                <a:gd name="T43" fmla="*/ 177 h 294"/>
                <a:gd name="T44" fmla="*/ 460 w 472"/>
                <a:gd name="T45" fmla="*/ 88 h 294"/>
                <a:gd name="T46" fmla="*/ 472 w 472"/>
                <a:gd name="T47" fmla="*/ 0 h 294"/>
                <a:gd name="T48" fmla="*/ 384 w 472"/>
                <a:gd name="T49" fmla="*/ 13 h 294"/>
                <a:gd name="T50" fmla="*/ 295 w 472"/>
                <a:gd name="T51" fmla="*/ 25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72" h="294">
                  <a:moveTo>
                    <a:pt x="295" y="25"/>
                  </a:moveTo>
                  <a:lnTo>
                    <a:pt x="350" y="76"/>
                  </a:lnTo>
                  <a:lnTo>
                    <a:pt x="270" y="156"/>
                  </a:lnTo>
                  <a:lnTo>
                    <a:pt x="228" y="118"/>
                  </a:lnTo>
                  <a:lnTo>
                    <a:pt x="228" y="118"/>
                  </a:lnTo>
                  <a:lnTo>
                    <a:pt x="181" y="67"/>
                  </a:lnTo>
                  <a:lnTo>
                    <a:pt x="177" y="67"/>
                  </a:lnTo>
                  <a:lnTo>
                    <a:pt x="177" y="67"/>
                  </a:lnTo>
                  <a:lnTo>
                    <a:pt x="131" y="118"/>
                  </a:lnTo>
                  <a:lnTo>
                    <a:pt x="131" y="118"/>
                  </a:lnTo>
                  <a:lnTo>
                    <a:pt x="0" y="244"/>
                  </a:lnTo>
                  <a:lnTo>
                    <a:pt x="50" y="294"/>
                  </a:lnTo>
                  <a:lnTo>
                    <a:pt x="177" y="168"/>
                  </a:lnTo>
                  <a:lnTo>
                    <a:pt x="219" y="206"/>
                  </a:lnTo>
                  <a:lnTo>
                    <a:pt x="219" y="206"/>
                  </a:lnTo>
                  <a:lnTo>
                    <a:pt x="266" y="257"/>
                  </a:lnTo>
                  <a:lnTo>
                    <a:pt x="270" y="257"/>
                  </a:lnTo>
                  <a:lnTo>
                    <a:pt x="270" y="257"/>
                  </a:lnTo>
                  <a:lnTo>
                    <a:pt x="316" y="206"/>
                  </a:lnTo>
                  <a:lnTo>
                    <a:pt x="316" y="206"/>
                  </a:lnTo>
                  <a:lnTo>
                    <a:pt x="396" y="126"/>
                  </a:lnTo>
                  <a:lnTo>
                    <a:pt x="451" y="177"/>
                  </a:lnTo>
                  <a:lnTo>
                    <a:pt x="460" y="88"/>
                  </a:lnTo>
                  <a:lnTo>
                    <a:pt x="472" y="0"/>
                  </a:lnTo>
                  <a:lnTo>
                    <a:pt x="384" y="13"/>
                  </a:lnTo>
                  <a:lnTo>
                    <a:pt x="295" y="2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048753" name="Rectangle 6"/>
            <p:cNvSpPr>
              <a:spLocks noChangeArrowheads="1"/>
            </p:cNvSpPr>
            <p:nvPr/>
          </p:nvSpPr>
          <p:spPr bwMode="auto">
            <a:xfrm>
              <a:off x="-305" y="2704"/>
              <a:ext cx="85" cy="118"/>
            </a:xfrm>
            <a:prstGeom prst="rect"/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048754" name="Rectangle 7"/>
            <p:cNvSpPr>
              <a:spLocks noChangeArrowheads="1"/>
            </p:cNvSpPr>
            <p:nvPr/>
          </p:nvSpPr>
          <p:spPr bwMode="auto">
            <a:xfrm>
              <a:off x="-182" y="2599"/>
              <a:ext cx="80" cy="223"/>
            </a:xfrm>
            <a:prstGeom prst="rect"/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048755" name="Rectangle 8"/>
            <p:cNvSpPr>
              <a:spLocks noChangeArrowheads="1"/>
            </p:cNvSpPr>
            <p:nvPr/>
          </p:nvSpPr>
          <p:spPr bwMode="auto">
            <a:xfrm>
              <a:off x="-64" y="2654"/>
              <a:ext cx="84" cy="168"/>
            </a:xfrm>
            <a:prstGeom prst="rect"/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048756" name="Rectangle 9"/>
            <p:cNvSpPr>
              <a:spLocks noChangeArrowheads="1"/>
            </p:cNvSpPr>
            <p:nvPr/>
          </p:nvSpPr>
          <p:spPr bwMode="auto">
            <a:xfrm>
              <a:off x="54" y="2549"/>
              <a:ext cx="80" cy="273"/>
            </a:xfrm>
            <a:prstGeom prst="rect"/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48757" name="Freeform 13"/>
          <p:cNvSpPr>
            <a:spLocks noEditPoints="1"/>
          </p:cNvSpPr>
          <p:nvPr/>
        </p:nvSpPr>
        <p:spPr bwMode="auto">
          <a:xfrm>
            <a:off x="5222201" y="3967396"/>
            <a:ext cx="451827" cy="442026"/>
          </a:xfrm>
          <a:custGeom>
            <a:avLst/>
            <a:gdLst>
              <a:gd name="T0" fmla="*/ 123 w 192"/>
              <a:gd name="T1" fmla="*/ 175 h 188"/>
              <a:gd name="T2" fmla="*/ 123 w 192"/>
              <a:gd name="T3" fmla="*/ 148 h 188"/>
              <a:gd name="T4" fmla="*/ 68 w 192"/>
              <a:gd name="T5" fmla="*/ 149 h 188"/>
              <a:gd name="T6" fmla="*/ 68 w 192"/>
              <a:gd name="T7" fmla="*/ 176 h 188"/>
              <a:gd name="T8" fmla="*/ 56 w 192"/>
              <a:gd name="T9" fmla="*/ 182 h 188"/>
              <a:gd name="T10" fmla="*/ 60 w 192"/>
              <a:gd name="T11" fmla="*/ 188 h 188"/>
              <a:gd name="T12" fmla="*/ 130 w 192"/>
              <a:gd name="T13" fmla="*/ 188 h 188"/>
              <a:gd name="T14" fmla="*/ 135 w 192"/>
              <a:gd name="T15" fmla="*/ 183 h 188"/>
              <a:gd name="T16" fmla="*/ 123 w 192"/>
              <a:gd name="T17" fmla="*/ 175 h 188"/>
              <a:gd name="T18" fmla="*/ 173 w 192"/>
              <a:gd name="T19" fmla="*/ 0 h 188"/>
              <a:gd name="T20" fmla="*/ 18 w 192"/>
              <a:gd name="T21" fmla="*/ 0 h 188"/>
              <a:gd name="T22" fmla="*/ 0 w 192"/>
              <a:gd name="T23" fmla="*/ 19 h 188"/>
              <a:gd name="T24" fmla="*/ 0 w 192"/>
              <a:gd name="T25" fmla="*/ 126 h 188"/>
              <a:gd name="T26" fmla="*/ 18 w 192"/>
              <a:gd name="T27" fmla="*/ 144 h 188"/>
              <a:gd name="T28" fmla="*/ 173 w 192"/>
              <a:gd name="T29" fmla="*/ 144 h 188"/>
              <a:gd name="T30" fmla="*/ 192 w 192"/>
              <a:gd name="T31" fmla="*/ 126 h 188"/>
              <a:gd name="T32" fmla="*/ 192 w 192"/>
              <a:gd name="T33" fmla="*/ 19 h 188"/>
              <a:gd name="T34" fmla="*/ 173 w 192"/>
              <a:gd name="T35" fmla="*/ 0 h 188"/>
              <a:gd name="T36" fmla="*/ 180 w 192"/>
              <a:gd name="T37" fmla="*/ 100 h 188"/>
              <a:gd name="T38" fmla="*/ 167 w 192"/>
              <a:gd name="T39" fmla="*/ 112 h 188"/>
              <a:gd name="T40" fmla="*/ 24 w 192"/>
              <a:gd name="T41" fmla="*/ 112 h 188"/>
              <a:gd name="T42" fmla="*/ 11 w 192"/>
              <a:gd name="T43" fmla="*/ 100 h 188"/>
              <a:gd name="T44" fmla="*/ 11 w 192"/>
              <a:gd name="T45" fmla="*/ 25 h 188"/>
              <a:gd name="T46" fmla="*/ 24 w 192"/>
              <a:gd name="T47" fmla="*/ 12 h 188"/>
              <a:gd name="T48" fmla="*/ 167 w 192"/>
              <a:gd name="T49" fmla="*/ 12 h 188"/>
              <a:gd name="T50" fmla="*/ 180 w 192"/>
              <a:gd name="T51" fmla="*/ 25 h 188"/>
              <a:gd name="T52" fmla="*/ 180 w 192"/>
              <a:gd name="T53" fmla="*/ 10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92" h="188">
                <a:moveTo>
                  <a:pt x="123" y="175"/>
                </a:moveTo>
                <a:cubicBezTo>
                  <a:pt x="123" y="148"/>
                  <a:pt x="123" y="148"/>
                  <a:pt x="123" y="148"/>
                </a:cubicBezTo>
                <a:cubicBezTo>
                  <a:pt x="68" y="149"/>
                  <a:pt x="68" y="149"/>
                  <a:pt x="68" y="149"/>
                </a:cubicBezTo>
                <a:cubicBezTo>
                  <a:pt x="68" y="176"/>
                  <a:pt x="68" y="176"/>
                  <a:pt x="68" y="176"/>
                </a:cubicBezTo>
                <a:cubicBezTo>
                  <a:pt x="56" y="182"/>
                  <a:pt x="56" y="182"/>
                  <a:pt x="56" y="182"/>
                </a:cubicBezTo>
                <a:cubicBezTo>
                  <a:pt x="56" y="182"/>
                  <a:pt x="53" y="188"/>
                  <a:pt x="60" y="188"/>
                </a:cubicBezTo>
                <a:cubicBezTo>
                  <a:pt x="130" y="188"/>
                  <a:pt x="130" y="188"/>
                  <a:pt x="130" y="188"/>
                </a:cubicBezTo>
                <a:cubicBezTo>
                  <a:pt x="130" y="188"/>
                  <a:pt x="138" y="185"/>
                  <a:pt x="135" y="183"/>
                </a:cubicBezTo>
                <a:cubicBezTo>
                  <a:pt x="133" y="180"/>
                  <a:pt x="123" y="175"/>
                  <a:pt x="123" y="175"/>
                </a:cubicBezTo>
                <a:close/>
                <a:moveTo>
                  <a:pt x="173" y="0"/>
                </a:moveTo>
                <a:cubicBezTo>
                  <a:pt x="18" y="0"/>
                  <a:pt x="18" y="0"/>
                  <a:pt x="18" y="0"/>
                </a:cubicBezTo>
                <a:cubicBezTo>
                  <a:pt x="8" y="0"/>
                  <a:pt x="0" y="9"/>
                  <a:pt x="0" y="19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6"/>
                  <a:pt x="8" y="144"/>
                  <a:pt x="18" y="144"/>
                </a:cubicBezTo>
                <a:cubicBezTo>
                  <a:pt x="173" y="144"/>
                  <a:pt x="173" y="144"/>
                  <a:pt x="173" y="144"/>
                </a:cubicBezTo>
                <a:cubicBezTo>
                  <a:pt x="183" y="144"/>
                  <a:pt x="192" y="136"/>
                  <a:pt x="192" y="126"/>
                </a:cubicBezTo>
                <a:cubicBezTo>
                  <a:pt x="192" y="19"/>
                  <a:pt x="192" y="19"/>
                  <a:pt x="192" y="19"/>
                </a:cubicBezTo>
                <a:cubicBezTo>
                  <a:pt x="192" y="9"/>
                  <a:pt x="183" y="0"/>
                  <a:pt x="173" y="0"/>
                </a:cubicBezTo>
                <a:close/>
                <a:moveTo>
                  <a:pt x="180" y="100"/>
                </a:moveTo>
                <a:cubicBezTo>
                  <a:pt x="180" y="107"/>
                  <a:pt x="174" y="112"/>
                  <a:pt x="167" y="112"/>
                </a:cubicBezTo>
                <a:cubicBezTo>
                  <a:pt x="24" y="112"/>
                  <a:pt x="24" y="112"/>
                  <a:pt x="24" y="112"/>
                </a:cubicBezTo>
                <a:cubicBezTo>
                  <a:pt x="17" y="112"/>
                  <a:pt x="11" y="107"/>
                  <a:pt x="11" y="100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18"/>
                  <a:pt x="17" y="12"/>
                  <a:pt x="24" y="12"/>
                </a:cubicBezTo>
                <a:cubicBezTo>
                  <a:pt x="167" y="12"/>
                  <a:pt x="167" y="12"/>
                  <a:pt x="167" y="12"/>
                </a:cubicBezTo>
                <a:cubicBezTo>
                  <a:pt x="174" y="12"/>
                  <a:pt x="180" y="18"/>
                  <a:pt x="180" y="25"/>
                </a:cubicBezTo>
                <a:lnTo>
                  <a:pt x="180" y="1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+mn-ea"/>
              <a:sym typeface="+mn-lt"/>
            </a:endParaRPr>
          </a:p>
        </p:txBody>
      </p:sp>
      <p:sp>
        <p:nvSpPr>
          <p:cNvPr id="1048758" name="Freeform 21"/>
          <p:cNvSpPr>
            <a:spLocks noEditPoints="1"/>
          </p:cNvSpPr>
          <p:nvPr/>
        </p:nvSpPr>
        <p:spPr bwMode="auto">
          <a:xfrm>
            <a:off x="8118939" y="3951225"/>
            <a:ext cx="472409" cy="474369"/>
          </a:xfrm>
          <a:custGeom>
            <a:avLst/>
            <a:gdLst>
              <a:gd name="T0" fmla="*/ 198 w 201"/>
              <a:gd name="T1" fmla="*/ 35 h 202"/>
              <a:gd name="T2" fmla="*/ 188 w 201"/>
              <a:gd name="T3" fmla="*/ 44 h 202"/>
              <a:gd name="T4" fmla="*/ 157 w 201"/>
              <a:gd name="T5" fmla="*/ 13 h 202"/>
              <a:gd name="T6" fmla="*/ 167 w 201"/>
              <a:gd name="T7" fmla="*/ 4 h 202"/>
              <a:gd name="T8" fmla="*/ 179 w 201"/>
              <a:gd name="T9" fmla="*/ 3 h 202"/>
              <a:gd name="T10" fmla="*/ 198 w 201"/>
              <a:gd name="T11" fmla="*/ 23 h 202"/>
              <a:gd name="T12" fmla="*/ 198 w 201"/>
              <a:gd name="T13" fmla="*/ 35 h 202"/>
              <a:gd name="T14" fmla="*/ 115 w 201"/>
              <a:gd name="T15" fmla="*/ 117 h 202"/>
              <a:gd name="T16" fmla="*/ 84 w 201"/>
              <a:gd name="T17" fmla="*/ 86 h 202"/>
              <a:gd name="T18" fmla="*/ 153 w 201"/>
              <a:gd name="T19" fmla="*/ 18 h 202"/>
              <a:gd name="T20" fmla="*/ 184 w 201"/>
              <a:gd name="T21" fmla="*/ 49 h 202"/>
              <a:gd name="T22" fmla="*/ 115 w 201"/>
              <a:gd name="T23" fmla="*/ 117 h 202"/>
              <a:gd name="T24" fmla="*/ 111 w 201"/>
              <a:gd name="T25" fmla="*/ 121 h 202"/>
              <a:gd name="T26" fmla="*/ 67 w 201"/>
              <a:gd name="T27" fmla="*/ 133 h 202"/>
              <a:gd name="T28" fmla="*/ 80 w 201"/>
              <a:gd name="T29" fmla="*/ 90 h 202"/>
              <a:gd name="T30" fmla="*/ 111 w 201"/>
              <a:gd name="T31" fmla="*/ 121 h 202"/>
              <a:gd name="T32" fmla="*/ 39 w 201"/>
              <a:gd name="T33" fmla="*/ 26 h 202"/>
              <a:gd name="T34" fmla="*/ 20 w 201"/>
              <a:gd name="T35" fmla="*/ 45 h 202"/>
              <a:gd name="T36" fmla="*/ 20 w 201"/>
              <a:gd name="T37" fmla="*/ 162 h 202"/>
              <a:gd name="T38" fmla="*/ 39 w 201"/>
              <a:gd name="T39" fmla="*/ 182 h 202"/>
              <a:gd name="T40" fmla="*/ 156 w 201"/>
              <a:gd name="T41" fmla="*/ 182 h 202"/>
              <a:gd name="T42" fmla="*/ 176 w 201"/>
              <a:gd name="T43" fmla="*/ 162 h 202"/>
              <a:gd name="T44" fmla="*/ 176 w 201"/>
              <a:gd name="T45" fmla="*/ 85 h 202"/>
              <a:gd name="T46" fmla="*/ 196 w 201"/>
              <a:gd name="T47" fmla="*/ 66 h 202"/>
              <a:gd name="T48" fmla="*/ 196 w 201"/>
              <a:gd name="T49" fmla="*/ 169 h 202"/>
              <a:gd name="T50" fmla="*/ 163 w 201"/>
              <a:gd name="T51" fmla="*/ 202 h 202"/>
              <a:gd name="T52" fmla="*/ 32 w 201"/>
              <a:gd name="T53" fmla="*/ 202 h 202"/>
              <a:gd name="T54" fmla="*/ 0 w 201"/>
              <a:gd name="T55" fmla="*/ 169 h 202"/>
              <a:gd name="T56" fmla="*/ 0 w 201"/>
              <a:gd name="T57" fmla="*/ 40 h 202"/>
              <a:gd name="T58" fmla="*/ 32 w 201"/>
              <a:gd name="T59" fmla="*/ 6 h 202"/>
              <a:gd name="T60" fmla="*/ 136 w 201"/>
              <a:gd name="T61" fmla="*/ 6 h 202"/>
              <a:gd name="T62" fmla="*/ 116 w 201"/>
              <a:gd name="T63" fmla="*/ 26 h 202"/>
              <a:gd name="T64" fmla="*/ 39 w 201"/>
              <a:gd name="T65" fmla="*/ 26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01" h="202">
                <a:moveTo>
                  <a:pt x="198" y="35"/>
                </a:moveTo>
                <a:cubicBezTo>
                  <a:pt x="188" y="44"/>
                  <a:pt x="188" y="44"/>
                  <a:pt x="188" y="44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67" y="4"/>
                  <a:pt x="167" y="4"/>
                  <a:pt x="167" y="4"/>
                </a:cubicBezTo>
                <a:cubicBezTo>
                  <a:pt x="170" y="0"/>
                  <a:pt x="175" y="0"/>
                  <a:pt x="179" y="3"/>
                </a:cubicBezTo>
                <a:cubicBezTo>
                  <a:pt x="198" y="23"/>
                  <a:pt x="198" y="23"/>
                  <a:pt x="198" y="23"/>
                </a:cubicBezTo>
                <a:cubicBezTo>
                  <a:pt x="201" y="26"/>
                  <a:pt x="201" y="31"/>
                  <a:pt x="198" y="35"/>
                </a:cubicBezTo>
                <a:close/>
                <a:moveTo>
                  <a:pt x="115" y="117"/>
                </a:moveTo>
                <a:cubicBezTo>
                  <a:pt x="84" y="86"/>
                  <a:pt x="84" y="86"/>
                  <a:pt x="84" y="86"/>
                </a:cubicBezTo>
                <a:cubicBezTo>
                  <a:pt x="153" y="18"/>
                  <a:pt x="153" y="18"/>
                  <a:pt x="153" y="18"/>
                </a:cubicBezTo>
                <a:cubicBezTo>
                  <a:pt x="184" y="49"/>
                  <a:pt x="184" y="49"/>
                  <a:pt x="184" y="49"/>
                </a:cubicBezTo>
                <a:lnTo>
                  <a:pt x="115" y="117"/>
                </a:lnTo>
                <a:close/>
                <a:moveTo>
                  <a:pt x="111" y="121"/>
                </a:moveTo>
                <a:cubicBezTo>
                  <a:pt x="67" y="133"/>
                  <a:pt x="67" y="133"/>
                  <a:pt x="67" y="133"/>
                </a:cubicBezTo>
                <a:cubicBezTo>
                  <a:pt x="80" y="90"/>
                  <a:pt x="80" y="90"/>
                  <a:pt x="80" y="90"/>
                </a:cubicBezTo>
                <a:lnTo>
                  <a:pt x="111" y="121"/>
                </a:lnTo>
                <a:close/>
                <a:moveTo>
                  <a:pt x="39" y="26"/>
                </a:moveTo>
                <a:cubicBezTo>
                  <a:pt x="28" y="26"/>
                  <a:pt x="20" y="34"/>
                  <a:pt x="20" y="45"/>
                </a:cubicBezTo>
                <a:cubicBezTo>
                  <a:pt x="20" y="162"/>
                  <a:pt x="20" y="162"/>
                  <a:pt x="20" y="162"/>
                </a:cubicBezTo>
                <a:cubicBezTo>
                  <a:pt x="20" y="173"/>
                  <a:pt x="28" y="182"/>
                  <a:pt x="39" y="182"/>
                </a:cubicBezTo>
                <a:cubicBezTo>
                  <a:pt x="156" y="182"/>
                  <a:pt x="156" y="182"/>
                  <a:pt x="156" y="182"/>
                </a:cubicBezTo>
                <a:cubicBezTo>
                  <a:pt x="167" y="182"/>
                  <a:pt x="176" y="173"/>
                  <a:pt x="176" y="162"/>
                </a:cubicBezTo>
                <a:cubicBezTo>
                  <a:pt x="176" y="85"/>
                  <a:pt x="176" y="85"/>
                  <a:pt x="176" y="85"/>
                </a:cubicBezTo>
                <a:cubicBezTo>
                  <a:pt x="196" y="66"/>
                  <a:pt x="196" y="66"/>
                  <a:pt x="196" y="66"/>
                </a:cubicBezTo>
                <a:cubicBezTo>
                  <a:pt x="196" y="169"/>
                  <a:pt x="196" y="169"/>
                  <a:pt x="196" y="169"/>
                </a:cubicBezTo>
                <a:cubicBezTo>
                  <a:pt x="196" y="187"/>
                  <a:pt x="181" y="202"/>
                  <a:pt x="163" y="202"/>
                </a:cubicBezTo>
                <a:cubicBezTo>
                  <a:pt x="32" y="202"/>
                  <a:pt x="32" y="202"/>
                  <a:pt x="32" y="202"/>
                </a:cubicBezTo>
                <a:cubicBezTo>
                  <a:pt x="14" y="202"/>
                  <a:pt x="0" y="187"/>
                  <a:pt x="0" y="169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22"/>
                  <a:pt x="14" y="6"/>
                  <a:pt x="32" y="6"/>
                </a:cubicBezTo>
                <a:cubicBezTo>
                  <a:pt x="136" y="6"/>
                  <a:pt x="136" y="6"/>
                  <a:pt x="136" y="6"/>
                </a:cubicBezTo>
                <a:cubicBezTo>
                  <a:pt x="116" y="26"/>
                  <a:pt x="116" y="26"/>
                  <a:pt x="116" y="26"/>
                </a:cubicBezTo>
                <a:lnTo>
                  <a:pt x="39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+mn-ea"/>
              <a:sym typeface="+mn-lt"/>
            </a:endParaRPr>
          </a:p>
        </p:txBody>
      </p:sp>
      <p:sp>
        <p:nvSpPr>
          <p:cNvPr id="1048759" name="Freeform 25"/>
          <p:cNvSpPr>
            <a:spLocks noEditPoints="1"/>
          </p:cNvSpPr>
          <p:nvPr/>
        </p:nvSpPr>
        <p:spPr bwMode="auto">
          <a:xfrm>
            <a:off x="9581706" y="3954165"/>
            <a:ext cx="467508" cy="468488"/>
          </a:xfrm>
          <a:custGeom>
            <a:avLst/>
            <a:gdLst>
              <a:gd name="T0" fmla="*/ 186 w 199"/>
              <a:gd name="T1" fmla="*/ 80 h 200"/>
              <a:gd name="T2" fmla="*/ 170 w 199"/>
              <a:gd name="T3" fmla="*/ 80 h 200"/>
              <a:gd name="T4" fmla="*/ 163 w 199"/>
              <a:gd name="T5" fmla="*/ 64 h 200"/>
              <a:gd name="T6" fmla="*/ 175 w 199"/>
              <a:gd name="T7" fmla="*/ 52 h 200"/>
              <a:gd name="T8" fmla="*/ 175 w 199"/>
              <a:gd name="T9" fmla="*/ 33 h 200"/>
              <a:gd name="T10" fmla="*/ 165 w 199"/>
              <a:gd name="T11" fmla="*/ 24 h 200"/>
              <a:gd name="T12" fmla="*/ 146 w 199"/>
              <a:gd name="T13" fmla="*/ 24 h 200"/>
              <a:gd name="T14" fmla="*/ 135 w 199"/>
              <a:gd name="T15" fmla="*/ 36 h 200"/>
              <a:gd name="T16" fmla="*/ 120 w 199"/>
              <a:gd name="T17" fmla="*/ 30 h 200"/>
              <a:gd name="T18" fmla="*/ 120 w 199"/>
              <a:gd name="T19" fmla="*/ 13 h 200"/>
              <a:gd name="T20" fmla="*/ 106 w 199"/>
              <a:gd name="T21" fmla="*/ 0 h 200"/>
              <a:gd name="T22" fmla="*/ 93 w 199"/>
              <a:gd name="T23" fmla="*/ 0 h 200"/>
              <a:gd name="T24" fmla="*/ 80 w 199"/>
              <a:gd name="T25" fmla="*/ 13 h 200"/>
              <a:gd name="T26" fmla="*/ 80 w 199"/>
              <a:gd name="T27" fmla="*/ 30 h 200"/>
              <a:gd name="T28" fmla="*/ 64 w 199"/>
              <a:gd name="T29" fmla="*/ 36 h 200"/>
              <a:gd name="T30" fmla="*/ 52 w 199"/>
              <a:gd name="T31" fmla="*/ 24 h 200"/>
              <a:gd name="T32" fmla="*/ 33 w 199"/>
              <a:gd name="T33" fmla="*/ 24 h 200"/>
              <a:gd name="T34" fmla="*/ 24 w 199"/>
              <a:gd name="T35" fmla="*/ 33 h 200"/>
              <a:gd name="T36" fmla="*/ 24 w 199"/>
              <a:gd name="T37" fmla="*/ 52 h 200"/>
              <a:gd name="T38" fmla="*/ 36 w 199"/>
              <a:gd name="T39" fmla="*/ 64 h 200"/>
              <a:gd name="T40" fmla="*/ 29 w 199"/>
              <a:gd name="T41" fmla="*/ 80 h 200"/>
              <a:gd name="T42" fmla="*/ 13 w 199"/>
              <a:gd name="T43" fmla="*/ 80 h 200"/>
              <a:gd name="T44" fmla="*/ 0 w 199"/>
              <a:gd name="T45" fmla="*/ 93 h 200"/>
              <a:gd name="T46" fmla="*/ 0 w 199"/>
              <a:gd name="T47" fmla="*/ 107 h 200"/>
              <a:gd name="T48" fmla="*/ 13 w 199"/>
              <a:gd name="T49" fmla="*/ 120 h 200"/>
              <a:gd name="T50" fmla="*/ 29 w 199"/>
              <a:gd name="T51" fmla="*/ 120 h 200"/>
              <a:gd name="T52" fmla="*/ 35 w 199"/>
              <a:gd name="T53" fmla="*/ 135 h 200"/>
              <a:gd name="T54" fmla="*/ 24 w 199"/>
              <a:gd name="T55" fmla="*/ 147 h 200"/>
              <a:gd name="T56" fmla="*/ 24 w 199"/>
              <a:gd name="T57" fmla="*/ 166 h 200"/>
              <a:gd name="T58" fmla="*/ 33 w 199"/>
              <a:gd name="T59" fmla="*/ 175 h 200"/>
              <a:gd name="T60" fmla="*/ 52 w 199"/>
              <a:gd name="T61" fmla="*/ 175 h 200"/>
              <a:gd name="T62" fmla="*/ 63 w 199"/>
              <a:gd name="T63" fmla="*/ 163 h 200"/>
              <a:gd name="T64" fmla="*/ 80 w 199"/>
              <a:gd name="T65" fmla="*/ 170 h 200"/>
              <a:gd name="T66" fmla="*/ 80 w 199"/>
              <a:gd name="T67" fmla="*/ 186 h 200"/>
              <a:gd name="T68" fmla="*/ 93 w 199"/>
              <a:gd name="T69" fmla="*/ 200 h 200"/>
              <a:gd name="T70" fmla="*/ 106 w 199"/>
              <a:gd name="T71" fmla="*/ 200 h 200"/>
              <a:gd name="T72" fmla="*/ 120 w 199"/>
              <a:gd name="T73" fmla="*/ 186 h 200"/>
              <a:gd name="T74" fmla="*/ 120 w 199"/>
              <a:gd name="T75" fmla="*/ 170 h 200"/>
              <a:gd name="T76" fmla="*/ 135 w 199"/>
              <a:gd name="T77" fmla="*/ 164 h 200"/>
              <a:gd name="T78" fmla="*/ 146 w 199"/>
              <a:gd name="T79" fmla="*/ 175 h 200"/>
              <a:gd name="T80" fmla="*/ 165 w 199"/>
              <a:gd name="T81" fmla="*/ 175 h 200"/>
              <a:gd name="T82" fmla="*/ 175 w 199"/>
              <a:gd name="T83" fmla="*/ 166 h 200"/>
              <a:gd name="T84" fmla="*/ 175 w 199"/>
              <a:gd name="T85" fmla="*/ 147 h 200"/>
              <a:gd name="T86" fmla="*/ 163 w 199"/>
              <a:gd name="T87" fmla="*/ 135 h 200"/>
              <a:gd name="T88" fmla="*/ 170 w 199"/>
              <a:gd name="T89" fmla="*/ 120 h 200"/>
              <a:gd name="T90" fmla="*/ 186 w 199"/>
              <a:gd name="T91" fmla="*/ 120 h 200"/>
              <a:gd name="T92" fmla="*/ 199 w 199"/>
              <a:gd name="T93" fmla="*/ 107 h 200"/>
              <a:gd name="T94" fmla="*/ 199 w 199"/>
              <a:gd name="T95" fmla="*/ 93 h 200"/>
              <a:gd name="T96" fmla="*/ 186 w 199"/>
              <a:gd name="T97" fmla="*/ 80 h 200"/>
              <a:gd name="T98" fmla="*/ 100 w 199"/>
              <a:gd name="T99" fmla="*/ 140 h 200"/>
              <a:gd name="T100" fmla="*/ 60 w 199"/>
              <a:gd name="T101" fmla="*/ 100 h 200"/>
              <a:gd name="T102" fmla="*/ 100 w 199"/>
              <a:gd name="T103" fmla="*/ 60 h 200"/>
              <a:gd name="T104" fmla="*/ 139 w 199"/>
              <a:gd name="T105" fmla="*/ 100 h 200"/>
              <a:gd name="T106" fmla="*/ 100 w 199"/>
              <a:gd name="T107" fmla="*/ 140 h 200"/>
              <a:gd name="T108" fmla="*/ 100 w 199"/>
              <a:gd name="T109" fmla="*/ 80 h 200"/>
              <a:gd name="T110" fmla="*/ 80 w 199"/>
              <a:gd name="T111" fmla="*/ 100 h 200"/>
              <a:gd name="T112" fmla="*/ 100 w 199"/>
              <a:gd name="T113" fmla="*/ 120 h 200"/>
              <a:gd name="T114" fmla="*/ 120 w 199"/>
              <a:gd name="T115" fmla="*/ 100 h 200"/>
              <a:gd name="T116" fmla="*/ 100 w 199"/>
              <a:gd name="T117" fmla="*/ 8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99" h="200">
                <a:moveTo>
                  <a:pt x="186" y="80"/>
                </a:moveTo>
                <a:cubicBezTo>
                  <a:pt x="170" y="80"/>
                  <a:pt x="170" y="80"/>
                  <a:pt x="170" y="80"/>
                </a:cubicBezTo>
                <a:cubicBezTo>
                  <a:pt x="168" y="74"/>
                  <a:pt x="166" y="69"/>
                  <a:pt x="163" y="64"/>
                </a:cubicBezTo>
                <a:cubicBezTo>
                  <a:pt x="175" y="52"/>
                  <a:pt x="175" y="52"/>
                  <a:pt x="175" y="52"/>
                </a:cubicBezTo>
                <a:cubicBezTo>
                  <a:pt x="180" y="47"/>
                  <a:pt x="180" y="38"/>
                  <a:pt x="175" y="33"/>
                </a:cubicBezTo>
                <a:cubicBezTo>
                  <a:pt x="165" y="24"/>
                  <a:pt x="165" y="24"/>
                  <a:pt x="165" y="24"/>
                </a:cubicBezTo>
                <a:cubicBezTo>
                  <a:pt x="160" y="19"/>
                  <a:pt x="152" y="19"/>
                  <a:pt x="146" y="24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30" y="33"/>
                  <a:pt x="125" y="31"/>
                  <a:pt x="120" y="30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0" y="6"/>
                  <a:pt x="114" y="0"/>
                  <a:pt x="106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86" y="0"/>
                  <a:pt x="80" y="6"/>
                  <a:pt x="80" y="13"/>
                </a:cubicBezTo>
                <a:cubicBezTo>
                  <a:pt x="80" y="30"/>
                  <a:pt x="80" y="30"/>
                  <a:pt x="80" y="30"/>
                </a:cubicBezTo>
                <a:cubicBezTo>
                  <a:pt x="74" y="31"/>
                  <a:pt x="69" y="33"/>
                  <a:pt x="64" y="36"/>
                </a:cubicBezTo>
                <a:cubicBezTo>
                  <a:pt x="52" y="24"/>
                  <a:pt x="52" y="24"/>
                  <a:pt x="52" y="24"/>
                </a:cubicBezTo>
                <a:cubicBezTo>
                  <a:pt x="47" y="19"/>
                  <a:pt x="38" y="19"/>
                  <a:pt x="33" y="24"/>
                </a:cubicBezTo>
                <a:cubicBezTo>
                  <a:pt x="24" y="33"/>
                  <a:pt x="24" y="33"/>
                  <a:pt x="24" y="33"/>
                </a:cubicBezTo>
                <a:cubicBezTo>
                  <a:pt x="18" y="38"/>
                  <a:pt x="18" y="47"/>
                  <a:pt x="24" y="52"/>
                </a:cubicBezTo>
                <a:cubicBezTo>
                  <a:pt x="36" y="64"/>
                  <a:pt x="36" y="64"/>
                  <a:pt x="36" y="64"/>
                </a:cubicBezTo>
                <a:cubicBezTo>
                  <a:pt x="33" y="69"/>
                  <a:pt x="31" y="74"/>
                  <a:pt x="29" y="80"/>
                </a:cubicBezTo>
                <a:cubicBezTo>
                  <a:pt x="13" y="80"/>
                  <a:pt x="13" y="80"/>
                  <a:pt x="13" y="80"/>
                </a:cubicBezTo>
                <a:cubicBezTo>
                  <a:pt x="6" y="80"/>
                  <a:pt x="0" y="86"/>
                  <a:pt x="0" y="93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4"/>
                  <a:pt x="6" y="120"/>
                  <a:pt x="13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1" y="125"/>
                  <a:pt x="33" y="130"/>
                  <a:pt x="35" y="135"/>
                </a:cubicBezTo>
                <a:cubicBezTo>
                  <a:pt x="24" y="147"/>
                  <a:pt x="24" y="147"/>
                  <a:pt x="24" y="147"/>
                </a:cubicBezTo>
                <a:cubicBezTo>
                  <a:pt x="18" y="152"/>
                  <a:pt x="18" y="160"/>
                  <a:pt x="24" y="166"/>
                </a:cubicBezTo>
                <a:cubicBezTo>
                  <a:pt x="33" y="175"/>
                  <a:pt x="33" y="175"/>
                  <a:pt x="33" y="175"/>
                </a:cubicBezTo>
                <a:cubicBezTo>
                  <a:pt x="38" y="180"/>
                  <a:pt x="47" y="180"/>
                  <a:pt x="52" y="175"/>
                </a:cubicBezTo>
                <a:cubicBezTo>
                  <a:pt x="63" y="163"/>
                  <a:pt x="63" y="163"/>
                  <a:pt x="63" y="163"/>
                </a:cubicBezTo>
                <a:cubicBezTo>
                  <a:pt x="69" y="166"/>
                  <a:pt x="74" y="169"/>
                  <a:pt x="80" y="170"/>
                </a:cubicBezTo>
                <a:cubicBezTo>
                  <a:pt x="80" y="186"/>
                  <a:pt x="80" y="186"/>
                  <a:pt x="80" y="186"/>
                </a:cubicBezTo>
                <a:cubicBezTo>
                  <a:pt x="80" y="194"/>
                  <a:pt x="86" y="200"/>
                  <a:pt x="93" y="200"/>
                </a:cubicBezTo>
                <a:cubicBezTo>
                  <a:pt x="106" y="200"/>
                  <a:pt x="106" y="200"/>
                  <a:pt x="106" y="200"/>
                </a:cubicBezTo>
                <a:cubicBezTo>
                  <a:pt x="114" y="200"/>
                  <a:pt x="120" y="194"/>
                  <a:pt x="120" y="186"/>
                </a:cubicBezTo>
                <a:cubicBezTo>
                  <a:pt x="120" y="170"/>
                  <a:pt x="120" y="170"/>
                  <a:pt x="120" y="170"/>
                </a:cubicBezTo>
                <a:cubicBezTo>
                  <a:pt x="125" y="169"/>
                  <a:pt x="130" y="166"/>
                  <a:pt x="135" y="164"/>
                </a:cubicBezTo>
                <a:cubicBezTo>
                  <a:pt x="146" y="175"/>
                  <a:pt x="146" y="175"/>
                  <a:pt x="146" y="175"/>
                </a:cubicBezTo>
                <a:cubicBezTo>
                  <a:pt x="152" y="180"/>
                  <a:pt x="160" y="180"/>
                  <a:pt x="165" y="175"/>
                </a:cubicBezTo>
                <a:cubicBezTo>
                  <a:pt x="175" y="166"/>
                  <a:pt x="175" y="166"/>
                  <a:pt x="175" y="166"/>
                </a:cubicBezTo>
                <a:cubicBezTo>
                  <a:pt x="180" y="160"/>
                  <a:pt x="180" y="152"/>
                  <a:pt x="175" y="147"/>
                </a:cubicBezTo>
                <a:cubicBezTo>
                  <a:pt x="163" y="135"/>
                  <a:pt x="163" y="135"/>
                  <a:pt x="163" y="135"/>
                </a:cubicBezTo>
                <a:cubicBezTo>
                  <a:pt x="166" y="131"/>
                  <a:pt x="168" y="125"/>
                  <a:pt x="170" y="120"/>
                </a:cubicBezTo>
                <a:cubicBezTo>
                  <a:pt x="186" y="120"/>
                  <a:pt x="186" y="120"/>
                  <a:pt x="186" y="120"/>
                </a:cubicBezTo>
                <a:cubicBezTo>
                  <a:pt x="193" y="120"/>
                  <a:pt x="199" y="114"/>
                  <a:pt x="199" y="107"/>
                </a:cubicBezTo>
                <a:cubicBezTo>
                  <a:pt x="199" y="93"/>
                  <a:pt x="199" y="93"/>
                  <a:pt x="199" y="93"/>
                </a:cubicBezTo>
                <a:cubicBezTo>
                  <a:pt x="199" y="86"/>
                  <a:pt x="193" y="80"/>
                  <a:pt x="186" y="80"/>
                </a:cubicBezTo>
                <a:close/>
                <a:moveTo>
                  <a:pt x="100" y="140"/>
                </a:moveTo>
                <a:cubicBezTo>
                  <a:pt x="78" y="140"/>
                  <a:pt x="60" y="122"/>
                  <a:pt x="60" y="100"/>
                </a:cubicBezTo>
                <a:cubicBezTo>
                  <a:pt x="60" y="78"/>
                  <a:pt x="78" y="60"/>
                  <a:pt x="100" y="60"/>
                </a:cubicBezTo>
                <a:cubicBezTo>
                  <a:pt x="122" y="60"/>
                  <a:pt x="139" y="78"/>
                  <a:pt x="139" y="100"/>
                </a:cubicBezTo>
                <a:cubicBezTo>
                  <a:pt x="139" y="122"/>
                  <a:pt x="122" y="140"/>
                  <a:pt x="100" y="140"/>
                </a:cubicBezTo>
                <a:close/>
                <a:moveTo>
                  <a:pt x="100" y="80"/>
                </a:moveTo>
                <a:cubicBezTo>
                  <a:pt x="89" y="80"/>
                  <a:pt x="80" y="89"/>
                  <a:pt x="80" y="100"/>
                </a:cubicBezTo>
                <a:cubicBezTo>
                  <a:pt x="80" y="111"/>
                  <a:pt x="89" y="120"/>
                  <a:pt x="100" y="120"/>
                </a:cubicBezTo>
                <a:cubicBezTo>
                  <a:pt x="111" y="120"/>
                  <a:pt x="120" y="111"/>
                  <a:pt x="120" y="100"/>
                </a:cubicBezTo>
                <a:cubicBezTo>
                  <a:pt x="120" y="89"/>
                  <a:pt x="111" y="80"/>
                  <a:pt x="100" y="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048760" name="文本框 20"/>
          <p:cNvSpPr txBox="1"/>
          <p:nvPr/>
        </p:nvSpPr>
        <p:spPr>
          <a:xfrm>
            <a:off x="4575433" y="2057927"/>
            <a:ext cx="2272150" cy="8026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1200" lang="zh-CN"/>
              <a:t>实现子像素级的角色控制器（移动</a:t>
            </a:r>
            <a:r>
              <a:rPr altLang="zh-CN" dirty="0" sz="1200" lang="en-US"/>
              <a:t>/</a:t>
            </a:r>
            <a:r>
              <a:rPr altLang="en-US" dirty="0" sz="1200" lang="zh-CN"/>
              <a:t>跳跃</a:t>
            </a:r>
            <a:r>
              <a:rPr altLang="zh-CN" dirty="0" sz="1200" lang="en-US"/>
              <a:t>/</a:t>
            </a:r>
            <a:r>
              <a:rPr altLang="en-US" dirty="0" sz="1200" lang="zh-CN"/>
              <a:t>二段跳</a:t>
            </a:r>
            <a:r>
              <a:rPr altLang="zh-CN" dirty="0" sz="1200" lang="en-US"/>
              <a:t>/</a:t>
            </a:r>
            <a:r>
              <a:rPr altLang="en-US" dirty="0" sz="1200" lang="zh-CN"/>
              <a:t>冲刺</a:t>
            </a:r>
            <a:r>
              <a:rPr altLang="zh-CN" dirty="0" sz="1200" lang="en-US"/>
              <a:t>/</a:t>
            </a:r>
            <a:r>
              <a:rPr altLang="en-US" dirty="0" sz="1200" lang="zh-CN"/>
              <a:t>攻击），达到可测量的输入响应时间与稳定帧下的动作一致性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761" name="文本框 21"/>
          <p:cNvSpPr txBox="1"/>
          <p:nvPr/>
        </p:nvSpPr>
        <p:spPr>
          <a:xfrm>
            <a:off x="4870880" y="3020109"/>
            <a:ext cx="1865143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b="1" dirty="0" sz="2000" lang="zh-CN">
                <a:solidFill>
                  <a:srgbClr val="344F66"/>
                </a:solidFill>
                <a:cs typeface="+mn-ea"/>
              </a:rPr>
              <a:t>核心交互实现</a:t>
            </a:r>
            <a:endParaRPr altLang="en-US" b="1" dirty="0" sz="2000" lang="zh-CN">
              <a:solidFill>
                <a:srgbClr val="344F66"/>
              </a:solidFill>
              <a:cs typeface="+mn-ea"/>
              <a:sym typeface="+mn-lt"/>
            </a:endParaRPr>
          </a:p>
        </p:txBody>
      </p:sp>
      <p:sp>
        <p:nvSpPr>
          <p:cNvPr id="1048762" name="文本框 22"/>
          <p:cNvSpPr txBox="1"/>
          <p:nvPr/>
        </p:nvSpPr>
        <p:spPr>
          <a:xfrm>
            <a:off x="7422741" y="2057927"/>
            <a:ext cx="2272150" cy="8026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1200" lang="zh-CN"/>
              <a:t>使用 </a:t>
            </a:r>
            <a:r>
              <a:rPr altLang="zh-CN" dirty="0" sz="1200" lang="en-US"/>
              <a:t>Unity </a:t>
            </a:r>
            <a:r>
              <a:rPr altLang="zh-CN" dirty="0" sz="1200" lang="en-US" err="1"/>
              <a:t>Tilemap</a:t>
            </a:r>
            <a:r>
              <a:rPr altLang="zh-CN" dirty="0" sz="1200" lang="en-US"/>
              <a:t> </a:t>
            </a:r>
            <a:r>
              <a:rPr altLang="en-US" dirty="0" sz="1200" lang="zh-CN"/>
              <a:t>构建 </a:t>
            </a:r>
            <a:r>
              <a:rPr altLang="zh-CN" dirty="0" sz="1200" lang="en-US"/>
              <a:t>3~5 </a:t>
            </a:r>
            <a:r>
              <a:rPr altLang="en-US" dirty="0" sz="1200" lang="zh-CN"/>
              <a:t>个互通区域，设计能力门（需获得技能后才能通过）的地图连通性</a:t>
            </a:r>
            <a:endParaRPr altLang="zh-CN" dirty="0" sz="1200" lang="en-US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763" name="文本框 23"/>
          <p:cNvSpPr txBox="1"/>
          <p:nvPr/>
        </p:nvSpPr>
        <p:spPr>
          <a:xfrm>
            <a:off x="7579536" y="2838275"/>
            <a:ext cx="1469081" cy="707886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b="1" dirty="0" sz="2000" lang="zh-CN">
                <a:solidFill>
                  <a:srgbClr val="344F66"/>
                </a:solidFill>
                <a:cs typeface="+mn-ea"/>
              </a:rPr>
              <a:t>非线性关卡与解锁机制</a:t>
            </a:r>
            <a:endParaRPr altLang="en-US" b="1" dirty="0" sz="2000" lang="zh-CN">
              <a:solidFill>
                <a:srgbClr val="344F66"/>
              </a:solidFill>
              <a:cs typeface="+mn-ea"/>
              <a:sym typeface="+mn-lt"/>
            </a:endParaRPr>
          </a:p>
        </p:txBody>
      </p:sp>
      <p:sp>
        <p:nvSpPr>
          <p:cNvPr id="1048764" name="文本框 24"/>
          <p:cNvSpPr txBox="1"/>
          <p:nvPr/>
        </p:nvSpPr>
        <p:spPr>
          <a:xfrm>
            <a:off x="5699010" y="5342533"/>
            <a:ext cx="2441574" cy="8026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1200" lang="zh-CN"/>
              <a:t>实现基于</a:t>
            </a:r>
            <a:r>
              <a:rPr altLang="zh-CN" dirty="0" sz="1200" lang="en-US"/>
              <a:t>Behavior Tree </a:t>
            </a:r>
            <a:r>
              <a:rPr altLang="en-US" dirty="0" sz="1200" lang="zh-CN"/>
              <a:t>的敌人行为（巡逻</a:t>
            </a:r>
            <a:r>
              <a:rPr altLang="zh-CN" dirty="0" sz="1200" lang="en-US"/>
              <a:t>/</a:t>
            </a:r>
            <a:r>
              <a:rPr altLang="en-US" dirty="0" sz="1200" lang="zh-CN"/>
              <a:t>警戒</a:t>
            </a:r>
            <a:r>
              <a:rPr altLang="zh-CN" dirty="0" sz="1200" lang="en-US"/>
              <a:t>/</a:t>
            </a:r>
            <a:r>
              <a:rPr altLang="en-US" dirty="0" sz="1200" lang="zh-CN"/>
              <a:t>追击</a:t>
            </a:r>
            <a:r>
              <a:rPr altLang="zh-CN" dirty="0" sz="1200" lang="en-US"/>
              <a:t>/</a:t>
            </a:r>
            <a:r>
              <a:rPr altLang="en-US" dirty="0" sz="1200" lang="zh-CN"/>
              <a:t>远程</a:t>
            </a:r>
            <a:r>
              <a:rPr altLang="zh-CN" dirty="0" sz="1200" lang="en-US"/>
              <a:t>/Boss </a:t>
            </a:r>
            <a:r>
              <a:rPr altLang="en-US" dirty="0" sz="1200" lang="zh-CN"/>
              <a:t>模式），并用对战样本（若干战斗场景）评估 </a:t>
            </a:r>
            <a:r>
              <a:rPr altLang="zh-CN" dirty="0" sz="1200" lang="en-US"/>
              <a:t>AI </a:t>
            </a:r>
            <a:r>
              <a:rPr altLang="en-US" dirty="0" sz="1200" lang="zh-CN"/>
              <a:t>稳定性与挑战度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765" name="文本框 25"/>
          <p:cNvSpPr txBox="1"/>
          <p:nvPr/>
        </p:nvSpPr>
        <p:spPr>
          <a:xfrm>
            <a:off x="5674028" y="4915542"/>
            <a:ext cx="2444912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b="1" dirty="0" sz="2000" lang="zh-CN">
                <a:solidFill>
                  <a:srgbClr val="344F66"/>
                </a:solidFill>
                <a:cs typeface="+mn-ea"/>
              </a:rPr>
              <a:t>战斗系统与敌人 </a:t>
            </a:r>
            <a:r>
              <a:rPr altLang="zh-CN" b="1" dirty="0" sz="2000" lang="en-US">
                <a:solidFill>
                  <a:srgbClr val="344F66"/>
                </a:solidFill>
                <a:cs typeface="+mn-ea"/>
              </a:rPr>
              <a:t>AI</a:t>
            </a:r>
            <a:endParaRPr altLang="en-US" b="1" dirty="0" sz="2000" lang="zh-CN">
              <a:solidFill>
                <a:srgbClr val="344F66"/>
              </a:solidFill>
              <a:cs typeface="+mn-ea"/>
              <a:sym typeface="+mn-lt"/>
            </a:endParaRPr>
          </a:p>
        </p:txBody>
      </p:sp>
      <p:sp>
        <p:nvSpPr>
          <p:cNvPr id="1048766" name="文本框 26"/>
          <p:cNvSpPr txBox="1"/>
          <p:nvPr/>
        </p:nvSpPr>
        <p:spPr>
          <a:xfrm>
            <a:off x="8999414" y="5814394"/>
            <a:ext cx="1799472" cy="461665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1200" lang="zh-CN"/>
              <a:t>形成模块化 </a:t>
            </a:r>
            <a:r>
              <a:rPr altLang="zh-CN" dirty="0" sz="1200" lang="en-US"/>
              <a:t>Unity </a:t>
            </a:r>
            <a:r>
              <a:rPr altLang="en-US" dirty="0" sz="1200" lang="zh-CN"/>
              <a:t>项目技术文档与演示 </a:t>
            </a:r>
            <a:r>
              <a:rPr altLang="zh-CN" dirty="0" sz="1200" lang="en-US"/>
              <a:t>Demo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767" name="文本框 27"/>
          <p:cNvSpPr txBox="1"/>
          <p:nvPr/>
        </p:nvSpPr>
        <p:spPr>
          <a:xfrm>
            <a:off x="8893578" y="5417604"/>
            <a:ext cx="2251486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b="1" dirty="0" sz="2000" lang="zh-CN">
                <a:solidFill>
                  <a:srgbClr val="344F66"/>
                </a:solidFill>
                <a:cs typeface="+mn-ea"/>
              </a:rPr>
              <a:t>产出</a:t>
            </a:r>
            <a:r>
              <a:rPr altLang="zh-CN" b="1" dirty="0" sz="2000" lang="en-US">
                <a:solidFill>
                  <a:srgbClr val="344F66"/>
                </a:solidFill>
                <a:cs typeface="+mn-ea"/>
              </a:rPr>
              <a:t>demo</a:t>
            </a:r>
            <a:endParaRPr altLang="en-US" b="1" dirty="0" sz="2000" lang="zh-CN">
              <a:solidFill>
                <a:srgbClr val="344F66"/>
              </a:solidFill>
              <a:cs typeface="+mn-ea"/>
              <a:sym typeface="+mn-lt"/>
            </a:endParaRPr>
          </a:p>
        </p:txBody>
      </p:sp>
      <p:sp>
        <p:nvSpPr>
          <p:cNvPr id="1048768" name="TextBox 42"/>
          <p:cNvSpPr txBox="1"/>
          <p:nvPr/>
        </p:nvSpPr>
        <p:spPr>
          <a:xfrm>
            <a:off x="1311470" y="315858"/>
            <a:ext cx="3649369" cy="430887"/>
          </a:xfrm>
          <a:prstGeom prst="rect"/>
          <a:noFill/>
          <a:ln>
            <a:noFill/>
          </a:ln>
        </p:spPr>
        <p:txBody>
          <a:bodyPr anchor="t" anchorCtr="0" bIns="0" compatLnSpc="1" lIns="0" numCol="1" rIns="0" tIns="0" vert="horz" wrap="square">
            <a:spAutoFit/>
          </a:bodyPr>
          <a:lstStyle>
            <a:defPPr>
              <a:defRPr lang="zh-CN"/>
            </a:defPPr>
            <a:lvl1pPr defTabSz="914400" eaLnBrk="1" hangingPunct="1" indent="0" latinLnBrk="0" lvl="0" marL="0" marR="0">
              <a:lnSpc>
                <a:spcPct val="100000"/>
              </a:lnSpc>
              <a:buClrTx/>
              <a:buSzTx/>
              <a:buFontTx/>
              <a:buNone/>
              <a:defRPr baseline="0" b="1" cap="none" sz="2800" i="0" kumimoji="0" normalizeH="0" strike="noStrike" u="none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2.1 </a:t>
            </a:r>
            <a:r>
              <a:rPr altLang="en-US" b="0" dirty="0" lang="zh-CN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研究目标</a:t>
            </a:r>
          </a:p>
        </p:txBody>
      </p:sp>
      <p:sp>
        <p:nvSpPr>
          <p:cNvPr id="1048769" name="文本框 28"/>
          <p:cNvSpPr txBox="1"/>
          <p:nvPr/>
        </p:nvSpPr>
        <p:spPr>
          <a:xfrm>
            <a:off x="1803840" y="1043606"/>
            <a:ext cx="8784825" cy="830997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1600" lang="zh-CN"/>
              <a:t>基于 </a:t>
            </a:r>
            <a:r>
              <a:rPr altLang="zh-CN" dirty="0" sz="1600" lang="en-US"/>
              <a:t>Unity </a:t>
            </a:r>
            <a:r>
              <a:rPr altLang="en-US" dirty="0" sz="1600" lang="zh-CN"/>
              <a:t>引擎设计并实现一款具有战斗、探索、成长系统的类银河恶魔城游戏原型（</a:t>
            </a:r>
            <a:r>
              <a:rPr altLang="zh-CN" dirty="0" sz="1600" lang="en-US"/>
              <a:t>Demo</a:t>
            </a:r>
            <a:r>
              <a:rPr altLang="en-US" dirty="0" sz="1600" lang="zh-CN"/>
              <a:t>），通过查阅国内外相关游戏设计文献，提取类银河恶魔城游戏的关卡设计方法、探索奖励机制及难度曲线规律，为开发提供理论支撑。</a:t>
            </a:r>
            <a:endParaRPr altLang="en-US" dirty="0" sz="16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770" name="文本框 30"/>
          <p:cNvSpPr txBox="1"/>
          <p:nvPr/>
        </p:nvSpPr>
        <p:spPr>
          <a:xfrm>
            <a:off x="421351" y="1087532"/>
            <a:ext cx="1469081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b="1" dirty="0" sz="2000" lang="zh-CN">
                <a:solidFill>
                  <a:srgbClr val="344F66"/>
                </a:solidFill>
                <a:cs typeface="+mn-ea"/>
                <a:sym typeface="+mn-lt"/>
              </a:rPr>
              <a:t>总体目标</a:t>
            </a:r>
          </a:p>
        </p:txBody>
      </p:sp>
      <p:pic>
        <p:nvPicPr>
          <p:cNvPr id="2097184" name="图片 3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">
                            <p:stCondLst>
                              <p:cond delay="500"/>
                            </p:stCondLst>
                            <p:childTnLst>
                              <p:par>
                                <p:cTn fill="hold" id="12" nodeType="after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dur="500" id="14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dur="500" id="17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8" nodeType="with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dur="500" id="20"/>
                                        <p:tgtEl>
                                          <p:spTgt spid="104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21" nodeType="with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dur="500" id="23"/>
                                        <p:tgtEl>
                                          <p:spTgt spid="104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24" nodeType="with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dur="500" id="26"/>
                                        <p:tgtEl>
                                          <p:spTgt spid="104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7">
                            <p:stCondLst>
                              <p:cond delay="1000"/>
                            </p:stCondLst>
                            <p:childTnLst>
                              <p:par>
                                <p:cTn fill="hold" id="28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1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2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3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34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6"/>
                                        <p:tgtEl>
                                          <p:spTgt spid="1048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7"/>
                                        <p:tgtEl>
                                          <p:spTgt spid="1048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38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0"/>
                                        <p:tgtEl>
                                          <p:spTgt spid="1048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1"/>
                                        <p:tgtEl>
                                          <p:spTgt spid="1048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42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5"/>
                                        <p:tgtEl>
                                          <p:spTgt spid="1048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46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8"/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9"/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0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51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53"/>
                                        <p:tgtEl>
                                          <p:spTgt spid="104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4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56"/>
                                        <p:tgtEl>
                                          <p:spTgt spid="1048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7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59"/>
                                        <p:tgtEl>
                                          <p:spTgt spid="1048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60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62"/>
                                        <p:tgtEl>
                                          <p:spTgt spid="104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3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64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66"/>
                                        <p:tgtEl>
                                          <p:spTgt spid="104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7">
                            <p:stCondLst>
                              <p:cond delay="3000"/>
                            </p:stCondLst>
                            <p:childTnLst>
                              <p:par>
                                <p:cTn fill="hold" grpId="0" id="68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0"/>
                                        <p:tgtEl>
                                          <p:spTgt spid="1048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1"/>
                                        <p:tgtEl>
                                          <p:spTgt spid="1048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57" grpId="0" animBg="1"/>
      <p:bldP spid="1048758" grpId="0" animBg="1"/>
      <p:bldP spid="1048759" grpId="0" animBg="1"/>
      <p:bldP spid="1048760" grpId="0"/>
      <p:bldP spid="1048761" grpId="0"/>
      <p:bldP spid="1048762" grpId="0"/>
      <p:bldP spid="1048763" grpId="0"/>
      <p:bldP spid="1048764" grpId="0"/>
      <p:bldP spid="1048765" grpId="0"/>
      <p:bldP spid="1048766" grpId="0"/>
      <p:bldP spid="1048767" grpId="0"/>
      <p:bldP spid="1048768" grpId="0"/>
      <p:bldP spid="1048769" grpId="0"/>
      <p:bldP spid="10487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组合 22"/>
          <p:cNvGrpSpPr/>
          <p:nvPr/>
        </p:nvGrpSpPr>
        <p:grpSpPr>
          <a:xfrm>
            <a:off x="676211" y="2584748"/>
            <a:ext cx="3168118" cy="3007911"/>
            <a:chOff x="67090" y="2080407"/>
            <a:chExt cx="4190334" cy="3978435"/>
          </a:xfrm>
        </p:grpSpPr>
        <p:sp>
          <p:nvSpPr>
            <p:cNvPr id="1048771" name="Freeform 5"/>
            <p:cNvSpPr>
              <a:spLocks noEditPoints="1"/>
            </p:cNvSpPr>
            <p:nvPr/>
          </p:nvSpPr>
          <p:spPr bwMode="auto">
            <a:xfrm>
              <a:off x="543264" y="4927928"/>
              <a:ext cx="190469" cy="2381"/>
            </a:xfrm>
            <a:custGeom>
              <a:avLst/>
              <a:ahLst/>
              <a:cxnLst>
                <a:cxn ang="0">
                  <a:pos x="80" y="0"/>
                </a:cxn>
                <a:cxn ang="0">
                  <a:pos x="78" y="0"/>
                </a:cxn>
                <a:cxn ang="0">
                  <a:pos x="80" y="0"/>
                </a:cxn>
                <a:cxn ang="0">
                  <a:pos x="8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0">
                  <a:moveTo>
                    <a:pt x="80" y="0"/>
                  </a:moveTo>
                  <a:lnTo>
                    <a:pt x="78" y="0"/>
                  </a:lnTo>
                  <a:lnTo>
                    <a:pt x="80" y="0"/>
                  </a:lnTo>
                  <a:lnTo>
                    <a:pt x="8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EA596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72" name="Freeform 6"/>
            <p:cNvSpPr/>
            <p:nvPr/>
          </p:nvSpPr>
          <p:spPr bwMode="auto">
            <a:xfrm>
              <a:off x="2126544" y="2080407"/>
              <a:ext cx="852352" cy="1204721"/>
            </a:xfrm>
            <a:custGeom>
              <a:avLst/>
              <a:ahLst/>
              <a:cxnLst>
                <a:cxn ang="0">
                  <a:pos x="183" y="260"/>
                </a:cxn>
                <a:cxn ang="0">
                  <a:pos x="119" y="260"/>
                </a:cxn>
                <a:cxn ang="0">
                  <a:pos x="124" y="244"/>
                </a:cxn>
                <a:cxn ang="0">
                  <a:pos x="115" y="223"/>
                </a:cxn>
                <a:cxn ang="0">
                  <a:pos x="95" y="215"/>
                </a:cxn>
                <a:cxn ang="0">
                  <a:pos x="76" y="222"/>
                </a:cxn>
                <a:cxn ang="0">
                  <a:pos x="74" y="223"/>
                </a:cxn>
                <a:cxn ang="0">
                  <a:pos x="66" y="244"/>
                </a:cxn>
                <a:cxn ang="0">
                  <a:pos x="71" y="260"/>
                </a:cxn>
                <a:cxn ang="0">
                  <a:pos x="0" y="260"/>
                </a:cxn>
                <a:cxn ang="0">
                  <a:pos x="11" y="226"/>
                </a:cxn>
                <a:cxn ang="0">
                  <a:pos x="31" y="92"/>
                </a:cxn>
                <a:cxn ang="0">
                  <a:pos x="63" y="0"/>
                </a:cxn>
                <a:cxn ang="0">
                  <a:pos x="167" y="92"/>
                </a:cxn>
                <a:cxn ang="0">
                  <a:pos x="184" y="226"/>
                </a:cxn>
                <a:cxn ang="0">
                  <a:pos x="183" y="260"/>
                </a:cxn>
              </a:cxnLst>
              <a:rect l="0" t="0" r="r" b="b"/>
              <a:pathLst>
                <a:path w="184" h="260">
                  <a:moveTo>
                    <a:pt x="183" y="260"/>
                  </a:moveTo>
                  <a:cubicBezTo>
                    <a:pt x="119" y="260"/>
                    <a:pt x="119" y="260"/>
                    <a:pt x="119" y="260"/>
                  </a:cubicBezTo>
                  <a:cubicBezTo>
                    <a:pt x="122" y="255"/>
                    <a:pt x="124" y="250"/>
                    <a:pt x="124" y="244"/>
                  </a:cubicBezTo>
                  <a:cubicBezTo>
                    <a:pt x="124" y="236"/>
                    <a:pt x="121" y="229"/>
                    <a:pt x="115" y="223"/>
                  </a:cubicBezTo>
                  <a:cubicBezTo>
                    <a:pt x="110" y="218"/>
                    <a:pt x="103" y="215"/>
                    <a:pt x="95" y="215"/>
                  </a:cubicBezTo>
                  <a:cubicBezTo>
                    <a:pt x="87" y="215"/>
                    <a:pt x="81" y="217"/>
                    <a:pt x="76" y="222"/>
                  </a:cubicBezTo>
                  <a:cubicBezTo>
                    <a:pt x="75" y="222"/>
                    <a:pt x="75" y="223"/>
                    <a:pt x="74" y="223"/>
                  </a:cubicBezTo>
                  <a:cubicBezTo>
                    <a:pt x="69" y="229"/>
                    <a:pt x="66" y="236"/>
                    <a:pt x="66" y="244"/>
                  </a:cubicBezTo>
                  <a:cubicBezTo>
                    <a:pt x="66" y="250"/>
                    <a:pt x="67" y="255"/>
                    <a:pt x="71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4" y="249"/>
                    <a:pt x="8" y="237"/>
                    <a:pt x="11" y="226"/>
                  </a:cubicBezTo>
                  <a:cubicBezTo>
                    <a:pt x="25" y="181"/>
                    <a:pt x="31" y="136"/>
                    <a:pt x="31" y="92"/>
                  </a:cubicBezTo>
                  <a:cubicBezTo>
                    <a:pt x="24" y="32"/>
                    <a:pt x="35" y="1"/>
                    <a:pt x="63" y="0"/>
                  </a:cubicBezTo>
                  <a:cubicBezTo>
                    <a:pt x="114" y="6"/>
                    <a:pt x="148" y="37"/>
                    <a:pt x="167" y="92"/>
                  </a:cubicBezTo>
                  <a:cubicBezTo>
                    <a:pt x="179" y="128"/>
                    <a:pt x="184" y="173"/>
                    <a:pt x="184" y="226"/>
                  </a:cubicBezTo>
                  <a:cubicBezTo>
                    <a:pt x="184" y="237"/>
                    <a:pt x="184" y="248"/>
                    <a:pt x="183" y="260"/>
                  </a:cubicBezTo>
                  <a:close/>
                </a:path>
              </a:pathLst>
            </a:custGeom>
            <a:solidFill>
              <a:srgbClr val="344F66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73" name="Freeform 7"/>
            <p:cNvSpPr>
              <a:spLocks noEditPoints="1"/>
            </p:cNvSpPr>
            <p:nvPr/>
          </p:nvSpPr>
          <p:spPr bwMode="auto">
            <a:xfrm>
              <a:off x="1205146" y="3075610"/>
              <a:ext cx="1768988" cy="1342811"/>
            </a:xfrm>
            <a:custGeom>
              <a:avLst/>
              <a:ahLst/>
              <a:cxnLst>
                <a:cxn ang="0">
                  <a:pos x="372" y="145"/>
                </a:cxn>
                <a:cxn ang="0">
                  <a:pos x="372" y="184"/>
                </a:cxn>
                <a:cxn ang="0">
                  <a:pos x="353" y="191"/>
                </a:cxn>
                <a:cxn ang="0">
                  <a:pos x="351" y="193"/>
                </a:cxn>
                <a:cxn ang="0">
                  <a:pos x="343" y="213"/>
                </a:cxn>
                <a:cxn ang="0">
                  <a:pos x="351" y="234"/>
                </a:cxn>
                <a:cxn ang="0">
                  <a:pos x="353" y="235"/>
                </a:cxn>
                <a:cxn ang="0">
                  <a:pos x="372" y="242"/>
                </a:cxn>
                <a:cxn ang="0">
                  <a:pos x="372" y="273"/>
                </a:cxn>
                <a:cxn ang="0">
                  <a:pos x="372" y="290"/>
                </a:cxn>
                <a:cxn ang="0">
                  <a:pos x="353" y="290"/>
                </a:cxn>
                <a:cxn ang="0">
                  <a:pos x="280" y="290"/>
                </a:cxn>
                <a:cxn ang="0">
                  <a:pos x="284" y="287"/>
                </a:cxn>
                <a:cxn ang="0">
                  <a:pos x="293" y="266"/>
                </a:cxn>
                <a:cxn ang="0">
                  <a:pos x="284" y="246"/>
                </a:cxn>
                <a:cxn ang="0">
                  <a:pos x="264" y="237"/>
                </a:cxn>
                <a:cxn ang="0">
                  <a:pos x="243" y="246"/>
                </a:cxn>
                <a:cxn ang="0">
                  <a:pos x="235" y="266"/>
                </a:cxn>
                <a:cxn ang="0">
                  <a:pos x="243" y="287"/>
                </a:cxn>
                <a:cxn ang="0">
                  <a:pos x="247" y="290"/>
                </a:cxn>
                <a:cxn ang="0">
                  <a:pos x="162" y="290"/>
                </a:cxn>
                <a:cxn ang="0">
                  <a:pos x="100" y="290"/>
                </a:cxn>
                <a:cxn ang="0">
                  <a:pos x="104" y="287"/>
                </a:cxn>
                <a:cxn ang="0">
                  <a:pos x="112" y="266"/>
                </a:cxn>
                <a:cxn ang="0">
                  <a:pos x="104" y="246"/>
                </a:cxn>
                <a:cxn ang="0">
                  <a:pos x="83" y="237"/>
                </a:cxn>
                <a:cxn ang="0">
                  <a:pos x="63" y="246"/>
                </a:cxn>
                <a:cxn ang="0">
                  <a:pos x="54" y="266"/>
                </a:cxn>
                <a:cxn ang="0">
                  <a:pos x="63" y="287"/>
                </a:cxn>
                <a:cxn ang="0">
                  <a:pos x="67" y="290"/>
                </a:cxn>
                <a:cxn ang="0">
                  <a:pos x="0" y="290"/>
                </a:cxn>
                <a:cxn ang="0">
                  <a:pos x="0" y="225"/>
                </a:cxn>
                <a:cxn ang="0">
                  <a:pos x="157" y="134"/>
                </a:cxn>
                <a:cxn ang="0">
                  <a:pos x="199" y="45"/>
                </a:cxn>
                <a:cxn ang="0">
                  <a:pos x="270" y="45"/>
                </a:cxn>
                <a:cxn ang="0">
                  <a:pos x="265" y="29"/>
                </a:cxn>
                <a:cxn ang="0">
                  <a:pos x="273" y="8"/>
                </a:cxn>
                <a:cxn ang="0">
                  <a:pos x="275" y="7"/>
                </a:cxn>
                <a:cxn ang="0">
                  <a:pos x="294" y="0"/>
                </a:cxn>
                <a:cxn ang="0">
                  <a:pos x="314" y="8"/>
                </a:cxn>
                <a:cxn ang="0">
                  <a:pos x="323" y="29"/>
                </a:cxn>
                <a:cxn ang="0">
                  <a:pos x="318" y="45"/>
                </a:cxn>
                <a:cxn ang="0">
                  <a:pos x="382" y="45"/>
                </a:cxn>
                <a:cxn ang="0">
                  <a:pos x="372" y="145"/>
                </a:cxn>
                <a:cxn ang="0">
                  <a:pos x="353" y="278"/>
                </a:cxn>
                <a:cxn ang="0">
                  <a:pos x="353" y="277"/>
                </a:cxn>
                <a:cxn ang="0">
                  <a:pos x="352" y="278"/>
                </a:cxn>
                <a:cxn ang="0">
                  <a:pos x="353" y="278"/>
                </a:cxn>
              </a:cxnLst>
              <a:rect l="0" t="0" r="r" b="b"/>
              <a:pathLst>
                <a:path w="382" h="290">
                  <a:moveTo>
                    <a:pt x="372" y="145"/>
                  </a:moveTo>
                  <a:cubicBezTo>
                    <a:pt x="372" y="184"/>
                    <a:pt x="372" y="184"/>
                    <a:pt x="372" y="184"/>
                  </a:cubicBezTo>
                  <a:cubicBezTo>
                    <a:pt x="365" y="184"/>
                    <a:pt x="358" y="187"/>
                    <a:pt x="353" y="191"/>
                  </a:cubicBezTo>
                  <a:cubicBezTo>
                    <a:pt x="352" y="192"/>
                    <a:pt x="352" y="192"/>
                    <a:pt x="351" y="193"/>
                  </a:cubicBezTo>
                  <a:cubicBezTo>
                    <a:pt x="346" y="198"/>
                    <a:pt x="343" y="205"/>
                    <a:pt x="343" y="213"/>
                  </a:cubicBezTo>
                  <a:cubicBezTo>
                    <a:pt x="343" y="221"/>
                    <a:pt x="346" y="228"/>
                    <a:pt x="351" y="234"/>
                  </a:cubicBezTo>
                  <a:cubicBezTo>
                    <a:pt x="352" y="234"/>
                    <a:pt x="352" y="235"/>
                    <a:pt x="353" y="235"/>
                  </a:cubicBezTo>
                  <a:cubicBezTo>
                    <a:pt x="358" y="240"/>
                    <a:pt x="365" y="242"/>
                    <a:pt x="372" y="242"/>
                  </a:cubicBezTo>
                  <a:cubicBezTo>
                    <a:pt x="372" y="273"/>
                    <a:pt x="372" y="273"/>
                    <a:pt x="372" y="273"/>
                  </a:cubicBezTo>
                  <a:cubicBezTo>
                    <a:pt x="372" y="290"/>
                    <a:pt x="372" y="290"/>
                    <a:pt x="372" y="290"/>
                  </a:cubicBezTo>
                  <a:cubicBezTo>
                    <a:pt x="353" y="290"/>
                    <a:pt x="353" y="290"/>
                    <a:pt x="353" y="290"/>
                  </a:cubicBezTo>
                  <a:cubicBezTo>
                    <a:pt x="280" y="290"/>
                    <a:pt x="280" y="290"/>
                    <a:pt x="280" y="290"/>
                  </a:cubicBezTo>
                  <a:cubicBezTo>
                    <a:pt x="281" y="289"/>
                    <a:pt x="283" y="288"/>
                    <a:pt x="284" y="287"/>
                  </a:cubicBezTo>
                  <a:cubicBezTo>
                    <a:pt x="290" y="281"/>
                    <a:pt x="293" y="274"/>
                    <a:pt x="293" y="266"/>
                  </a:cubicBezTo>
                  <a:cubicBezTo>
                    <a:pt x="293" y="258"/>
                    <a:pt x="290" y="252"/>
                    <a:pt x="284" y="246"/>
                  </a:cubicBezTo>
                  <a:cubicBezTo>
                    <a:pt x="278" y="240"/>
                    <a:pt x="272" y="237"/>
                    <a:pt x="264" y="237"/>
                  </a:cubicBezTo>
                  <a:cubicBezTo>
                    <a:pt x="256" y="237"/>
                    <a:pt x="249" y="240"/>
                    <a:pt x="243" y="246"/>
                  </a:cubicBezTo>
                  <a:cubicBezTo>
                    <a:pt x="237" y="252"/>
                    <a:pt x="235" y="258"/>
                    <a:pt x="235" y="266"/>
                  </a:cubicBezTo>
                  <a:cubicBezTo>
                    <a:pt x="235" y="274"/>
                    <a:pt x="237" y="281"/>
                    <a:pt x="243" y="287"/>
                  </a:cubicBezTo>
                  <a:cubicBezTo>
                    <a:pt x="244" y="288"/>
                    <a:pt x="246" y="289"/>
                    <a:pt x="247" y="290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00" y="290"/>
                    <a:pt x="100" y="290"/>
                    <a:pt x="100" y="290"/>
                  </a:cubicBezTo>
                  <a:cubicBezTo>
                    <a:pt x="101" y="289"/>
                    <a:pt x="103" y="288"/>
                    <a:pt x="104" y="287"/>
                  </a:cubicBezTo>
                  <a:cubicBezTo>
                    <a:pt x="110" y="281"/>
                    <a:pt x="112" y="274"/>
                    <a:pt x="112" y="266"/>
                  </a:cubicBezTo>
                  <a:cubicBezTo>
                    <a:pt x="112" y="258"/>
                    <a:pt x="110" y="252"/>
                    <a:pt x="104" y="246"/>
                  </a:cubicBezTo>
                  <a:cubicBezTo>
                    <a:pt x="98" y="240"/>
                    <a:pt x="91" y="237"/>
                    <a:pt x="83" y="237"/>
                  </a:cubicBezTo>
                  <a:cubicBezTo>
                    <a:pt x="75" y="237"/>
                    <a:pt x="69" y="240"/>
                    <a:pt x="63" y="246"/>
                  </a:cubicBezTo>
                  <a:cubicBezTo>
                    <a:pt x="57" y="252"/>
                    <a:pt x="54" y="258"/>
                    <a:pt x="54" y="266"/>
                  </a:cubicBezTo>
                  <a:cubicBezTo>
                    <a:pt x="54" y="274"/>
                    <a:pt x="57" y="281"/>
                    <a:pt x="63" y="287"/>
                  </a:cubicBezTo>
                  <a:cubicBezTo>
                    <a:pt x="64" y="288"/>
                    <a:pt x="65" y="289"/>
                    <a:pt x="67" y="290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77" y="219"/>
                    <a:pt x="129" y="188"/>
                    <a:pt x="157" y="134"/>
                  </a:cubicBezTo>
                  <a:cubicBezTo>
                    <a:pt x="174" y="104"/>
                    <a:pt x="188" y="74"/>
                    <a:pt x="199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66" y="40"/>
                    <a:pt x="265" y="35"/>
                    <a:pt x="265" y="29"/>
                  </a:cubicBezTo>
                  <a:cubicBezTo>
                    <a:pt x="265" y="21"/>
                    <a:pt x="268" y="14"/>
                    <a:pt x="273" y="8"/>
                  </a:cubicBezTo>
                  <a:cubicBezTo>
                    <a:pt x="274" y="8"/>
                    <a:pt x="274" y="7"/>
                    <a:pt x="275" y="7"/>
                  </a:cubicBezTo>
                  <a:cubicBezTo>
                    <a:pt x="280" y="2"/>
                    <a:pt x="286" y="0"/>
                    <a:pt x="294" y="0"/>
                  </a:cubicBezTo>
                  <a:cubicBezTo>
                    <a:pt x="302" y="0"/>
                    <a:pt x="309" y="3"/>
                    <a:pt x="314" y="8"/>
                  </a:cubicBezTo>
                  <a:cubicBezTo>
                    <a:pt x="320" y="14"/>
                    <a:pt x="323" y="21"/>
                    <a:pt x="323" y="29"/>
                  </a:cubicBezTo>
                  <a:cubicBezTo>
                    <a:pt x="323" y="35"/>
                    <a:pt x="321" y="40"/>
                    <a:pt x="318" y="45"/>
                  </a:cubicBezTo>
                  <a:cubicBezTo>
                    <a:pt x="382" y="45"/>
                    <a:pt x="382" y="45"/>
                    <a:pt x="382" y="45"/>
                  </a:cubicBezTo>
                  <a:cubicBezTo>
                    <a:pt x="380" y="76"/>
                    <a:pt x="377" y="109"/>
                    <a:pt x="372" y="145"/>
                  </a:cubicBezTo>
                  <a:close/>
                  <a:moveTo>
                    <a:pt x="353" y="278"/>
                  </a:moveTo>
                  <a:cubicBezTo>
                    <a:pt x="353" y="277"/>
                    <a:pt x="353" y="277"/>
                    <a:pt x="353" y="277"/>
                  </a:cubicBezTo>
                  <a:cubicBezTo>
                    <a:pt x="353" y="277"/>
                    <a:pt x="352" y="277"/>
                    <a:pt x="352" y="278"/>
                  </a:cubicBezTo>
                  <a:lnTo>
                    <a:pt x="353" y="278"/>
                  </a:lnTo>
                  <a:close/>
                </a:path>
              </a:pathLst>
            </a:custGeom>
            <a:solidFill>
              <a:srgbClr val="344F66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74" name="Freeform 8"/>
            <p:cNvSpPr/>
            <p:nvPr/>
          </p:nvSpPr>
          <p:spPr bwMode="auto">
            <a:xfrm>
              <a:off x="67090" y="3618449"/>
              <a:ext cx="1371381" cy="1538043"/>
            </a:xfrm>
            <a:custGeom>
              <a:avLst/>
              <a:ahLst/>
              <a:cxnLst>
                <a:cxn ang="0">
                  <a:pos x="246" y="108"/>
                </a:cxn>
                <a:cxn ang="0">
                  <a:pos x="246" y="173"/>
                </a:cxn>
                <a:cxn ang="0">
                  <a:pos x="246" y="219"/>
                </a:cxn>
                <a:cxn ang="0">
                  <a:pos x="247" y="219"/>
                </a:cxn>
                <a:cxn ang="0">
                  <a:pos x="267" y="211"/>
                </a:cxn>
                <a:cxn ang="0">
                  <a:pos x="288" y="219"/>
                </a:cxn>
                <a:cxn ang="0">
                  <a:pos x="296" y="240"/>
                </a:cxn>
                <a:cxn ang="0">
                  <a:pos x="288" y="260"/>
                </a:cxn>
                <a:cxn ang="0">
                  <a:pos x="284" y="263"/>
                </a:cxn>
                <a:cxn ang="0">
                  <a:pos x="267" y="269"/>
                </a:cxn>
                <a:cxn ang="0">
                  <a:pos x="251" y="263"/>
                </a:cxn>
                <a:cxn ang="0">
                  <a:pos x="247" y="260"/>
                </a:cxn>
                <a:cxn ang="0">
                  <a:pos x="246" y="260"/>
                </a:cxn>
                <a:cxn ang="0">
                  <a:pos x="246" y="283"/>
                </a:cxn>
                <a:cxn ang="0">
                  <a:pos x="144" y="283"/>
                </a:cxn>
                <a:cxn ang="0">
                  <a:pos x="143" y="283"/>
                </a:cxn>
                <a:cxn ang="0">
                  <a:pos x="144" y="283"/>
                </a:cxn>
                <a:cxn ang="0">
                  <a:pos x="152" y="303"/>
                </a:cxn>
                <a:cxn ang="0">
                  <a:pos x="144" y="324"/>
                </a:cxn>
                <a:cxn ang="0">
                  <a:pos x="123" y="332"/>
                </a:cxn>
                <a:cxn ang="0">
                  <a:pos x="103" y="324"/>
                </a:cxn>
                <a:cxn ang="0">
                  <a:pos x="94" y="303"/>
                </a:cxn>
                <a:cxn ang="0">
                  <a:pos x="103" y="283"/>
                </a:cxn>
                <a:cxn ang="0">
                  <a:pos x="103" y="283"/>
                </a:cxn>
                <a:cxn ang="0">
                  <a:pos x="103" y="283"/>
                </a:cxn>
                <a:cxn ang="0">
                  <a:pos x="0" y="283"/>
                </a:cxn>
                <a:cxn ang="0">
                  <a:pos x="0" y="48"/>
                </a:cxn>
                <a:cxn ang="0">
                  <a:pos x="48" y="0"/>
                </a:cxn>
                <a:cxn ang="0">
                  <a:pos x="198" y="0"/>
                </a:cxn>
                <a:cxn ang="0">
                  <a:pos x="246" y="48"/>
                </a:cxn>
                <a:cxn ang="0">
                  <a:pos x="246" y="108"/>
                </a:cxn>
              </a:cxnLst>
              <a:rect l="0" t="0" r="r" b="b"/>
              <a:pathLst>
                <a:path w="296" h="332">
                  <a:moveTo>
                    <a:pt x="246" y="108"/>
                  </a:moveTo>
                  <a:cubicBezTo>
                    <a:pt x="246" y="173"/>
                    <a:pt x="246" y="173"/>
                    <a:pt x="246" y="173"/>
                  </a:cubicBezTo>
                  <a:cubicBezTo>
                    <a:pt x="246" y="219"/>
                    <a:pt x="246" y="219"/>
                    <a:pt x="246" y="219"/>
                  </a:cubicBezTo>
                  <a:cubicBezTo>
                    <a:pt x="246" y="219"/>
                    <a:pt x="247" y="219"/>
                    <a:pt x="247" y="219"/>
                  </a:cubicBezTo>
                  <a:cubicBezTo>
                    <a:pt x="252" y="213"/>
                    <a:pt x="259" y="211"/>
                    <a:pt x="267" y="211"/>
                  </a:cubicBezTo>
                  <a:cubicBezTo>
                    <a:pt x="275" y="211"/>
                    <a:pt x="282" y="213"/>
                    <a:pt x="288" y="219"/>
                  </a:cubicBezTo>
                  <a:cubicBezTo>
                    <a:pt x="293" y="225"/>
                    <a:pt x="296" y="232"/>
                    <a:pt x="296" y="240"/>
                  </a:cubicBezTo>
                  <a:cubicBezTo>
                    <a:pt x="296" y="248"/>
                    <a:pt x="293" y="254"/>
                    <a:pt x="288" y="260"/>
                  </a:cubicBezTo>
                  <a:cubicBezTo>
                    <a:pt x="286" y="261"/>
                    <a:pt x="285" y="262"/>
                    <a:pt x="284" y="263"/>
                  </a:cubicBezTo>
                  <a:cubicBezTo>
                    <a:pt x="279" y="267"/>
                    <a:pt x="273" y="269"/>
                    <a:pt x="267" y="269"/>
                  </a:cubicBezTo>
                  <a:cubicBezTo>
                    <a:pt x="261" y="269"/>
                    <a:pt x="255" y="267"/>
                    <a:pt x="251" y="263"/>
                  </a:cubicBezTo>
                  <a:cubicBezTo>
                    <a:pt x="249" y="262"/>
                    <a:pt x="248" y="261"/>
                    <a:pt x="247" y="260"/>
                  </a:cubicBezTo>
                  <a:cubicBezTo>
                    <a:pt x="247" y="260"/>
                    <a:pt x="246" y="260"/>
                    <a:pt x="246" y="260"/>
                  </a:cubicBezTo>
                  <a:cubicBezTo>
                    <a:pt x="246" y="283"/>
                    <a:pt x="246" y="283"/>
                    <a:pt x="246" y="283"/>
                  </a:cubicBezTo>
                  <a:cubicBezTo>
                    <a:pt x="144" y="283"/>
                    <a:pt x="144" y="283"/>
                    <a:pt x="144" y="283"/>
                  </a:cubicBezTo>
                  <a:cubicBezTo>
                    <a:pt x="143" y="283"/>
                    <a:pt x="143" y="283"/>
                    <a:pt x="143" y="283"/>
                  </a:cubicBezTo>
                  <a:cubicBezTo>
                    <a:pt x="144" y="283"/>
                    <a:pt x="144" y="283"/>
                    <a:pt x="144" y="283"/>
                  </a:cubicBezTo>
                  <a:cubicBezTo>
                    <a:pt x="149" y="289"/>
                    <a:pt x="152" y="295"/>
                    <a:pt x="152" y="303"/>
                  </a:cubicBezTo>
                  <a:cubicBezTo>
                    <a:pt x="152" y="311"/>
                    <a:pt x="149" y="318"/>
                    <a:pt x="144" y="324"/>
                  </a:cubicBezTo>
                  <a:cubicBezTo>
                    <a:pt x="138" y="330"/>
                    <a:pt x="131" y="332"/>
                    <a:pt x="123" y="332"/>
                  </a:cubicBezTo>
                  <a:cubicBezTo>
                    <a:pt x="115" y="332"/>
                    <a:pt x="108" y="330"/>
                    <a:pt x="103" y="324"/>
                  </a:cubicBezTo>
                  <a:cubicBezTo>
                    <a:pt x="97" y="318"/>
                    <a:pt x="94" y="311"/>
                    <a:pt x="94" y="303"/>
                  </a:cubicBezTo>
                  <a:cubicBezTo>
                    <a:pt x="94" y="295"/>
                    <a:pt x="97" y="289"/>
                    <a:pt x="103" y="283"/>
                  </a:cubicBezTo>
                  <a:cubicBezTo>
                    <a:pt x="103" y="283"/>
                    <a:pt x="103" y="283"/>
                    <a:pt x="103" y="283"/>
                  </a:cubicBezTo>
                  <a:cubicBezTo>
                    <a:pt x="103" y="283"/>
                    <a:pt x="103" y="283"/>
                    <a:pt x="103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16"/>
                    <a:pt x="16" y="0"/>
                    <a:pt x="4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30" y="0"/>
                    <a:pt x="246" y="16"/>
                    <a:pt x="246" y="48"/>
                  </a:cubicBezTo>
                  <a:lnTo>
                    <a:pt x="246" y="108"/>
                  </a:lnTo>
                  <a:close/>
                </a:path>
              </a:pathLst>
            </a:custGeom>
            <a:solidFill>
              <a:srgbClr val="CF3B4C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75" name="Freeform 9"/>
            <p:cNvSpPr/>
            <p:nvPr/>
          </p:nvSpPr>
          <p:spPr bwMode="auto">
            <a:xfrm>
              <a:off x="67090" y="4927927"/>
              <a:ext cx="1371381" cy="1130915"/>
            </a:xfrm>
            <a:custGeom>
              <a:avLst/>
              <a:ahLst/>
              <a:cxnLst>
                <a:cxn ang="0">
                  <a:pos x="103" y="0"/>
                </a:cxn>
                <a:cxn ang="0">
                  <a:pos x="103" y="0"/>
                </a:cxn>
                <a:cxn ang="0">
                  <a:pos x="94" y="20"/>
                </a:cxn>
                <a:cxn ang="0">
                  <a:pos x="103" y="41"/>
                </a:cxn>
                <a:cxn ang="0">
                  <a:pos x="123" y="49"/>
                </a:cxn>
                <a:cxn ang="0">
                  <a:pos x="144" y="41"/>
                </a:cxn>
                <a:cxn ang="0">
                  <a:pos x="152" y="20"/>
                </a:cxn>
                <a:cxn ang="0">
                  <a:pos x="144" y="0"/>
                </a:cxn>
                <a:cxn ang="0">
                  <a:pos x="144" y="0"/>
                </a:cxn>
                <a:cxn ang="0">
                  <a:pos x="246" y="0"/>
                </a:cxn>
                <a:cxn ang="0">
                  <a:pos x="246" y="58"/>
                </a:cxn>
                <a:cxn ang="0">
                  <a:pos x="247" y="58"/>
                </a:cxn>
                <a:cxn ang="0">
                  <a:pos x="267" y="50"/>
                </a:cxn>
                <a:cxn ang="0">
                  <a:pos x="288" y="58"/>
                </a:cxn>
                <a:cxn ang="0">
                  <a:pos x="296" y="79"/>
                </a:cxn>
                <a:cxn ang="0">
                  <a:pos x="288" y="99"/>
                </a:cxn>
                <a:cxn ang="0">
                  <a:pos x="284" y="103"/>
                </a:cxn>
                <a:cxn ang="0">
                  <a:pos x="267" y="108"/>
                </a:cxn>
                <a:cxn ang="0">
                  <a:pos x="251" y="103"/>
                </a:cxn>
                <a:cxn ang="0">
                  <a:pos x="247" y="99"/>
                </a:cxn>
                <a:cxn ang="0">
                  <a:pos x="246" y="99"/>
                </a:cxn>
                <a:cxn ang="0">
                  <a:pos x="246" y="103"/>
                </a:cxn>
                <a:cxn ang="0">
                  <a:pos x="246" y="155"/>
                </a:cxn>
                <a:cxn ang="0">
                  <a:pos x="246" y="196"/>
                </a:cxn>
                <a:cxn ang="0">
                  <a:pos x="198" y="244"/>
                </a:cxn>
                <a:cxn ang="0">
                  <a:pos x="48" y="244"/>
                </a:cxn>
                <a:cxn ang="0">
                  <a:pos x="0" y="196"/>
                </a:cxn>
                <a:cxn ang="0">
                  <a:pos x="0" y="0"/>
                </a:cxn>
                <a:cxn ang="0">
                  <a:pos x="103" y="0"/>
                </a:cxn>
              </a:cxnLst>
              <a:rect l="0" t="0" r="r" b="b"/>
              <a:pathLst>
                <a:path w="296" h="244">
                  <a:moveTo>
                    <a:pt x="103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97" y="6"/>
                    <a:pt x="94" y="12"/>
                    <a:pt x="94" y="20"/>
                  </a:cubicBezTo>
                  <a:cubicBezTo>
                    <a:pt x="94" y="28"/>
                    <a:pt x="97" y="35"/>
                    <a:pt x="103" y="41"/>
                  </a:cubicBezTo>
                  <a:cubicBezTo>
                    <a:pt x="108" y="47"/>
                    <a:pt x="115" y="49"/>
                    <a:pt x="123" y="49"/>
                  </a:cubicBezTo>
                  <a:cubicBezTo>
                    <a:pt x="131" y="49"/>
                    <a:pt x="138" y="47"/>
                    <a:pt x="144" y="41"/>
                  </a:cubicBezTo>
                  <a:cubicBezTo>
                    <a:pt x="149" y="35"/>
                    <a:pt x="152" y="28"/>
                    <a:pt x="152" y="20"/>
                  </a:cubicBezTo>
                  <a:cubicBezTo>
                    <a:pt x="152" y="12"/>
                    <a:pt x="149" y="6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46" y="58"/>
                    <a:pt x="246" y="58"/>
                    <a:pt x="246" y="58"/>
                  </a:cubicBezTo>
                  <a:cubicBezTo>
                    <a:pt x="246" y="58"/>
                    <a:pt x="247" y="58"/>
                    <a:pt x="247" y="58"/>
                  </a:cubicBezTo>
                  <a:cubicBezTo>
                    <a:pt x="252" y="53"/>
                    <a:pt x="259" y="50"/>
                    <a:pt x="267" y="50"/>
                  </a:cubicBezTo>
                  <a:cubicBezTo>
                    <a:pt x="275" y="50"/>
                    <a:pt x="282" y="53"/>
                    <a:pt x="288" y="58"/>
                  </a:cubicBezTo>
                  <a:cubicBezTo>
                    <a:pt x="293" y="64"/>
                    <a:pt x="296" y="71"/>
                    <a:pt x="296" y="79"/>
                  </a:cubicBezTo>
                  <a:cubicBezTo>
                    <a:pt x="296" y="87"/>
                    <a:pt x="293" y="94"/>
                    <a:pt x="288" y="99"/>
                  </a:cubicBezTo>
                  <a:cubicBezTo>
                    <a:pt x="286" y="101"/>
                    <a:pt x="285" y="102"/>
                    <a:pt x="284" y="103"/>
                  </a:cubicBezTo>
                  <a:cubicBezTo>
                    <a:pt x="279" y="106"/>
                    <a:pt x="273" y="108"/>
                    <a:pt x="267" y="108"/>
                  </a:cubicBezTo>
                  <a:cubicBezTo>
                    <a:pt x="261" y="108"/>
                    <a:pt x="255" y="106"/>
                    <a:pt x="251" y="103"/>
                  </a:cubicBezTo>
                  <a:cubicBezTo>
                    <a:pt x="249" y="102"/>
                    <a:pt x="248" y="101"/>
                    <a:pt x="247" y="99"/>
                  </a:cubicBezTo>
                  <a:cubicBezTo>
                    <a:pt x="247" y="99"/>
                    <a:pt x="246" y="99"/>
                    <a:pt x="246" y="99"/>
                  </a:cubicBezTo>
                  <a:cubicBezTo>
                    <a:pt x="246" y="103"/>
                    <a:pt x="246" y="103"/>
                    <a:pt x="246" y="103"/>
                  </a:cubicBezTo>
                  <a:cubicBezTo>
                    <a:pt x="246" y="155"/>
                    <a:pt x="246" y="155"/>
                    <a:pt x="246" y="155"/>
                  </a:cubicBezTo>
                  <a:cubicBezTo>
                    <a:pt x="246" y="196"/>
                    <a:pt x="246" y="196"/>
                    <a:pt x="246" y="196"/>
                  </a:cubicBezTo>
                  <a:cubicBezTo>
                    <a:pt x="246" y="228"/>
                    <a:pt x="230" y="244"/>
                    <a:pt x="198" y="244"/>
                  </a:cubicBezTo>
                  <a:cubicBezTo>
                    <a:pt x="48" y="244"/>
                    <a:pt x="48" y="244"/>
                    <a:pt x="48" y="244"/>
                  </a:cubicBezTo>
                  <a:cubicBezTo>
                    <a:pt x="16" y="244"/>
                    <a:pt x="0" y="228"/>
                    <a:pt x="0" y="19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rgbClr val="CF3B4C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76" name="Freeform 10"/>
            <p:cNvSpPr/>
            <p:nvPr/>
          </p:nvSpPr>
          <p:spPr bwMode="auto">
            <a:xfrm>
              <a:off x="1205146" y="4173193"/>
              <a:ext cx="749975" cy="1852317"/>
            </a:xfrm>
            <a:custGeom>
              <a:avLst/>
              <a:ahLst/>
              <a:cxnLst>
                <a:cxn ang="0">
                  <a:pos x="162" y="400"/>
                </a:cxn>
                <a:cxn ang="0">
                  <a:pos x="78" y="324"/>
                </a:cxn>
                <a:cxn ang="0">
                  <a:pos x="3" y="318"/>
                </a:cxn>
                <a:cxn ang="0">
                  <a:pos x="0" y="318"/>
                </a:cxn>
                <a:cxn ang="0">
                  <a:pos x="0" y="266"/>
                </a:cxn>
                <a:cxn ang="0">
                  <a:pos x="5" y="266"/>
                </a:cxn>
                <a:cxn ang="0">
                  <a:pos x="21" y="271"/>
                </a:cxn>
                <a:cxn ang="0">
                  <a:pos x="38" y="266"/>
                </a:cxn>
                <a:cxn ang="0">
                  <a:pos x="42" y="262"/>
                </a:cxn>
                <a:cxn ang="0">
                  <a:pos x="50" y="242"/>
                </a:cxn>
                <a:cxn ang="0">
                  <a:pos x="42" y="221"/>
                </a:cxn>
                <a:cxn ang="0">
                  <a:pos x="21" y="213"/>
                </a:cxn>
                <a:cxn ang="0">
                  <a:pos x="1" y="221"/>
                </a:cxn>
                <a:cxn ang="0">
                  <a:pos x="0" y="221"/>
                </a:cxn>
                <a:cxn ang="0">
                  <a:pos x="0" y="163"/>
                </a:cxn>
                <a:cxn ang="0">
                  <a:pos x="0" y="140"/>
                </a:cxn>
                <a:cxn ang="0">
                  <a:pos x="1" y="140"/>
                </a:cxn>
                <a:cxn ang="0">
                  <a:pos x="5" y="143"/>
                </a:cxn>
                <a:cxn ang="0">
                  <a:pos x="21" y="149"/>
                </a:cxn>
                <a:cxn ang="0">
                  <a:pos x="38" y="143"/>
                </a:cxn>
                <a:cxn ang="0">
                  <a:pos x="42" y="140"/>
                </a:cxn>
                <a:cxn ang="0">
                  <a:pos x="50" y="120"/>
                </a:cxn>
                <a:cxn ang="0">
                  <a:pos x="42" y="99"/>
                </a:cxn>
                <a:cxn ang="0">
                  <a:pos x="21" y="91"/>
                </a:cxn>
                <a:cxn ang="0">
                  <a:pos x="1" y="99"/>
                </a:cxn>
                <a:cxn ang="0">
                  <a:pos x="0" y="99"/>
                </a:cxn>
                <a:cxn ang="0">
                  <a:pos x="0" y="53"/>
                </a:cxn>
                <a:cxn ang="0">
                  <a:pos x="67" y="53"/>
                </a:cxn>
                <a:cxn ang="0">
                  <a:pos x="63" y="50"/>
                </a:cxn>
                <a:cxn ang="0">
                  <a:pos x="54" y="29"/>
                </a:cxn>
                <a:cxn ang="0">
                  <a:pos x="63" y="9"/>
                </a:cxn>
                <a:cxn ang="0">
                  <a:pos x="83" y="0"/>
                </a:cxn>
                <a:cxn ang="0">
                  <a:pos x="104" y="9"/>
                </a:cxn>
                <a:cxn ang="0">
                  <a:pos x="112" y="29"/>
                </a:cxn>
                <a:cxn ang="0">
                  <a:pos x="104" y="50"/>
                </a:cxn>
                <a:cxn ang="0">
                  <a:pos x="100" y="53"/>
                </a:cxn>
                <a:cxn ang="0">
                  <a:pos x="162" y="53"/>
                </a:cxn>
                <a:cxn ang="0">
                  <a:pos x="162" y="195"/>
                </a:cxn>
                <a:cxn ang="0">
                  <a:pos x="147" y="190"/>
                </a:cxn>
                <a:cxn ang="0">
                  <a:pos x="127" y="199"/>
                </a:cxn>
                <a:cxn ang="0">
                  <a:pos x="127" y="199"/>
                </a:cxn>
                <a:cxn ang="0">
                  <a:pos x="118" y="219"/>
                </a:cxn>
                <a:cxn ang="0">
                  <a:pos x="127" y="240"/>
                </a:cxn>
                <a:cxn ang="0">
                  <a:pos x="127" y="240"/>
                </a:cxn>
                <a:cxn ang="0">
                  <a:pos x="131" y="243"/>
                </a:cxn>
                <a:cxn ang="0">
                  <a:pos x="147" y="248"/>
                </a:cxn>
                <a:cxn ang="0">
                  <a:pos x="162" y="244"/>
                </a:cxn>
                <a:cxn ang="0">
                  <a:pos x="162" y="400"/>
                </a:cxn>
              </a:cxnLst>
              <a:rect l="0" t="0" r="r" b="b"/>
              <a:pathLst>
                <a:path w="162" h="400">
                  <a:moveTo>
                    <a:pt x="162" y="400"/>
                  </a:moveTo>
                  <a:cubicBezTo>
                    <a:pt x="142" y="371"/>
                    <a:pt x="114" y="346"/>
                    <a:pt x="78" y="324"/>
                  </a:cubicBezTo>
                  <a:cubicBezTo>
                    <a:pt x="53" y="314"/>
                    <a:pt x="28" y="312"/>
                    <a:pt x="3" y="318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5" y="266"/>
                    <a:pt x="5" y="266"/>
                    <a:pt x="5" y="266"/>
                  </a:cubicBezTo>
                  <a:cubicBezTo>
                    <a:pt x="9" y="269"/>
                    <a:pt x="15" y="271"/>
                    <a:pt x="21" y="271"/>
                  </a:cubicBezTo>
                  <a:cubicBezTo>
                    <a:pt x="27" y="271"/>
                    <a:pt x="33" y="269"/>
                    <a:pt x="38" y="266"/>
                  </a:cubicBezTo>
                  <a:cubicBezTo>
                    <a:pt x="39" y="265"/>
                    <a:pt x="40" y="264"/>
                    <a:pt x="42" y="262"/>
                  </a:cubicBezTo>
                  <a:cubicBezTo>
                    <a:pt x="47" y="257"/>
                    <a:pt x="50" y="250"/>
                    <a:pt x="50" y="242"/>
                  </a:cubicBezTo>
                  <a:cubicBezTo>
                    <a:pt x="50" y="234"/>
                    <a:pt x="47" y="227"/>
                    <a:pt x="42" y="221"/>
                  </a:cubicBezTo>
                  <a:cubicBezTo>
                    <a:pt x="36" y="216"/>
                    <a:pt x="29" y="213"/>
                    <a:pt x="21" y="213"/>
                  </a:cubicBezTo>
                  <a:cubicBezTo>
                    <a:pt x="13" y="213"/>
                    <a:pt x="6" y="216"/>
                    <a:pt x="1" y="221"/>
                  </a:cubicBezTo>
                  <a:cubicBezTo>
                    <a:pt x="1" y="221"/>
                    <a:pt x="0" y="221"/>
                    <a:pt x="0" y="221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0"/>
                    <a:pt x="1" y="140"/>
                    <a:pt x="1" y="140"/>
                  </a:cubicBezTo>
                  <a:cubicBezTo>
                    <a:pt x="2" y="141"/>
                    <a:pt x="3" y="142"/>
                    <a:pt x="5" y="143"/>
                  </a:cubicBezTo>
                  <a:cubicBezTo>
                    <a:pt x="9" y="147"/>
                    <a:pt x="15" y="149"/>
                    <a:pt x="21" y="149"/>
                  </a:cubicBezTo>
                  <a:cubicBezTo>
                    <a:pt x="27" y="149"/>
                    <a:pt x="33" y="147"/>
                    <a:pt x="38" y="143"/>
                  </a:cubicBezTo>
                  <a:cubicBezTo>
                    <a:pt x="39" y="142"/>
                    <a:pt x="40" y="141"/>
                    <a:pt x="42" y="140"/>
                  </a:cubicBezTo>
                  <a:cubicBezTo>
                    <a:pt x="47" y="134"/>
                    <a:pt x="50" y="128"/>
                    <a:pt x="50" y="120"/>
                  </a:cubicBezTo>
                  <a:cubicBezTo>
                    <a:pt x="50" y="112"/>
                    <a:pt x="47" y="105"/>
                    <a:pt x="42" y="99"/>
                  </a:cubicBezTo>
                  <a:cubicBezTo>
                    <a:pt x="36" y="93"/>
                    <a:pt x="29" y="91"/>
                    <a:pt x="21" y="91"/>
                  </a:cubicBezTo>
                  <a:cubicBezTo>
                    <a:pt x="13" y="91"/>
                    <a:pt x="6" y="93"/>
                    <a:pt x="1" y="99"/>
                  </a:cubicBezTo>
                  <a:cubicBezTo>
                    <a:pt x="1" y="99"/>
                    <a:pt x="0" y="99"/>
                    <a:pt x="0" y="9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5" y="52"/>
                    <a:pt x="64" y="51"/>
                    <a:pt x="63" y="50"/>
                  </a:cubicBezTo>
                  <a:cubicBezTo>
                    <a:pt x="57" y="44"/>
                    <a:pt x="54" y="37"/>
                    <a:pt x="54" y="29"/>
                  </a:cubicBezTo>
                  <a:cubicBezTo>
                    <a:pt x="54" y="21"/>
                    <a:pt x="57" y="15"/>
                    <a:pt x="63" y="9"/>
                  </a:cubicBezTo>
                  <a:cubicBezTo>
                    <a:pt x="69" y="3"/>
                    <a:pt x="75" y="0"/>
                    <a:pt x="83" y="0"/>
                  </a:cubicBezTo>
                  <a:cubicBezTo>
                    <a:pt x="91" y="0"/>
                    <a:pt x="98" y="3"/>
                    <a:pt x="104" y="9"/>
                  </a:cubicBezTo>
                  <a:cubicBezTo>
                    <a:pt x="110" y="15"/>
                    <a:pt x="112" y="21"/>
                    <a:pt x="112" y="29"/>
                  </a:cubicBezTo>
                  <a:cubicBezTo>
                    <a:pt x="112" y="37"/>
                    <a:pt x="110" y="44"/>
                    <a:pt x="104" y="50"/>
                  </a:cubicBezTo>
                  <a:cubicBezTo>
                    <a:pt x="103" y="51"/>
                    <a:pt x="101" y="52"/>
                    <a:pt x="100" y="53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62" y="195"/>
                    <a:pt x="162" y="195"/>
                    <a:pt x="162" y="195"/>
                  </a:cubicBezTo>
                  <a:cubicBezTo>
                    <a:pt x="158" y="192"/>
                    <a:pt x="153" y="190"/>
                    <a:pt x="147" y="190"/>
                  </a:cubicBezTo>
                  <a:cubicBezTo>
                    <a:pt x="139" y="190"/>
                    <a:pt x="133" y="193"/>
                    <a:pt x="127" y="199"/>
                  </a:cubicBezTo>
                  <a:cubicBezTo>
                    <a:pt x="127" y="199"/>
                    <a:pt x="127" y="199"/>
                    <a:pt x="127" y="199"/>
                  </a:cubicBezTo>
                  <a:cubicBezTo>
                    <a:pt x="121" y="205"/>
                    <a:pt x="118" y="212"/>
                    <a:pt x="118" y="219"/>
                  </a:cubicBezTo>
                  <a:cubicBezTo>
                    <a:pt x="118" y="227"/>
                    <a:pt x="121" y="234"/>
                    <a:pt x="127" y="240"/>
                  </a:cubicBezTo>
                  <a:cubicBezTo>
                    <a:pt x="127" y="240"/>
                    <a:pt x="127" y="240"/>
                    <a:pt x="127" y="240"/>
                  </a:cubicBezTo>
                  <a:cubicBezTo>
                    <a:pt x="128" y="241"/>
                    <a:pt x="129" y="242"/>
                    <a:pt x="131" y="243"/>
                  </a:cubicBezTo>
                  <a:cubicBezTo>
                    <a:pt x="136" y="247"/>
                    <a:pt x="141" y="248"/>
                    <a:pt x="147" y="248"/>
                  </a:cubicBezTo>
                  <a:cubicBezTo>
                    <a:pt x="153" y="248"/>
                    <a:pt x="158" y="247"/>
                    <a:pt x="162" y="244"/>
                  </a:cubicBezTo>
                  <a:lnTo>
                    <a:pt x="162" y="400"/>
                  </a:lnTo>
                  <a:close/>
                </a:path>
              </a:pathLst>
            </a:custGeom>
            <a:solidFill>
              <a:srgbClr val="344F66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77" name="Freeform 11"/>
            <p:cNvSpPr/>
            <p:nvPr/>
          </p:nvSpPr>
          <p:spPr bwMode="auto">
            <a:xfrm>
              <a:off x="1752747" y="4173193"/>
              <a:ext cx="1309479" cy="1852317"/>
            </a:xfrm>
            <a:custGeom>
              <a:avLst/>
              <a:ahLst/>
              <a:cxnLst>
                <a:cxn ang="0">
                  <a:pos x="235" y="400"/>
                </a:cxn>
                <a:cxn ang="0">
                  <a:pos x="44" y="400"/>
                </a:cxn>
                <a:cxn ang="0">
                  <a:pos x="44" y="244"/>
                </a:cxn>
                <a:cxn ang="0">
                  <a:pos x="29" y="248"/>
                </a:cxn>
                <a:cxn ang="0">
                  <a:pos x="13" y="243"/>
                </a:cxn>
                <a:cxn ang="0">
                  <a:pos x="9" y="240"/>
                </a:cxn>
                <a:cxn ang="0">
                  <a:pos x="9" y="240"/>
                </a:cxn>
                <a:cxn ang="0">
                  <a:pos x="0" y="219"/>
                </a:cxn>
                <a:cxn ang="0">
                  <a:pos x="9" y="199"/>
                </a:cxn>
                <a:cxn ang="0">
                  <a:pos x="9" y="199"/>
                </a:cxn>
                <a:cxn ang="0">
                  <a:pos x="29" y="190"/>
                </a:cxn>
                <a:cxn ang="0">
                  <a:pos x="44" y="195"/>
                </a:cxn>
                <a:cxn ang="0">
                  <a:pos x="44" y="53"/>
                </a:cxn>
                <a:cxn ang="0">
                  <a:pos x="129" y="53"/>
                </a:cxn>
                <a:cxn ang="0">
                  <a:pos x="125" y="50"/>
                </a:cxn>
                <a:cxn ang="0">
                  <a:pos x="117" y="29"/>
                </a:cxn>
                <a:cxn ang="0">
                  <a:pos x="125" y="9"/>
                </a:cxn>
                <a:cxn ang="0">
                  <a:pos x="146" y="0"/>
                </a:cxn>
                <a:cxn ang="0">
                  <a:pos x="166" y="9"/>
                </a:cxn>
                <a:cxn ang="0">
                  <a:pos x="175" y="29"/>
                </a:cxn>
                <a:cxn ang="0">
                  <a:pos x="166" y="50"/>
                </a:cxn>
                <a:cxn ang="0">
                  <a:pos x="162" y="53"/>
                </a:cxn>
                <a:cxn ang="0">
                  <a:pos x="235" y="53"/>
                </a:cxn>
                <a:cxn ang="0">
                  <a:pos x="235" y="82"/>
                </a:cxn>
                <a:cxn ang="0">
                  <a:pos x="254" y="75"/>
                </a:cxn>
                <a:cxn ang="0">
                  <a:pos x="274" y="83"/>
                </a:cxn>
                <a:cxn ang="0">
                  <a:pos x="283" y="104"/>
                </a:cxn>
                <a:cxn ang="0">
                  <a:pos x="274" y="124"/>
                </a:cxn>
                <a:cxn ang="0">
                  <a:pos x="254" y="133"/>
                </a:cxn>
                <a:cxn ang="0">
                  <a:pos x="235" y="126"/>
                </a:cxn>
                <a:cxn ang="0">
                  <a:pos x="235" y="154"/>
                </a:cxn>
                <a:cxn ang="0">
                  <a:pos x="235" y="196"/>
                </a:cxn>
                <a:cxn ang="0">
                  <a:pos x="218" y="190"/>
                </a:cxn>
                <a:cxn ang="0">
                  <a:pos x="197" y="199"/>
                </a:cxn>
                <a:cxn ang="0">
                  <a:pos x="191" y="207"/>
                </a:cxn>
                <a:cxn ang="0">
                  <a:pos x="189" y="219"/>
                </a:cxn>
                <a:cxn ang="0">
                  <a:pos x="194" y="236"/>
                </a:cxn>
                <a:cxn ang="0">
                  <a:pos x="197" y="240"/>
                </a:cxn>
                <a:cxn ang="0">
                  <a:pos x="218" y="248"/>
                </a:cxn>
                <a:cxn ang="0">
                  <a:pos x="235" y="243"/>
                </a:cxn>
                <a:cxn ang="0">
                  <a:pos x="235" y="274"/>
                </a:cxn>
                <a:cxn ang="0">
                  <a:pos x="235" y="317"/>
                </a:cxn>
                <a:cxn ang="0">
                  <a:pos x="218" y="312"/>
                </a:cxn>
                <a:cxn ang="0">
                  <a:pos x="210" y="313"/>
                </a:cxn>
                <a:cxn ang="0">
                  <a:pos x="197" y="320"/>
                </a:cxn>
                <a:cxn ang="0">
                  <a:pos x="189" y="341"/>
                </a:cxn>
                <a:cxn ang="0">
                  <a:pos x="197" y="361"/>
                </a:cxn>
                <a:cxn ang="0">
                  <a:pos x="215" y="370"/>
                </a:cxn>
                <a:cxn ang="0">
                  <a:pos x="218" y="370"/>
                </a:cxn>
                <a:cxn ang="0">
                  <a:pos x="235" y="364"/>
                </a:cxn>
                <a:cxn ang="0">
                  <a:pos x="235" y="400"/>
                </a:cxn>
              </a:cxnLst>
              <a:rect l="0" t="0" r="r" b="b"/>
              <a:pathLst>
                <a:path w="283" h="400">
                  <a:moveTo>
                    <a:pt x="235" y="400"/>
                  </a:moveTo>
                  <a:cubicBezTo>
                    <a:pt x="44" y="400"/>
                    <a:pt x="44" y="400"/>
                    <a:pt x="44" y="400"/>
                  </a:cubicBezTo>
                  <a:cubicBezTo>
                    <a:pt x="44" y="244"/>
                    <a:pt x="44" y="244"/>
                    <a:pt x="44" y="244"/>
                  </a:cubicBezTo>
                  <a:cubicBezTo>
                    <a:pt x="40" y="247"/>
                    <a:pt x="35" y="248"/>
                    <a:pt x="29" y="248"/>
                  </a:cubicBezTo>
                  <a:cubicBezTo>
                    <a:pt x="23" y="248"/>
                    <a:pt x="18" y="247"/>
                    <a:pt x="13" y="243"/>
                  </a:cubicBezTo>
                  <a:cubicBezTo>
                    <a:pt x="11" y="242"/>
                    <a:pt x="10" y="241"/>
                    <a:pt x="9" y="240"/>
                  </a:cubicBezTo>
                  <a:cubicBezTo>
                    <a:pt x="9" y="240"/>
                    <a:pt x="9" y="240"/>
                    <a:pt x="9" y="240"/>
                  </a:cubicBezTo>
                  <a:cubicBezTo>
                    <a:pt x="3" y="234"/>
                    <a:pt x="0" y="227"/>
                    <a:pt x="0" y="219"/>
                  </a:cubicBezTo>
                  <a:cubicBezTo>
                    <a:pt x="0" y="212"/>
                    <a:pt x="3" y="205"/>
                    <a:pt x="9" y="199"/>
                  </a:cubicBezTo>
                  <a:cubicBezTo>
                    <a:pt x="9" y="199"/>
                    <a:pt x="9" y="199"/>
                    <a:pt x="9" y="199"/>
                  </a:cubicBezTo>
                  <a:cubicBezTo>
                    <a:pt x="15" y="193"/>
                    <a:pt x="21" y="190"/>
                    <a:pt x="29" y="190"/>
                  </a:cubicBezTo>
                  <a:cubicBezTo>
                    <a:pt x="35" y="190"/>
                    <a:pt x="40" y="192"/>
                    <a:pt x="44" y="195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129" y="53"/>
                    <a:pt x="129" y="53"/>
                    <a:pt x="129" y="53"/>
                  </a:cubicBezTo>
                  <a:cubicBezTo>
                    <a:pt x="128" y="52"/>
                    <a:pt x="126" y="51"/>
                    <a:pt x="125" y="50"/>
                  </a:cubicBezTo>
                  <a:cubicBezTo>
                    <a:pt x="119" y="44"/>
                    <a:pt x="117" y="37"/>
                    <a:pt x="117" y="29"/>
                  </a:cubicBezTo>
                  <a:cubicBezTo>
                    <a:pt x="117" y="21"/>
                    <a:pt x="119" y="15"/>
                    <a:pt x="125" y="9"/>
                  </a:cubicBezTo>
                  <a:cubicBezTo>
                    <a:pt x="131" y="3"/>
                    <a:pt x="138" y="0"/>
                    <a:pt x="146" y="0"/>
                  </a:cubicBezTo>
                  <a:cubicBezTo>
                    <a:pt x="154" y="0"/>
                    <a:pt x="160" y="3"/>
                    <a:pt x="166" y="9"/>
                  </a:cubicBezTo>
                  <a:cubicBezTo>
                    <a:pt x="172" y="15"/>
                    <a:pt x="175" y="21"/>
                    <a:pt x="175" y="29"/>
                  </a:cubicBezTo>
                  <a:cubicBezTo>
                    <a:pt x="175" y="37"/>
                    <a:pt x="172" y="44"/>
                    <a:pt x="166" y="50"/>
                  </a:cubicBezTo>
                  <a:cubicBezTo>
                    <a:pt x="165" y="51"/>
                    <a:pt x="163" y="52"/>
                    <a:pt x="162" y="53"/>
                  </a:cubicBezTo>
                  <a:cubicBezTo>
                    <a:pt x="235" y="53"/>
                    <a:pt x="235" y="53"/>
                    <a:pt x="235" y="53"/>
                  </a:cubicBezTo>
                  <a:cubicBezTo>
                    <a:pt x="235" y="82"/>
                    <a:pt x="235" y="82"/>
                    <a:pt x="235" y="82"/>
                  </a:cubicBezTo>
                  <a:cubicBezTo>
                    <a:pt x="240" y="77"/>
                    <a:pt x="247" y="75"/>
                    <a:pt x="254" y="75"/>
                  </a:cubicBezTo>
                  <a:cubicBezTo>
                    <a:pt x="262" y="75"/>
                    <a:pt x="269" y="78"/>
                    <a:pt x="274" y="83"/>
                  </a:cubicBezTo>
                  <a:cubicBezTo>
                    <a:pt x="280" y="89"/>
                    <a:pt x="283" y="96"/>
                    <a:pt x="283" y="104"/>
                  </a:cubicBezTo>
                  <a:cubicBezTo>
                    <a:pt x="283" y="112"/>
                    <a:pt x="280" y="119"/>
                    <a:pt x="274" y="124"/>
                  </a:cubicBezTo>
                  <a:cubicBezTo>
                    <a:pt x="269" y="130"/>
                    <a:pt x="262" y="133"/>
                    <a:pt x="254" y="133"/>
                  </a:cubicBezTo>
                  <a:cubicBezTo>
                    <a:pt x="247" y="133"/>
                    <a:pt x="240" y="130"/>
                    <a:pt x="235" y="126"/>
                  </a:cubicBezTo>
                  <a:cubicBezTo>
                    <a:pt x="235" y="154"/>
                    <a:pt x="235" y="154"/>
                    <a:pt x="235" y="154"/>
                  </a:cubicBezTo>
                  <a:cubicBezTo>
                    <a:pt x="235" y="196"/>
                    <a:pt x="235" y="196"/>
                    <a:pt x="235" y="196"/>
                  </a:cubicBezTo>
                  <a:cubicBezTo>
                    <a:pt x="230" y="192"/>
                    <a:pt x="224" y="190"/>
                    <a:pt x="218" y="190"/>
                  </a:cubicBezTo>
                  <a:cubicBezTo>
                    <a:pt x="210" y="190"/>
                    <a:pt x="203" y="193"/>
                    <a:pt x="197" y="199"/>
                  </a:cubicBezTo>
                  <a:cubicBezTo>
                    <a:pt x="195" y="201"/>
                    <a:pt x="193" y="204"/>
                    <a:pt x="191" y="207"/>
                  </a:cubicBezTo>
                  <a:cubicBezTo>
                    <a:pt x="190" y="211"/>
                    <a:pt x="189" y="215"/>
                    <a:pt x="189" y="219"/>
                  </a:cubicBezTo>
                  <a:cubicBezTo>
                    <a:pt x="189" y="226"/>
                    <a:pt x="191" y="231"/>
                    <a:pt x="194" y="236"/>
                  </a:cubicBezTo>
                  <a:cubicBezTo>
                    <a:pt x="195" y="237"/>
                    <a:pt x="196" y="239"/>
                    <a:pt x="197" y="240"/>
                  </a:cubicBezTo>
                  <a:cubicBezTo>
                    <a:pt x="203" y="246"/>
                    <a:pt x="210" y="248"/>
                    <a:pt x="218" y="248"/>
                  </a:cubicBezTo>
                  <a:cubicBezTo>
                    <a:pt x="224" y="248"/>
                    <a:pt x="230" y="247"/>
                    <a:pt x="235" y="243"/>
                  </a:cubicBezTo>
                  <a:cubicBezTo>
                    <a:pt x="235" y="274"/>
                    <a:pt x="235" y="274"/>
                    <a:pt x="235" y="274"/>
                  </a:cubicBezTo>
                  <a:cubicBezTo>
                    <a:pt x="235" y="317"/>
                    <a:pt x="235" y="317"/>
                    <a:pt x="235" y="317"/>
                  </a:cubicBezTo>
                  <a:cubicBezTo>
                    <a:pt x="230" y="313"/>
                    <a:pt x="224" y="312"/>
                    <a:pt x="218" y="312"/>
                  </a:cubicBezTo>
                  <a:cubicBezTo>
                    <a:pt x="215" y="312"/>
                    <a:pt x="213" y="312"/>
                    <a:pt x="210" y="313"/>
                  </a:cubicBezTo>
                  <a:cubicBezTo>
                    <a:pt x="205" y="314"/>
                    <a:pt x="201" y="316"/>
                    <a:pt x="197" y="320"/>
                  </a:cubicBezTo>
                  <a:cubicBezTo>
                    <a:pt x="192" y="326"/>
                    <a:pt x="189" y="333"/>
                    <a:pt x="189" y="341"/>
                  </a:cubicBezTo>
                  <a:cubicBezTo>
                    <a:pt x="189" y="349"/>
                    <a:pt x="192" y="355"/>
                    <a:pt x="197" y="361"/>
                  </a:cubicBezTo>
                  <a:cubicBezTo>
                    <a:pt x="202" y="366"/>
                    <a:pt x="208" y="369"/>
                    <a:pt x="215" y="370"/>
                  </a:cubicBezTo>
                  <a:cubicBezTo>
                    <a:pt x="216" y="370"/>
                    <a:pt x="217" y="370"/>
                    <a:pt x="218" y="370"/>
                  </a:cubicBezTo>
                  <a:cubicBezTo>
                    <a:pt x="224" y="370"/>
                    <a:pt x="230" y="368"/>
                    <a:pt x="235" y="364"/>
                  </a:cubicBezTo>
                  <a:lnTo>
                    <a:pt x="235" y="400"/>
                  </a:lnTo>
                  <a:close/>
                </a:path>
              </a:pathLst>
            </a:custGeom>
            <a:solidFill>
              <a:srgbClr val="344F66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78" name="Freeform 12"/>
            <p:cNvSpPr/>
            <p:nvPr/>
          </p:nvSpPr>
          <p:spPr bwMode="auto">
            <a:xfrm>
              <a:off x="2626527" y="4887455"/>
              <a:ext cx="1561852" cy="573791"/>
            </a:xfrm>
            <a:custGeom>
              <a:avLst/>
              <a:ahLst/>
              <a:cxnLst>
                <a:cxn ang="0">
                  <a:pos x="292" y="2"/>
                </a:cxn>
                <a:cxn ang="0">
                  <a:pos x="319" y="18"/>
                </a:cxn>
                <a:cxn ang="0">
                  <a:pos x="337" y="62"/>
                </a:cxn>
                <a:cxn ang="0">
                  <a:pos x="319" y="105"/>
                </a:cxn>
                <a:cxn ang="0">
                  <a:pos x="276" y="124"/>
                </a:cxn>
                <a:cxn ang="0">
                  <a:pos x="260" y="124"/>
                </a:cxn>
                <a:cxn ang="0">
                  <a:pos x="237" y="120"/>
                </a:cxn>
                <a:cxn ang="0">
                  <a:pos x="145" y="120"/>
                </a:cxn>
                <a:cxn ang="0">
                  <a:pos x="150" y="103"/>
                </a:cxn>
                <a:cxn ang="0">
                  <a:pos x="141" y="83"/>
                </a:cxn>
                <a:cxn ang="0">
                  <a:pos x="121" y="74"/>
                </a:cxn>
                <a:cxn ang="0">
                  <a:pos x="100" y="83"/>
                </a:cxn>
                <a:cxn ang="0">
                  <a:pos x="92" y="103"/>
                </a:cxn>
                <a:cxn ang="0">
                  <a:pos x="97" y="120"/>
                </a:cxn>
                <a:cxn ang="0">
                  <a:pos x="46" y="120"/>
                </a:cxn>
                <a:cxn ang="0">
                  <a:pos x="46" y="89"/>
                </a:cxn>
                <a:cxn ang="0">
                  <a:pos x="29" y="94"/>
                </a:cxn>
                <a:cxn ang="0">
                  <a:pos x="8" y="86"/>
                </a:cxn>
                <a:cxn ang="0">
                  <a:pos x="5" y="82"/>
                </a:cxn>
                <a:cxn ang="0">
                  <a:pos x="0" y="65"/>
                </a:cxn>
                <a:cxn ang="0">
                  <a:pos x="2" y="53"/>
                </a:cxn>
                <a:cxn ang="0">
                  <a:pos x="8" y="45"/>
                </a:cxn>
                <a:cxn ang="0">
                  <a:pos x="29" y="36"/>
                </a:cxn>
                <a:cxn ang="0">
                  <a:pos x="46" y="42"/>
                </a:cxn>
                <a:cxn ang="0">
                  <a:pos x="46" y="0"/>
                </a:cxn>
                <a:cxn ang="0">
                  <a:pos x="52" y="0"/>
                </a:cxn>
                <a:cxn ang="0">
                  <a:pos x="52" y="1"/>
                </a:cxn>
                <a:cxn ang="0">
                  <a:pos x="54" y="1"/>
                </a:cxn>
                <a:cxn ang="0">
                  <a:pos x="62" y="0"/>
                </a:cxn>
                <a:cxn ang="0">
                  <a:pos x="189" y="0"/>
                </a:cxn>
                <a:cxn ang="0">
                  <a:pos x="181" y="20"/>
                </a:cxn>
                <a:cxn ang="0">
                  <a:pos x="189" y="40"/>
                </a:cxn>
                <a:cxn ang="0">
                  <a:pos x="210" y="49"/>
                </a:cxn>
                <a:cxn ang="0">
                  <a:pos x="230" y="40"/>
                </a:cxn>
                <a:cxn ang="0">
                  <a:pos x="239" y="20"/>
                </a:cxn>
                <a:cxn ang="0">
                  <a:pos x="231" y="0"/>
                </a:cxn>
                <a:cxn ang="0">
                  <a:pos x="276" y="0"/>
                </a:cxn>
                <a:cxn ang="0">
                  <a:pos x="292" y="2"/>
                </a:cxn>
              </a:cxnLst>
              <a:rect l="0" t="0" r="r" b="b"/>
              <a:pathLst>
                <a:path w="337" h="124">
                  <a:moveTo>
                    <a:pt x="292" y="2"/>
                  </a:moveTo>
                  <a:cubicBezTo>
                    <a:pt x="302" y="5"/>
                    <a:pt x="311" y="10"/>
                    <a:pt x="319" y="18"/>
                  </a:cubicBezTo>
                  <a:cubicBezTo>
                    <a:pt x="331" y="31"/>
                    <a:pt x="337" y="45"/>
                    <a:pt x="337" y="62"/>
                  </a:cubicBezTo>
                  <a:cubicBezTo>
                    <a:pt x="337" y="79"/>
                    <a:pt x="331" y="93"/>
                    <a:pt x="319" y="105"/>
                  </a:cubicBezTo>
                  <a:cubicBezTo>
                    <a:pt x="307" y="118"/>
                    <a:pt x="293" y="124"/>
                    <a:pt x="276" y="124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53" y="121"/>
                    <a:pt x="245" y="120"/>
                    <a:pt x="237" y="120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8" y="115"/>
                    <a:pt x="150" y="109"/>
                    <a:pt x="150" y="103"/>
                  </a:cubicBezTo>
                  <a:cubicBezTo>
                    <a:pt x="150" y="95"/>
                    <a:pt x="147" y="89"/>
                    <a:pt x="141" y="83"/>
                  </a:cubicBezTo>
                  <a:cubicBezTo>
                    <a:pt x="136" y="77"/>
                    <a:pt x="129" y="74"/>
                    <a:pt x="121" y="74"/>
                  </a:cubicBezTo>
                  <a:cubicBezTo>
                    <a:pt x="113" y="74"/>
                    <a:pt x="106" y="77"/>
                    <a:pt x="100" y="83"/>
                  </a:cubicBezTo>
                  <a:cubicBezTo>
                    <a:pt x="95" y="89"/>
                    <a:pt x="92" y="95"/>
                    <a:pt x="92" y="103"/>
                  </a:cubicBezTo>
                  <a:cubicBezTo>
                    <a:pt x="92" y="109"/>
                    <a:pt x="94" y="115"/>
                    <a:pt x="97" y="120"/>
                  </a:cubicBezTo>
                  <a:cubicBezTo>
                    <a:pt x="46" y="120"/>
                    <a:pt x="46" y="120"/>
                    <a:pt x="46" y="120"/>
                  </a:cubicBezTo>
                  <a:cubicBezTo>
                    <a:pt x="46" y="89"/>
                    <a:pt x="46" y="89"/>
                    <a:pt x="46" y="89"/>
                  </a:cubicBezTo>
                  <a:cubicBezTo>
                    <a:pt x="41" y="93"/>
                    <a:pt x="35" y="94"/>
                    <a:pt x="29" y="94"/>
                  </a:cubicBezTo>
                  <a:cubicBezTo>
                    <a:pt x="21" y="94"/>
                    <a:pt x="14" y="92"/>
                    <a:pt x="8" y="86"/>
                  </a:cubicBezTo>
                  <a:cubicBezTo>
                    <a:pt x="7" y="85"/>
                    <a:pt x="6" y="83"/>
                    <a:pt x="5" y="82"/>
                  </a:cubicBezTo>
                  <a:cubicBezTo>
                    <a:pt x="2" y="77"/>
                    <a:pt x="0" y="72"/>
                    <a:pt x="0" y="65"/>
                  </a:cubicBezTo>
                  <a:cubicBezTo>
                    <a:pt x="0" y="61"/>
                    <a:pt x="1" y="57"/>
                    <a:pt x="2" y="53"/>
                  </a:cubicBezTo>
                  <a:cubicBezTo>
                    <a:pt x="4" y="50"/>
                    <a:pt x="6" y="47"/>
                    <a:pt x="8" y="45"/>
                  </a:cubicBezTo>
                  <a:cubicBezTo>
                    <a:pt x="14" y="39"/>
                    <a:pt x="21" y="36"/>
                    <a:pt x="29" y="36"/>
                  </a:cubicBezTo>
                  <a:cubicBezTo>
                    <a:pt x="35" y="36"/>
                    <a:pt x="41" y="38"/>
                    <a:pt x="46" y="42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3" y="1"/>
                    <a:pt x="54" y="1"/>
                    <a:pt x="54" y="1"/>
                  </a:cubicBezTo>
                  <a:cubicBezTo>
                    <a:pt x="57" y="1"/>
                    <a:pt x="60" y="0"/>
                    <a:pt x="62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84" y="6"/>
                    <a:pt x="181" y="12"/>
                    <a:pt x="181" y="20"/>
                  </a:cubicBezTo>
                  <a:cubicBezTo>
                    <a:pt x="181" y="28"/>
                    <a:pt x="184" y="35"/>
                    <a:pt x="189" y="40"/>
                  </a:cubicBezTo>
                  <a:cubicBezTo>
                    <a:pt x="195" y="46"/>
                    <a:pt x="202" y="49"/>
                    <a:pt x="210" y="49"/>
                  </a:cubicBezTo>
                  <a:cubicBezTo>
                    <a:pt x="218" y="49"/>
                    <a:pt x="225" y="46"/>
                    <a:pt x="230" y="40"/>
                  </a:cubicBezTo>
                  <a:cubicBezTo>
                    <a:pt x="236" y="35"/>
                    <a:pt x="239" y="28"/>
                    <a:pt x="239" y="20"/>
                  </a:cubicBezTo>
                  <a:cubicBezTo>
                    <a:pt x="239" y="12"/>
                    <a:pt x="236" y="6"/>
                    <a:pt x="231" y="0"/>
                  </a:cubicBezTo>
                  <a:cubicBezTo>
                    <a:pt x="276" y="0"/>
                    <a:pt x="276" y="0"/>
                    <a:pt x="276" y="0"/>
                  </a:cubicBezTo>
                  <a:cubicBezTo>
                    <a:pt x="281" y="0"/>
                    <a:pt x="287" y="1"/>
                    <a:pt x="292" y="2"/>
                  </a:cubicBezTo>
                  <a:close/>
                </a:path>
              </a:pathLst>
            </a:custGeom>
            <a:solidFill>
              <a:srgbClr val="344F66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79" name="Freeform 13"/>
            <p:cNvSpPr/>
            <p:nvPr/>
          </p:nvSpPr>
          <p:spPr bwMode="auto">
            <a:xfrm>
              <a:off x="2840805" y="4118432"/>
              <a:ext cx="1416619" cy="995204"/>
            </a:xfrm>
            <a:custGeom>
              <a:avLst/>
              <a:ahLst/>
              <a:cxnLst>
                <a:cxn ang="0">
                  <a:pos x="0" y="166"/>
                </a:cxn>
                <a:cxn ang="0">
                  <a:pos x="0" y="138"/>
                </a:cxn>
                <a:cxn ang="0">
                  <a:pos x="19" y="145"/>
                </a:cxn>
                <a:cxn ang="0">
                  <a:pos x="39" y="136"/>
                </a:cxn>
                <a:cxn ang="0">
                  <a:pos x="48" y="116"/>
                </a:cxn>
                <a:cxn ang="0">
                  <a:pos x="39" y="95"/>
                </a:cxn>
                <a:cxn ang="0">
                  <a:pos x="19" y="87"/>
                </a:cxn>
                <a:cxn ang="0">
                  <a:pos x="0" y="94"/>
                </a:cxn>
                <a:cxn ang="0">
                  <a:pos x="0" y="65"/>
                </a:cxn>
                <a:cxn ang="0">
                  <a:pos x="19" y="65"/>
                </a:cxn>
                <a:cxn ang="0">
                  <a:pos x="19" y="48"/>
                </a:cxn>
                <a:cxn ang="0">
                  <a:pos x="22" y="48"/>
                </a:cxn>
                <a:cxn ang="0">
                  <a:pos x="182" y="48"/>
                </a:cxn>
                <a:cxn ang="0">
                  <a:pos x="175" y="29"/>
                </a:cxn>
                <a:cxn ang="0">
                  <a:pos x="184" y="9"/>
                </a:cxn>
                <a:cxn ang="0">
                  <a:pos x="204" y="0"/>
                </a:cxn>
                <a:cxn ang="0">
                  <a:pos x="225" y="9"/>
                </a:cxn>
                <a:cxn ang="0">
                  <a:pos x="233" y="29"/>
                </a:cxn>
                <a:cxn ang="0">
                  <a:pos x="226" y="48"/>
                </a:cxn>
                <a:cxn ang="0">
                  <a:pos x="246" y="48"/>
                </a:cxn>
                <a:cxn ang="0">
                  <a:pos x="262" y="50"/>
                </a:cxn>
                <a:cxn ang="0">
                  <a:pos x="288" y="65"/>
                </a:cxn>
                <a:cxn ang="0">
                  <a:pos x="289" y="66"/>
                </a:cxn>
                <a:cxn ang="0">
                  <a:pos x="306" y="108"/>
                </a:cxn>
                <a:cxn ang="0">
                  <a:pos x="306" y="108"/>
                </a:cxn>
                <a:cxn ang="0">
                  <a:pos x="289" y="151"/>
                </a:cxn>
                <a:cxn ang="0">
                  <a:pos x="246" y="168"/>
                </a:cxn>
                <a:cxn ang="0">
                  <a:pos x="246" y="168"/>
                </a:cxn>
                <a:cxn ang="0">
                  <a:pos x="230" y="166"/>
                </a:cxn>
                <a:cxn ang="0">
                  <a:pos x="185" y="166"/>
                </a:cxn>
                <a:cxn ang="0">
                  <a:pos x="193" y="186"/>
                </a:cxn>
                <a:cxn ang="0">
                  <a:pos x="184" y="206"/>
                </a:cxn>
                <a:cxn ang="0">
                  <a:pos x="164" y="215"/>
                </a:cxn>
                <a:cxn ang="0">
                  <a:pos x="143" y="206"/>
                </a:cxn>
                <a:cxn ang="0">
                  <a:pos x="135" y="186"/>
                </a:cxn>
                <a:cxn ang="0">
                  <a:pos x="143" y="166"/>
                </a:cxn>
                <a:cxn ang="0">
                  <a:pos x="16" y="166"/>
                </a:cxn>
                <a:cxn ang="0">
                  <a:pos x="8" y="167"/>
                </a:cxn>
                <a:cxn ang="0">
                  <a:pos x="6" y="167"/>
                </a:cxn>
                <a:cxn ang="0">
                  <a:pos x="6" y="166"/>
                </a:cxn>
                <a:cxn ang="0">
                  <a:pos x="0" y="166"/>
                </a:cxn>
              </a:cxnLst>
              <a:rect l="0" t="0" r="r" b="b"/>
              <a:pathLst>
                <a:path w="306" h="215">
                  <a:moveTo>
                    <a:pt x="0" y="166"/>
                  </a:moveTo>
                  <a:cubicBezTo>
                    <a:pt x="0" y="138"/>
                    <a:pt x="0" y="138"/>
                    <a:pt x="0" y="138"/>
                  </a:cubicBezTo>
                  <a:cubicBezTo>
                    <a:pt x="5" y="142"/>
                    <a:pt x="12" y="145"/>
                    <a:pt x="19" y="145"/>
                  </a:cubicBezTo>
                  <a:cubicBezTo>
                    <a:pt x="27" y="145"/>
                    <a:pt x="34" y="142"/>
                    <a:pt x="39" y="136"/>
                  </a:cubicBezTo>
                  <a:cubicBezTo>
                    <a:pt x="45" y="131"/>
                    <a:pt x="48" y="124"/>
                    <a:pt x="48" y="116"/>
                  </a:cubicBezTo>
                  <a:cubicBezTo>
                    <a:pt x="48" y="108"/>
                    <a:pt x="45" y="101"/>
                    <a:pt x="39" y="95"/>
                  </a:cubicBezTo>
                  <a:cubicBezTo>
                    <a:pt x="34" y="90"/>
                    <a:pt x="27" y="87"/>
                    <a:pt x="19" y="87"/>
                  </a:cubicBezTo>
                  <a:cubicBezTo>
                    <a:pt x="12" y="87"/>
                    <a:pt x="5" y="89"/>
                    <a:pt x="0" y="9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20" y="48"/>
                    <a:pt x="21" y="48"/>
                    <a:pt x="22" y="48"/>
                  </a:cubicBezTo>
                  <a:cubicBezTo>
                    <a:pt x="182" y="48"/>
                    <a:pt x="182" y="48"/>
                    <a:pt x="182" y="48"/>
                  </a:cubicBezTo>
                  <a:cubicBezTo>
                    <a:pt x="178" y="43"/>
                    <a:pt x="175" y="37"/>
                    <a:pt x="175" y="29"/>
                  </a:cubicBezTo>
                  <a:cubicBezTo>
                    <a:pt x="175" y="21"/>
                    <a:pt x="178" y="15"/>
                    <a:pt x="184" y="9"/>
                  </a:cubicBezTo>
                  <a:cubicBezTo>
                    <a:pt x="189" y="3"/>
                    <a:pt x="196" y="0"/>
                    <a:pt x="204" y="0"/>
                  </a:cubicBezTo>
                  <a:cubicBezTo>
                    <a:pt x="212" y="0"/>
                    <a:pt x="219" y="3"/>
                    <a:pt x="225" y="9"/>
                  </a:cubicBezTo>
                  <a:cubicBezTo>
                    <a:pt x="230" y="15"/>
                    <a:pt x="233" y="21"/>
                    <a:pt x="233" y="29"/>
                  </a:cubicBezTo>
                  <a:cubicBezTo>
                    <a:pt x="233" y="37"/>
                    <a:pt x="231" y="43"/>
                    <a:pt x="226" y="48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52" y="48"/>
                    <a:pt x="257" y="49"/>
                    <a:pt x="262" y="50"/>
                  </a:cubicBezTo>
                  <a:cubicBezTo>
                    <a:pt x="272" y="53"/>
                    <a:pt x="280" y="58"/>
                    <a:pt x="288" y="65"/>
                  </a:cubicBezTo>
                  <a:cubicBezTo>
                    <a:pt x="288" y="65"/>
                    <a:pt x="289" y="66"/>
                    <a:pt x="289" y="66"/>
                  </a:cubicBezTo>
                  <a:cubicBezTo>
                    <a:pt x="301" y="78"/>
                    <a:pt x="306" y="92"/>
                    <a:pt x="306" y="108"/>
                  </a:cubicBezTo>
                  <a:cubicBezTo>
                    <a:pt x="306" y="108"/>
                    <a:pt x="306" y="108"/>
                    <a:pt x="306" y="108"/>
                  </a:cubicBezTo>
                  <a:cubicBezTo>
                    <a:pt x="306" y="125"/>
                    <a:pt x="301" y="139"/>
                    <a:pt x="289" y="151"/>
                  </a:cubicBezTo>
                  <a:cubicBezTo>
                    <a:pt x="277" y="163"/>
                    <a:pt x="263" y="168"/>
                    <a:pt x="246" y="168"/>
                  </a:cubicBezTo>
                  <a:cubicBezTo>
                    <a:pt x="246" y="168"/>
                    <a:pt x="246" y="168"/>
                    <a:pt x="246" y="168"/>
                  </a:cubicBezTo>
                  <a:cubicBezTo>
                    <a:pt x="241" y="167"/>
                    <a:pt x="235" y="166"/>
                    <a:pt x="230" y="166"/>
                  </a:cubicBezTo>
                  <a:cubicBezTo>
                    <a:pt x="185" y="166"/>
                    <a:pt x="185" y="166"/>
                    <a:pt x="185" y="166"/>
                  </a:cubicBezTo>
                  <a:cubicBezTo>
                    <a:pt x="190" y="172"/>
                    <a:pt x="193" y="178"/>
                    <a:pt x="193" y="186"/>
                  </a:cubicBezTo>
                  <a:cubicBezTo>
                    <a:pt x="193" y="194"/>
                    <a:pt x="190" y="201"/>
                    <a:pt x="184" y="206"/>
                  </a:cubicBezTo>
                  <a:cubicBezTo>
                    <a:pt x="179" y="212"/>
                    <a:pt x="172" y="215"/>
                    <a:pt x="164" y="215"/>
                  </a:cubicBezTo>
                  <a:cubicBezTo>
                    <a:pt x="156" y="215"/>
                    <a:pt x="149" y="212"/>
                    <a:pt x="143" y="206"/>
                  </a:cubicBezTo>
                  <a:cubicBezTo>
                    <a:pt x="138" y="201"/>
                    <a:pt x="135" y="194"/>
                    <a:pt x="135" y="186"/>
                  </a:cubicBezTo>
                  <a:cubicBezTo>
                    <a:pt x="135" y="178"/>
                    <a:pt x="138" y="172"/>
                    <a:pt x="143" y="166"/>
                  </a:cubicBezTo>
                  <a:cubicBezTo>
                    <a:pt x="16" y="166"/>
                    <a:pt x="16" y="166"/>
                    <a:pt x="16" y="166"/>
                  </a:cubicBezTo>
                  <a:cubicBezTo>
                    <a:pt x="14" y="166"/>
                    <a:pt x="11" y="167"/>
                    <a:pt x="8" y="167"/>
                  </a:cubicBezTo>
                  <a:cubicBezTo>
                    <a:pt x="8" y="167"/>
                    <a:pt x="7" y="167"/>
                    <a:pt x="6" y="167"/>
                  </a:cubicBezTo>
                  <a:cubicBezTo>
                    <a:pt x="6" y="166"/>
                    <a:pt x="6" y="166"/>
                    <a:pt x="6" y="166"/>
                  </a:cubicBezTo>
                  <a:lnTo>
                    <a:pt x="0" y="166"/>
                  </a:lnTo>
                  <a:close/>
                </a:path>
              </a:pathLst>
            </a:custGeom>
            <a:solidFill>
              <a:srgbClr val="344F66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80" name="Freeform 14"/>
            <p:cNvSpPr/>
            <p:nvPr/>
          </p:nvSpPr>
          <p:spPr bwMode="auto">
            <a:xfrm>
              <a:off x="2793188" y="3747016"/>
              <a:ext cx="1459475" cy="602361"/>
            </a:xfrm>
            <a:custGeom>
              <a:avLst/>
              <a:ahLst/>
              <a:cxnLst>
                <a:cxn ang="0">
                  <a:pos x="272" y="130"/>
                </a:cxn>
                <a:cxn ang="0">
                  <a:pos x="256" y="128"/>
                </a:cxn>
                <a:cxn ang="0">
                  <a:pos x="236" y="128"/>
                </a:cxn>
                <a:cxn ang="0">
                  <a:pos x="243" y="109"/>
                </a:cxn>
                <a:cxn ang="0">
                  <a:pos x="235" y="89"/>
                </a:cxn>
                <a:cxn ang="0">
                  <a:pos x="214" y="80"/>
                </a:cxn>
                <a:cxn ang="0">
                  <a:pos x="194" y="89"/>
                </a:cxn>
                <a:cxn ang="0">
                  <a:pos x="185" y="109"/>
                </a:cxn>
                <a:cxn ang="0">
                  <a:pos x="192" y="128"/>
                </a:cxn>
                <a:cxn ang="0">
                  <a:pos x="32" y="128"/>
                </a:cxn>
                <a:cxn ang="0">
                  <a:pos x="29" y="128"/>
                </a:cxn>
                <a:cxn ang="0">
                  <a:pos x="29" y="97"/>
                </a:cxn>
                <a:cxn ang="0">
                  <a:pos x="10" y="90"/>
                </a:cxn>
                <a:cxn ang="0">
                  <a:pos x="8" y="89"/>
                </a:cxn>
                <a:cxn ang="0">
                  <a:pos x="0" y="68"/>
                </a:cxn>
                <a:cxn ang="0">
                  <a:pos x="8" y="48"/>
                </a:cxn>
                <a:cxn ang="0">
                  <a:pos x="10" y="46"/>
                </a:cxn>
                <a:cxn ang="0">
                  <a:pos x="29" y="39"/>
                </a:cxn>
                <a:cxn ang="0">
                  <a:pos x="29" y="0"/>
                </a:cxn>
                <a:cxn ang="0">
                  <a:pos x="248" y="0"/>
                </a:cxn>
                <a:cxn ang="0">
                  <a:pos x="296" y="20"/>
                </a:cxn>
                <a:cxn ang="0">
                  <a:pos x="315" y="67"/>
                </a:cxn>
                <a:cxn ang="0">
                  <a:pos x="315" y="67"/>
                </a:cxn>
                <a:cxn ang="0">
                  <a:pos x="296" y="115"/>
                </a:cxn>
                <a:cxn ang="0">
                  <a:pos x="272" y="130"/>
                </a:cxn>
              </a:cxnLst>
              <a:rect l="0" t="0" r="r" b="b"/>
              <a:pathLst>
                <a:path w="315" h="130">
                  <a:moveTo>
                    <a:pt x="272" y="130"/>
                  </a:moveTo>
                  <a:cubicBezTo>
                    <a:pt x="267" y="129"/>
                    <a:pt x="262" y="128"/>
                    <a:pt x="256" y="128"/>
                  </a:cubicBezTo>
                  <a:cubicBezTo>
                    <a:pt x="236" y="128"/>
                    <a:pt x="236" y="128"/>
                    <a:pt x="236" y="128"/>
                  </a:cubicBezTo>
                  <a:cubicBezTo>
                    <a:pt x="241" y="123"/>
                    <a:pt x="243" y="117"/>
                    <a:pt x="243" y="109"/>
                  </a:cubicBezTo>
                  <a:cubicBezTo>
                    <a:pt x="243" y="101"/>
                    <a:pt x="240" y="95"/>
                    <a:pt x="235" y="89"/>
                  </a:cubicBezTo>
                  <a:cubicBezTo>
                    <a:pt x="229" y="83"/>
                    <a:pt x="222" y="80"/>
                    <a:pt x="214" y="80"/>
                  </a:cubicBezTo>
                  <a:cubicBezTo>
                    <a:pt x="206" y="80"/>
                    <a:pt x="199" y="83"/>
                    <a:pt x="194" y="89"/>
                  </a:cubicBezTo>
                  <a:cubicBezTo>
                    <a:pt x="188" y="95"/>
                    <a:pt x="185" y="101"/>
                    <a:pt x="185" y="109"/>
                  </a:cubicBezTo>
                  <a:cubicBezTo>
                    <a:pt x="185" y="117"/>
                    <a:pt x="188" y="123"/>
                    <a:pt x="19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1" y="128"/>
                    <a:pt x="30" y="128"/>
                    <a:pt x="29" y="128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22" y="97"/>
                    <a:pt x="15" y="95"/>
                    <a:pt x="10" y="90"/>
                  </a:cubicBezTo>
                  <a:cubicBezTo>
                    <a:pt x="9" y="90"/>
                    <a:pt x="9" y="89"/>
                    <a:pt x="8" y="89"/>
                  </a:cubicBezTo>
                  <a:cubicBezTo>
                    <a:pt x="3" y="83"/>
                    <a:pt x="0" y="76"/>
                    <a:pt x="0" y="68"/>
                  </a:cubicBezTo>
                  <a:cubicBezTo>
                    <a:pt x="0" y="60"/>
                    <a:pt x="3" y="53"/>
                    <a:pt x="8" y="48"/>
                  </a:cubicBezTo>
                  <a:cubicBezTo>
                    <a:pt x="9" y="47"/>
                    <a:pt x="9" y="47"/>
                    <a:pt x="10" y="46"/>
                  </a:cubicBezTo>
                  <a:cubicBezTo>
                    <a:pt x="15" y="42"/>
                    <a:pt x="22" y="39"/>
                    <a:pt x="29" y="39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48" y="0"/>
                    <a:pt x="248" y="0"/>
                    <a:pt x="248" y="0"/>
                  </a:cubicBezTo>
                  <a:cubicBezTo>
                    <a:pt x="267" y="0"/>
                    <a:pt x="283" y="7"/>
                    <a:pt x="296" y="20"/>
                  </a:cubicBezTo>
                  <a:cubicBezTo>
                    <a:pt x="309" y="33"/>
                    <a:pt x="315" y="48"/>
                    <a:pt x="315" y="67"/>
                  </a:cubicBezTo>
                  <a:cubicBezTo>
                    <a:pt x="315" y="67"/>
                    <a:pt x="315" y="67"/>
                    <a:pt x="315" y="67"/>
                  </a:cubicBezTo>
                  <a:cubicBezTo>
                    <a:pt x="315" y="86"/>
                    <a:pt x="309" y="102"/>
                    <a:pt x="296" y="115"/>
                  </a:cubicBezTo>
                  <a:cubicBezTo>
                    <a:pt x="289" y="122"/>
                    <a:pt x="281" y="127"/>
                    <a:pt x="272" y="130"/>
                  </a:cubicBezTo>
                  <a:close/>
                </a:path>
              </a:pathLst>
            </a:custGeom>
            <a:solidFill>
              <a:srgbClr val="344F66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  <p:sp>
          <p:nvSpPr>
            <p:cNvPr id="1048781" name="Freeform 15"/>
            <p:cNvSpPr/>
            <p:nvPr/>
          </p:nvSpPr>
          <p:spPr bwMode="auto">
            <a:xfrm>
              <a:off x="2626527" y="5230299"/>
              <a:ext cx="1390429" cy="795211"/>
            </a:xfrm>
            <a:custGeom>
              <a:avLst/>
              <a:ahLst/>
              <a:cxnLst>
                <a:cxn ang="0">
                  <a:pos x="46" y="172"/>
                </a:cxn>
                <a:cxn ang="0">
                  <a:pos x="46" y="136"/>
                </a:cxn>
                <a:cxn ang="0">
                  <a:pos x="29" y="142"/>
                </a:cxn>
                <a:cxn ang="0">
                  <a:pos x="26" y="142"/>
                </a:cxn>
                <a:cxn ang="0">
                  <a:pos x="8" y="133"/>
                </a:cxn>
                <a:cxn ang="0">
                  <a:pos x="0" y="113"/>
                </a:cxn>
                <a:cxn ang="0">
                  <a:pos x="8" y="92"/>
                </a:cxn>
                <a:cxn ang="0">
                  <a:pos x="21" y="85"/>
                </a:cxn>
                <a:cxn ang="0">
                  <a:pos x="29" y="84"/>
                </a:cxn>
                <a:cxn ang="0">
                  <a:pos x="46" y="89"/>
                </a:cxn>
                <a:cxn ang="0">
                  <a:pos x="46" y="46"/>
                </a:cxn>
                <a:cxn ang="0">
                  <a:pos x="97" y="46"/>
                </a:cxn>
                <a:cxn ang="0">
                  <a:pos x="92" y="29"/>
                </a:cxn>
                <a:cxn ang="0">
                  <a:pos x="100" y="9"/>
                </a:cxn>
                <a:cxn ang="0">
                  <a:pos x="121" y="0"/>
                </a:cxn>
                <a:cxn ang="0">
                  <a:pos x="141" y="9"/>
                </a:cxn>
                <a:cxn ang="0">
                  <a:pos x="150" y="29"/>
                </a:cxn>
                <a:cxn ang="0">
                  <a:pos x="145" y="46"/>
                </a:cxn>
                <a:cxn ang="0">
                  <a:pos x="237" y="46"/>
                </a:cxn>
                <a:cxn ang="0">
                  <a:pos x="260" y="50"/>
                </a:cxn>
                <a:cxn ang="0">
                  <a:pos x="282" y="64"/>
                </a:cxn>
                <a:cxn ang="0">
                  <a:pos x="300" y="109"/>
                </a:cxn>
                <a:cxn ang="0">
                  <a:pos x="300" y="109"/>
                </a:cxn>
                <a:cxn ang="0">
                  <a:pos x="282" y="153"/>
                </a:cxn>
                <a:cxn ang="0">
                  <a:pos x="239" y="172"/>
                </a:cxn>
                <a:cxn ang="0">
                  <a:pos x="46" y="172"/>
                </a:cxn>
              </a:cxnLst>
              <a:rect l="0" t="0" r="r" b="b"/>
              <a:pathLst>
                <a:path w="300" h="172">
                  <a:moveTo>
                    <a:pt x="46" y="172"/>
                  </a:moveTo>
                  <a:cubicBezTo>
                    <a:pt x="46" y="136"/>
                    <a:pt x="46" y="136"/>
                    <a:pt x="46" y="136"/>
                  </a:cubicBezTo>
                  <a:cubicBezTo>
                    <a:pt x="41" y="140"/>
                    <a:pt x="35" y="142"/>
                    <a:pt x="29" y="142"/>
                  </a:cubicBezTo>
                  <a:cubicBezTo>
                    <a:pt x="28" y="142"/>
                    <a:pt x="27" y="142"/>
                    <a:pt x="26" y="142"/>
                  </a:cubicBezTo>
                  <a:cubicBezTo>
                    <a:pt x="19" y="141"/>
                    <a:pt x="13" y="138"/>
                    <a:pt x="8" y="133"/>
                  </a:cubicBezTo>
                  <a:cubicBezTo>
                    <a:pt x="3" y="127"/>
                    <a:pt x="0" y="121"/>
                    <a:pt x="0" y="113"/>
                  </a:cubicBezTo>
                  <a:cubicBezTo>
                    <a:pt x="0" y="105"/>
                    <a:pt x="3" y="98"/>
                    <a:pt x="8" y="92"/>
                  </a:cubicBezTo>
                  <a:cubicBezTo>
                    <a:pt x="12" y="88"/>
                    <a:pt x="16" y="86"/>
                    <a:pt x="21" y="85"/>
                  </a:cubicBezTo>
                  <a:cubicBezTo>
                    <a:pt x="24" y="84"/>
                    <a:pt x="26" y="84"/>
                    <a:pt x="29" y="84"/>
                  </a:cubicBezTo>
                  <a:cubicBezTo>
                    <a:pt x="35" y="84"/>
                    <a:pt x="41" y="85"/>
                    <a:pt x="46" y="89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4" y="41"/>
                    <a:pt x="92" y="35"/>
                    <a:pt x="92" y="29"/>
                  </a:cubicBezTo>
                  <a:cubicBezTo>
                    <a:pt x="92" y="21"/>
                    <a:pt x="95" y="15"/>
                    <a:pt x="100" y="9"/>
                  </a:cubicBezTo>
                  <a:cubicBezTo>
                    <a:pt x="106" y="3"/>
                    <a:pt x="113" y="0"/>
                    <a:pt x="121" y="0"/>
                  </a:cubicBezTo>
                  <a:cubicBezTo>
                    <a:pt x="129" y="0"/>
                    <a:pt x="136" y="3"/>
                    <a:pt x="141" y="9"/>
                  </a:cubicBezTo>
                  <a:cubicBezTo>
                    <a:pt x="147" y="15"/>
                    <a:pt x="150" y="21"/>
                    <a:pt x="150" y="29"/>
                  </a:cubicBezTo>
                  <a:cubicBezTo>
                    <a:pt x="150" y="35"/>
                    <a:pt x="148" y="41"/>
                    <a:pt x="145" y="46"/>
                  </a:cubicBezTo>
                  <a:cubicBezTo>
                    <a:pt x="237" y="46"/>
                    <a:pt x="237" y="46"/>
                    <a:pt x="237" y="46"/>
                  </a:cubicBezTo>
                  <a:cubicBezTo>
                    <a:pt x="245" y="46"/>
                    <a:pt x="253" y="47"/>
                    <a:pt x="260" y="50"/>
                  </a:cubicBezTo>
                  <a:cubicBezTo>
                    <a:pt x="268" y="53"/>
                    <a:pt x="275" y="57"/>
                    <a:pt x="282" y="64"/>
                  </a:cubicBezTo>
                  <a:cubicBezTo>
                    <a:pt x="294" y="76"/>
                    <a:pt x="300" y="91"/>
                    <a:pt x="300" y="109"/>
                  </a:cubicBezTo>
                  <a:cubicBezTo>
                    <a:pt x="300" y="109"/>
                    <a:pt x="300" y="109"/>
                    <a:pt x="300" y="109"/>
                  </a:cubicBezTo>
                  <a:cubicBezTo>
                    <a:pt x="300" y="126"/>
                    <a:pt x="294" y="141"/>
                    <a:pt x="282" y="153"/>
                  </a:cubicBezTo>
                  <a:cubicBezTo>
                    <a:pt x="270" y="165"/>
                    <a:pt x="255" y="171"/>
                    <a:pt x="239" y="172"/>
                  </a:cubicBezTo>
                  <a:lnTo>
                    <a:pt x="46" y="172"/>
                  </a:lnTo>
                  <a:close/>
                </a:path>
              </a:pathLst>
            </a:custGeom>
            <a:solidFill>
              <a:srgbClr val="344F66"/>
            </a:solidFill>
            <a:ln w="19050">
              <a:solidFill>
                <a:schemeClr val="bg1"/>
              </a:solidFill>
              <a:round/>
            </a:ln>
          </p:spPr>
          <p:txBody>
            <a:bodyPr anchor="t" anchorCtr="0" bIns="60960" compatLnSpc="1" lIns="121920" numCol="1" rIns="121920" tIns="60960" vert="horz" wrap="square"/>
            <a:p>
              <a:endParaRPr sz="2400" lang="en-US">
                <a:cs typeface="+mn-ea"/>
                <a:sym typeface="+mn-lt"/>
              </a:endParaRPr>
            </a:p>
          </p:txBody>
        </p:sp>
      </p:grpSp>
      <p:sp>
        <p:nvSpPr>
          <p:cNvPr id="1048782" name="Oval 31"/>
          <p:cNvSpPr/>
          <p:nvPr/>
        </p:nvSpPr>
        <p:spPr>
          <a:xfrm>
            <a:off x="6660248" y="3424714"/>
            <a:ext cx="1113973" cy="1113971"/>
          </a:xfrm>
          <a:prstGeom prst="ellipse"/>
          <a:noFill/>
          <a:ln>
            <a:solidFill>
              <a:srgbClr val="CF3B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sz="3200" lang="en-US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8783" name="Freeform 154"/>
          <p:cNvSpPr/>
          <p:nvPr/>
        </p:nvSpPr>
        <p:spPr bwMode="auto">
          <a:xfrm>
            <a:off x="6941346" y="3811436"/>
            <a:ext cx="519905" cy="414417"/>
          </a:xfrm>
          <a:custGeom>
            <a:avLst/>
            <a:ahLst/>
            <a:cxnLst>
              <a:cxn ang="0">
                <a:pos x="57" y="12"/>
              </a:cxn>
              <a:cxn ang="0">
                <a:pos x="57" y="14"/>
              </a:cxn>
              <a:cxn ang="0">
                <a:pos x="20" y="51"/>
              </a:cxn>
              <a:cxn ang="0">
                <a:pos x="0" y="45"/>
              </a:cxn>
              <a:cxn ang="0">
                <a:pos x="3" y="45"/>
              </a:cxn>
              <a:cxn ang="0">
                <a:pos x="19" y="40"/>
              </a:cxn>
              <a:cxn ang="0">
                <a:pos x="7" y="31"/>
              </a:cxn>
              <a:cxn ang="0">
                <a:pos x="10" y="31"/>
              </a:cxn>
              <a:cxn ang="0">
                <a:pos x="13" y="31"/>
              </a:cxn>
              <a:cxn ang="0">
                <a:pos x="3" y="18"/>
              </a:cxn>
              <a:cxn ang="0">
                <a:pos x="3" y="18"/>
              </a:cxn>
              <a:cxn ang="0">
                <a:pos x="9" y="19"/>
              </a:cxn>
              <a:cxn ang="0">
                <a:pos x="3" y="9"/>
              </a:cxn>
              <a:cxn ang="0">
                <a:pos x="5" y="2"/>
              </a:cxn>
              <a:cxn ang="0">
                <a:pos x="31" y="16"/>
              </a:cxn>
              <a:cxn ang="0">
                <a:pos x="31" y="13"/>
              </a:cxn>
              <a:cxn ang="0">
                <a:pos x="44" y="0"/>
              </a:cxn>
              <a:cxn ang="0">
                <a:pos x="54" y="4"/>
              </a:cxn>
              <a:cxn ang="0">
                <a:pos x="62" y="1"/>
              </a:cxn>
              <a:cxn ang="0">
                <a:pos x="56" y="8"/>
              </a:cxn>
              <a:cxn ang="0">
                <a:pos x="64" y="6"/>
              </a:cxn>
              <a:cxn ang="0">
                <a:pos x="57" y="12"/>
              </a:cxn>
            </a:cxnLst>
            <a:rect l="0" t="0" r="r" b="b"/>
            <a:pathLst>
              <a:path w="64" h="51">
                <a:moveTo>
                  <a:pt x="57" y="12"/>
                </a:moveTo>
                <a:cubicBezTo>
                  <a:pt x="57" y="13"/>
                  <a:pt x="57" y="14"/>
                  <a:pt x="57" y="14"/>
                </a:cubicBezTo>
                <a:cubicBezTo>
                  <a:pt x="57" y="31"/>
                  <a:pt x="44" y="51"/>
                  <a:pt x="20" y="51"/>
                </a:cubicBezTo>
                <a:cubicBezTo>
                  <a:pt x="13" y="51"/>
                  <a:pt x="6" y="49"/>
                  <a:pt x="0" y="45"/>
                </a:cubicBezTo>
                <a:cubicBezTo>
                  <a:pt x="1" y="45"/>
                  <a:pt x="2" y="45"/>
                  <a:pt x="3" y="45"/>
                </a:cubicBezTo>
                <a:cubicBezTo>
                  <a:pt x="9" y="45"/>
                  <a:pt x="15" y="43"/>
                  <a:pt x="19" y="40"/>
                </a:cubicBezTo>
                <a:cubicBezTo>
                  <a:pt x="14" y="40"/>
                  <a:pt x="9" y="36"/>
                  <a:pt x="7" y="31"/>
                </a:cubicBezTo>
                <a:cubicBezTo>
                  <a:pt x="8" y="31"/>
                  <a:pt x="9" y="31"/>
                  <a:pt x="10" y="31"/>
                </a:cubicBezTo>
                <a:cubicBezTo>
                  <a:pt x="11" y="31"/>
                  <a:pt x="12" y="31"/>
                  <a:pt x="13" y="31"/>
                </a:cubicBezTo>
                <a:cubicBezTo>
                  <a:pt x="7" y="29"/>
                  <a:pt x="3" y="24"/>
                  <a:pt x="3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5" y="19"/>
                  <a:pt x="7" y="19"/>
                  <a:pt x="9" y="19"/>
                </a:cubicBezTo>
                <a:cubicBezTo>
                  <a:pt x="5" y="17"/>
                  <a:pt x="3" y="13"/>
                  <a:pt x="3" y="9"/>
                </a:cubicBezTo>
                <a:cubicBezTo>
                  <a:pt x="3" y="6"/>
                  <a:pt x="4" y="4"/>
                  <a:pt x="5" y="2"/>
                </a:cubicBezTo>
                <a:cubicBezTo>
                  <a:pt x="11" y="10"/>
                  <a:pt x="21" y="15"/>
                  <a:pt x="31" y="16"/>
                </a:cubicBezTo>
                <a:cubicBezTo>
                  <a:pt x="31" y="15"/>
                  <a:pt x="31" y="14"/>
                  <a:pt x="31" y="13"/>
                </a:cubicBezTo>
                <a:cubicBezTo>
                  <a:pt x="31" y="5"/>
                  <a:pt x="37" y="0"/>
                  <a:pt x="44" y="0"/>
                </a:cubicBezTo>
                <a:cubicBezTo>
                  <a:pt x="48" y="0"/>
                  <a:pt x="51" y="1"/>
                  <a:pt x="54" y="4"/>
                </a:cubicBezTo>
                <a:cubicBezTo>
                  <a:pt x="56" y="3"/>
                  <a:pt x="59" y="2"/>
                  <a:pt x="62" y="1"/>
                </a:cubicBezTo>
                <a:cubicBezTo>
                  <a:pt x="61" y="4"/>
                  <a:pt x="59" y="6"/>
                  <a:pt x="56" y="8"/>
                </a:cubicBezTo>
                <a:cubicBezTo>
                  <a:pt x="59" y="7"/>
                  <a:pt x="61" y="7"/>
                  <a:pt x="64" y="6"/>
                </a:cubicBezTo>
                <a:cubicBezTo>
                  <a:pt x="62" y="8"/>
                  <a:pt x="60" y="11"/>
                  <a:pt x="57" y="12"/>
                </a:cubicBezTo>
                <a:close/>
              </a:path>
            </a:pathLst>
          </a:custGeom>
          <a:solidFill>
            <a:srgbClr val="CF3B4C"/>
          </a:solidFill>
          <a:ln w="9525">
            <a:noFill/>
            <a:round/>
          </a:ln>
        </p:spPr>
        <p:txBody>
          <a:bodyPr anchor="t" anchorCtr="0" bIns="60960" compatLnSpc="1" lIns="121920" numCol="1" rIns="121920" tIns="60960" vert="horz" wrap="square"/>
          <a:p>
            <a:endParaRPr sz="2400" lang="en-US">
              <a:cs typeface="+mn-ea"/>
              <a:sym typeface="+mn-lt"/>
            </a:endParaRPr>
          </a:p>
        </p:txBody>
      </p:sp>
      <p:sp>
        <p:nvSpPr>
          <p:cNvPr id="1048784" name="Oval 32"/>
          <p:cNvSpPr/>
          <p:nvPr/>
        </p:nvSpPr>
        <p:spPr>
          <a:xfrm>
            <a:off x="8765469" y="3424714"/>
            <a:ext cx="1113973" cy="1113971"/>
          </a:xfrm>
          <a:prstGeom prst="ellipse"/>
          <a:noFill/>
          <a:ln>
            <a:solidFill>
              <a:srgbClr val="344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sz="3200" lang="en-US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8785" name="Freeform 141"/>
          <p:cNvSpPr>
            <a:spLocks noEditPoints="1"/>
          </p:cNvSpPr>
          <p:nvPr/>
        </p:nvSpPr>
        <p:spPr bwMode="auto">
          <a:xfrm>
            <a:off x="9100022" y="3846184"/>
            <a:ext cx="478335" cy="344921"/>
          </a:xfrm>
          <a:custGeom>
            <a:avLst/>
            <a:ahLst/>
            <a:cxnLst>
              <a:cxn ang="0">
                <a:pos x="67" y="41"/>
              </a:cxn>
              <a:cxn ang="0">
                <a:pos x="59" y="48"/>
              </a:cxn>
              <a:cxn ang="0">
                <a:pos x="34" y="49"/>
              </a:cxn>
              <a:cxn ang="0">
                <a:pos x="8" y="48"/>
              </a:cxn>
              <a:cxn ang="0">
                <a:pos x="1" y="41"/>
              </a:cxn>
              <a:cxn ang="0">
                <a:pos x="0" y="25"/>
              </a:cxn>
              <a:cxn ang="0">
                <a:pos x="1" y="8"/>
              </a:cxn>
              <a:cxn ang="0">
                <a:pos x="8" y="1"/>
              </a:cxn>
              <a:cxn ang="0">
                <a:pos x="34" y="0"/>
              </a:cxn>
              <a:cxn ang="0">
                <a:pos x="59" y="1"/>
              </a:cxn>
              <a:cxn ang="0">
                <a:pos x="67" y="8"/>
              </a:cxn>
              <a:cxn ang="0">
                <a:pos x="68" y="25"/>
              </a:cxn>
              <a:cxn ang="0">
                <a:pos x="67" y="41"/>
              </a:cxn>
              <a:cxn ang="0">
                <a:pos x="47" y="23"/>
              </a:cxn>
              <a:cxn ang="0">
                <a:pos x="28" y="11"/>
              </a:cxn>
              <a:cxn ang="0">
                <a:pos x="25" y="10"/>
              </a:cxn>
              <a:cxn ang="0">
                <a:pos x="24" y="13"/>
              </a:cxn>
              <a:cxn ang="0">
                <a:pos x="24" y="37"/>
              </a:cxn>
              <a:cxn ang="0">
                <a:pos x="25" y="39"/>
              </a:cxn>
              <a:cxn ang="0">
                <a:pos x="26" y="39"/>
              </a:cxn>
              <a:cxn ang="0">
                <a:pos x="28" y="39"/>
              </a:cxn>
              <a:cxn ang="0">
                <a:pos x="47" y="27"/>
              </a:cxn>
              <a:cxn ang="0">
                <a:pos x="48" y="25"/>
              </a:cxn>
              <a:cxn ang="0">
                <a:pos x="47" y="23"/>
              </a:cxn>
            </a:cxnLst>
            <a:rect l="0" t="0" r="r" b="b"/>
            <a:pathLst>
              <a:path w="68" h="49">
                <a:moveTo>
                  <a:pt x="67" y="41"/>
                </a:moveTo>
                <a:cubicBezTo>
                  <a:pt x="66" y="45"/>
                  <a:pt x="63" y="48"/>
                  <a:pt x="59" y="48"/>
                </a:cubicBezTo>
                <a:cubicBezTo>
                  <a:pt x="51" y="49"/>
                  <a:pt x="42" y="49"/>
                  <a:pt x="34" y="49"/>
                </a:cubicBezTo>
                <a:cubicBezTo>
                  <a:pt x="25" y="49"/>
                  <a:pt x="17" y="49"/>
                  <a:pt x="8" y="48"/>
                </a:cubicBezTo>
                <a:cubicBezTo>
                  <a:pt x="5" y="48"/>
                  <a:pt x="2" y="45"/>
                  <a:pt x="1" y="41"/>
                </a:cubicBezTo>
                <a:cubicBezTo>
                  <a:pt x="0" y="36"/>
                  <a:pt x="0" y="30"/>
                  <a:pt x="0" y="25"/>
                </a:cubicBezTo>
                <a:cubicBezTo>
                  <a:pt x="0" y="19"/>
                  <a:pt x="0" y="14"/>
                  <a:pt x="1" y="8"/>
                </a:cubicBezTo>
                <a:cubicBezTo>
                  <a:pt x="2" y="5"/>
                  <a:pt x="5" y="2"/>
                  <a:pt x="8" y="1"/>
                </a:cubicBezTo>
                <a:cubicBezTo>
                  <a:pt x="17" y="0"/>
                  <a:pt x="25" y="0"/>
                  <a:pt x="34" y="0"/>
                </a:cubicBezTo>
                <a:cubicBezTo>
                  <a:pt x="42" y="0"/>
                  <a:pt x="51" y="0"/>
                  <a:pt x="59" y="1"/>
                </a:cubicBezTo>
                <a:cubicBezTo>
                  <a:pt x="63" y="2"/>
                  <a:pt x="66" y="5"/>
                  <a:pt x="67" y="8"/>
                </a:cubicBezTo>
                <a:cubicBezTo>
                  <a:pt x="68" y="14"/>
                  <a:pt x="68" y="19"/>
                  <a:pt x="68" y="25"/>
                </a:cubicBezTo>
                <a:cubicBezTo>
                  <a:pt x="68" y="30"/>
                  <a:pt x="68" y="36"/>
                  <a:pt x="67" y="41"/>
                </a:cubicBezTo>
                <a:close/>
                <a:moveTo>
                  <a:pt x="47" y="23"/>
                </a:moveTo>
                <a:cubicBezTo>
                  <a:pt x="28" y="11"/>
                  <a:pt x="28" y="11"/>
                  <a:pt x="28" y="11"/>
                </a:cubicBezTo>
                <a:cubicBezTo>
                  <a:pt x="27" y="10"/>
                  <a:pt x="26" y="10"/>
                  <a:pt x="25" y="10"/>
                </a:cubicBezTo>
                <a:cubicBezTo>
                  <a:pt x="25" y="11"/>
                  <a:pt x="24" y="12"/>
                  <a:pt x="24" y="13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8"/>
                  <a:pt x="25" y="39"/>
                  <a:pt x="25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7" y="39"/>
                  <a:pt x="27" y="39"/>
                  <a:pt x="28" y="39"/>
                </a:cubicBezTo>
                <a:cubicBezTo>
                  <a:pt x="47" y="27"/>
                  <a:pt x="47" y="27"/>
                  <a:pt x="47" y="27"/>
                </a:cubicBezTo>
                <a:cubicBezTo>
                  <a:pt x="48" y="26"/>
                  <a:pt x="48" y="26"/>
                  <a:pt x="48" y="25"/>
                </a:cubicBezTo>
                <a:cubicBezTo>
                  <a:pt x="48" y="24"/>
                  <a:pt x="48" y="23"/>
                  <a:pt x="47" y="23"/>
                </a:cubicBezTo>
                <a:close/>
              </a:path>
            </a:pathLst>
          </a:custGeom>
          <a:solidFill>
            <a:srgbClr val="344F66"/>
          </a:solidFill>
          <a:ln w="9525">
            <a:noFill/>
            <a:round/>
          </a:ln>
        </p:spPr>
        <p:txBody>
          <a:bodyPr anchor="t" anchorCtr="0" bIns="60960" compatLnSpc="1" lIns="121920" numCol="1" rIns="121920" tIns="60960" vert="horz" wrap="square"/>
          <a:p>
            <a:endParaRPr sz="2400" lang="en-US">
              <a:cs typeface="+mn-ea"/>
              <a:sym typeface="+mn-lt"/>
            </a:endParaRPr>
          </a:p>
        </p:txBody>
      </p:sp>
      <p:sp>
        <p:nvSpPr>
          <p:cNvPr id="1048786" name="Oval 30"/>
          <p:cNvSpPr/>
          <p:nvPr/>
        </p:nvSpPr>
        <p:spPr>
          <a:xfrm>
            <a:off x="4765233" y="3424714"/>
            <a:ext cx="1113973" cy="1113971"/>
          </a:xfrm>
          <a:prstGeom prst="ellipse"/>
          <a:noFill/>
          <a:ln>
            <a:solidFill>
              <a:srgbClr val="344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sz="3200" lang="en-US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8787" name="Freeform 83"/>
          <p:cNvSpPr/>
          <p:nvPr/>
        </p:nvSpPr>
        <p:spPr bwMode="auto">
          <a:xfrm>
            <a:off x="5131660" y="3823053"/>
            <a:ext cx="381121" cy="381121"/>
          </a:xfrm>
          <a:custGeom>
            <a:avLst/>
            <a:ahLst/>
            <a:cxnLst>
              <a:cxn ang="0">
                <a:pos x="44" y="55"/>
              </a:cxn>
              <a:cxn ang="0">
                <a:pos x="37" y="55"/>
              </a:cxn>
              <a:cxn ang="0">
                <a:pos x="37" y="33"/>
              </a:cxn>
              <a:cxn ang="0">
                <a:pos x="45" y="33"/>
              </a:cxn>
              <a:cxn ang="0">
                <a:pos x="46" y="25"/>
              </a:cxn>
              <a:cxn ang="0">
                <a:pos x="37" y="25"/>
              </a:cxn>
              <a:cxn ang="0">
                <a:pos x="37" y="20"/>
              </a:cxn>
              <a:cxn ang="0">
                <a:pos x="42" y="16"/>
              </a:cxn>
              <a:cxn ang="0">
                <a:pos x="47" y="16"/>
              </a:cxn>
              <a:cxn ang="0">
                <a:pos x="47" y="9"/>
              </a:cxn>
              <a:cxn ang="0">
                <a:pos x="40" y="8"/>
              </a:cxn>
              <a:cxn ang="0">
                <a:pos x="29" y="19"/>
              </a:cxn>
              <a:cxn ang="0">
                <a:pos x="29" y="25"/>
              </a:cxn>
              <a:cxn ang="0">
                <a:pos x="21" y="25"/>
              </a:cxn>
              <a:cxn ang="0">
                <a:pos x="21" y="33"/>
              </a:cxn>
              <a:cxn ang="0">
                <a:pos x="29" y="33"/>
              </a:cxn>
              <a:cxn ang="0">
                <a:pos x="29" y="55"/>
              </a:cxn>
              <a:cxn ang="0">
                <a:pos x="10" y="55"/>
              </a:cxn>
              <a:cxn ang="0">
                <a:pos x="0" y="45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5"/>
              </a:cxn>
              <a:cxn ang="0">
                <a:pos x="44" y="55"/>
              </a:cxn>
            </a:cxnLst>
            <a:rect l="0" t="0" r="r" b="b"/>
            <a:pathLst>
              <a:path w="55" h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rgbClr val="344F66"/>
          </a:solidFill>
          <a:ln w="9525">
            <a:noFill/>
            <a:round/>
          </a:ln>
        </p:spPr>
        <p:txBody>
          <a:bodyPr anchor="t" anchorCtr="0" bIns="60960" compatLnSpc="1" lIns="121920" numCol="1" rIns="121920" tIns="60960" vert="horz" wrap="square"/>
          <a:p>
            <a:endParaRPr sz="2400" lang="en-US">
              <a:cs typeface="+mn-ea"/>
              <a:sym typeface="+mn-lt"/>
            </a:endParaRPr>
          </a:p>
        </p:txBody>
      </p:sp>
      <p:sp>
        <p:nvSpPr>
          <p:cNvPr id="1048788" name="文本框 60"/>
          <p:cNvSpPr>
            <a:spLocks noChangeArrowheads="1"/>
          </p:cNvSpPr>
          <p:nvPr/>
        </p:nvSpPr>
        <p:spPr bwMode="auto">
          <a:xfrm>
            <a:off x="4835577" y="4946329"/>
            <a:ext cx="1562613" cy="1247141"/>
          </a:xfrm>
          <a:prstGeom prst="rect"/>
          <a:noFill/>
          <a:ln>
            <a:noFill/>
          </a:ln>
        </p:spPr>
        <p:txBody>
          <a:bodyPr wrap="square">
            <a:spAutoFit/>
          </a:bodyPr>
          <a:p>
            <a:r>
              <a:rPr altLang="en-US" b="1" dirty="0" sz="1400" lang="zh-CN">
                <a:solidFill>
                  <a:srgbClr val="344F66"/>
                </a:solidFill>
                <a:cs typeface="+mn-ea"/>
              </a:rPr>
              <a:t>需求分析</a:t>
            </a:r>
            <a:endParaRPr altLang="zh-CN" b="1" dirty="0" sz="1400" lang="en-US">
              <a:solidFill>
                <a:srgbClr val="344F66"/>
              </a:solidFill>
              <a:cs typeface="+mn-ea"/>
            </a:endParaRPr>
          </a:p>
          <a:p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查阅国内外游戏设计文献，分析 类银河恶魔城游戏结构特征、玩家偏好与市场表现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  <a:p>
            <a:endParaRPr altLang="en-US" dirty="0" sz="16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789" name="文本框 60"/>
          <p:cNvSpPr>
            <a:spLocks noChangeArrowheads="1"/>
          </p:cNvSpPr>
          <p:nvPr/>
        </p:nvSpPr>
        <p:spPr bwMode="auto">
          <a:xfrm>
            <a:off x="6800523" y="4946328"/>
            <a:ext cx="1562613" cy="1450340"/>
          </a:xfrm>
          <a:prstGeom prst="rect"/>
          <a:noFill/>
          <a:ln>
            <a:noFill/>
          </a:ln>
        </p:spPr>
        <p:txBody>
          <a:bodyPr wrap="square">
            <a:spAutoFit/>
          </a:bodyPr>
          <a:p>
            <a:r>
              <a:rPr altLang="en-US" b="1" dirty="0" sz="1400" lang="zh-CN">
                <a:solidFill>
                  <a:srgbClr val="344F66"/>
                </a:solidFill>
                <a:cs typeface="+mn-ea"/>
              </a:rPr>
              <a:t>系统设计与模块划分</a:t>
            </a:r>
            <a:endParaRPr altLang="zh-CN" b="1" dirty="0" sz="1400" lang="en-US">
              <a:solidFill>
                <a:srgbClr val="344F66"/>
              </a:solidFill>
              <a:cs typeface="+mn-ea"/>
            </a:endParaRPr>
          </a:p>
          <a:p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设计角色移动、技能成长、敌人</a:t>
            </a:r>
            <a:r>
              <a:rPr altLang="zh-CN" dirty="0" sz="1200" lang="en-US">
                <a:solidFill>
                  <a:srgbClr val="555555"/>
                </a:solidFill>
                <a:cs typeface="+mn-ea"/>
              </a:rPr>
              <a:t>AI</a:t>
            </a:r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、交互物件、关卡流程等核心系统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  <a:p>
            <a:endParaRPr altLang="en-US" dirty="0" sz="16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790" name="文本框 60"/>
          <p:cNvSpPr>
            <a:spLocks noChangeArrowheads="1"/>
          </p:cNvSpPr>
          <p:nvPr/>
        </p:nvSpPr>
        <p:spPr bwMode="auto">
          <a:xfrm>
            <a:off x="8765469" y="4960155"/>
            <a:ext cx="1562613" cy="1450341"/>
          </a:xfrm>
          <a:prstGeom prst="rect"/>
          <a:noFill/>
          <a:ln>
            <a:noFill/>
          </a:ln>
        </p:spPr>
        <p:txBody>
          <a:bodyPr wrap="square">
            <a:spAutoFit/>
          </a:bodyPr>
          <a:p>
            <a:r>
              <a:rPr altLang="en-US" b="1" dirty="0" sz="1400" lang="zh-CN">
                <a:solidFill>
                  <a:srgbClr val="344F66"/>
                </a:solidFill>
                <a:cs typeface="+mn-ea"/>
              </a:rPr>
              <a:t>功能开发与游戏构建</a:t>
            </a:r>
            <a:endParaRPr altLang="zh-CN" b="1" dirty="0" sz="1400" lang="en-US">
              <a:solidFill>
                <a:srgbClr val="344F66"/>
              </a:solidFill>
              <a:cs typeface="+mn-ea"/>
            </a:endParaRPr>
          </a:p>
          <a:p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基于 </a:t>
            </a:r>
            <a:r>
              <a:rPr altLang="zh-CN" dirty="0" sz="1200" lang="en-US">
                <a:solidFill>
                  <a:srgbClr val="555555"/>
                </a:solidFill>
                <a:cs typeface="+mn-ea"/>
              </a:rPr>
              <a:t>Unity </a:t>
            </a:r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实现角色动作、战斗判定、地图探索、道具机制、</a:t>
            </a:r>
            <a:r>
              <a:rPr altLang="zh-CN" dirty="0" sz="1200" lang="en-US">
                <a:solidFill>
                  <a:srgbClr val="555555"/>
                </a:solidFill>
                <a:cs typeface="+mn-ea"/>
              </a:rPr>
              <a:t>UI</a:t>
            </a:r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交互等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  <a:p>
            <a:endParaRPr altLang="en-US" dirty="0" sz="16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791" name="文本框 21"/>
          <p:cNvSpPr txBox="1"/>
          <p:nvPr/>
        </p:nvSpPr>
        <p:spPr>
          <a:xfrm>
            <a:off x="1100117" y="1776941"/>
            <a:ext cx="10609580" cy="358140"/>
          </a:xfrm>
          <a:prstGeom prst="rect"/>
          <a:noFill/>
          <a:effectLst/>
        </p:spPr>
        <p:txBody>
          <a:bodyPr rtlCol="0" wrap="none">
            <a:spAutoFit/>
          </a:bodyPr>
          <a:p>
            <a:r>
              <a:rPr altLang="en-US" dirty="0" lang="zh-CN"/>
              <a:t>采用 </a:t>
            </a:r>
            <a:r>
              <a:rPr altLang="en-US" b="1" dirty="0" lang="zh-CN"/>
              <a:t>“需求分析 → 理论支撑 → 系统设计 → 模块开发 → 游戏实现 → 测试优化 → 发布验证”</a:t>
            </a:r>
            <a:r>
              <a:rPr altLang="en-US" dirty="0" lang="zh-CN"/>
              <a:t>的研究路径</a:t>
            </a:r>
            <a:endParaRPr altLang="zh-CN" dirty="0" sz="2400" lang="en-US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792" name="TextBox 42"/>
          <p:cNvSpPr txBox="1"/>
          <p:nvPr/>
        </p:nvSpPr>
        <p:spPr>
          <a:xfrm>
            <a:off x="1311470" y="315858"/>
            <a:ext cx="3649369" cy="430887"/>
          </a:xfrm>
          <a:prstGeom prst="rect"/>
          <a:noFill/>
          <a:ln>
            <a:noFill/>
          </a:ln>
        </p:spPr>
        <p:txBody>
          <a:bodyPr anchor="t" anchorCtr="0" bIns="0" compatLnSpc="1" lIns="0" numCol="1" rIns="0" tIns="0" vert="horz" wrap="square">
            <a:spAutoFit/>
          </a:bodyPr>
          <a:lstStyle>
            <a:defPPr>
              <a:defRPr lang="zh-CN"/>
            </a:defPPr>
            <a:lvl1pPr defTabSz="914400" eaLnBrk="1" hangingPunct="1" indent="0" latinLnBrk="0" lvl="0" marL="0" marR="0">
              <a:lnSpc>
                <a:spcPct val="100000"/>
              </a:lnSpc>
              <a:buClrTx/>
              <a:buSzTx/>
              <a:buFontTx/>
              <a:buNone/>
              <a:defRPr baseline="0" b="1" cap="none" sz="2800" i="0" kumimoji="0" normalizeH="0" strike="noStrike" u="none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2.2 </a:t>
            </a:r>
            <a:r>
              <a:rPr altLang="en-US" b="0" dirty="0" lang="zh-CN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研究思路</a:t>
            </a:r>
          </a:p>
        </p:txBody>
      </p:sp>
      <p:sp>
        <p:nvSpPr>
          <p:cNvPr id="1048793" name="Oval 32"/>
          <p:cNvSpPr/>
          <p:nvPr/>
        </p:nvSpPr>
        <p:spPr>
          <a:xfrm>
            <a:off x="10730415" y="3427288"/>
            <a:ext cx="1113973" cy="1113971"/>
          </a:xfrm>
          <a:prstGeom prst="ellipse"/>
          <a:noFill/>
          <a:ln>
            <a:solidFill>
              <a:srgbClr val="CF3B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sz="3200" lang="en-US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0" name="组合 26"/>
          <p:cNvGrpSpPr/>
          <p:nvPr/>
        </p:nvGrpSpPr>
        <p:grpSpPr>
          <a:xfrm>
            <a:off x="11094693" y="3845654"/>
            <a:ext cx="421096" cy="402728"/>
            <a:chOff x="1004888" y="993775"/>
            <a:chExt cx="2438400" cy="2332038"/>
          </a:xfrm>
          <a:solidFill>
            <a:srgbClr val="344F66"/>
          </a:solidFill>
          <a:effectLst/>
        </p:grpSpPr>
        <p:sp>
          <p:nvSpPr>
            <p:cNvPr id="1048794" name="Freeform 25"/>
            <p:cNvSpPr/>
            <p:nvPr/>
          </p:nvSpPr>
          <p:spPr bwMode="auto">
            <a:xfrm>
              <a:off x="1898651" y="2670175"/>
              <a:ext cx="655638" cy="655638"/>
            </a:xfrm>
            <a:custGeom>
              <a:avLst/>
              <a:gdLst>
                <a:gd name="T0" fmla="*/ 206 w 413"/>
                <a:gd name="T1" fmla="*/ 413 h 413"/>
                <a:gd name="T2" fmla="*/ 0 w 413"/>
                <a:gd name="T3" fmla="*/ 0 h 413"/>
                <a:gd name="T4" fmla="*/ 413 w 413"/>
                <a:gd name="T5" fmla="*/ 0 h 413"/>
                <a:gd name="T6" fmla="*/ 206 w 413"/>
                <a:gd name="T7" fmla="*/ 41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3" h="413">
                  <a:moveTo>
                    <a:pt x="206" y="413"/>
                  </a:moveTo>
                  <a:lnTo>
                    <a:pt x="0" y="0"/>
                  </a:lnTo>
                  <a:lnTo>
                    <a:pt x="413" y="0"/>
                  </a:lnTo>
                  <a:lnTo>
                    <a:pt x="206" y="413"/>
                  </a:lnTo>
                  <a:close/>
                </a:path>
              </a:pathLst>
            </a:custGeom>
            <a:solidFill>
              <a:srgbClr val="CF3B4C"/>
            </a:solidFill>
            <a:ln>
              <a:noFill/>
            </a:ln>
          </p:spPr>
          <p:txBody>
            <a:bodyPr/>
            <a:p>
              <a:pPr fontAlgn="auto"/>
              <a:endParaRPr altLang="en-US" sz="2000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795" name="任意多边形 43"/>
            <p:cNvSpPr>
              <a:spLocks noChangeArrowheads="1"/>
            </p:cNvSpPr>
            <p:nvPr/>
          </p:nvSpPr>
          <p:spPr bwMode="auto">
            <a:xfrm>
              <a:off x="1004888" y="993775"/>
              <a:ext cx="2438400" cy="1774825"/>
            </a:xfrm>
            <a:custGeom>
              <a:avLst/>
              <a:gdLst>
                <a:gd name="connsiteX0" fmla="*/ 290196 w 2438400"/>
                <a:gd name="connsiteY0" fmla="*/ 0 h 1774825"/>
                <a:gd name="connsiteX1" fmla="*/ 2151973 w 2438400"/>
                <a:gd name="connsiteY1" fmla="*/ 0 h 1774825"/>
                <a:gd name="connsiteX2" fmla="*/ 2438400 w 2438400"/>
                <a:gd name="connsiteY2" fmla="*/ 286384 h 1774825"/>
                <a:gd name="connsiteX3" fmla="*/ 2438400 w 2438400"/>
                <a:gd name="connsiteY3" fmla="*/ 1484673 h 1774825"/>
                <a:gd name="connsiteX4" fmla="*/ 2151973 w 2438400"/>
                <a:gd name="connsiteY4" fmla="*/ 1774825 h 1774825"/>
                <a:gd name="connsiteX5" fmla="*/ 290196 w 2438400"/>
                <a:gd name="connsiteY5" fmla="*/ 1774825 h 1774825"/>
                <a:gd name="connsiteX6" fmla="*/ 0 w 2438400"/>
                <a:gd name="connsiteY6" fmla="*/ 1484673 h 1774825"/>
                <a:gd name="connsiteX7" fmla="*/ 0 w 2438400"/>
                <a:gd name="connsiteY7" fmla="*/ 286384 h 1774825"/>
                <a:gd name="connsiteX8" fmla="*/ 290196 w 2438400"/>
                <a:gd name="connsiteY8" fmla="*/ 0 h 1774825"/>
                <a:gd name="connsiteX9" fmla="*/ 471488 w 2438400"/>
                <a:gd name="connsiteY9" fmla="*/ 425450 h 1774825"/>
                <a:gd name="connsiteX10" fmla="*/ 471488 w 2438400"/>
                <a:gd name="connsiteY10" fmla="*/ 598488 h 1774825"/>
                <a:gd name="connsiteX11" fmla="*/ 1971676 w 2438400"/>
                <a:gd name="connsiteY11" fmla="*/ 598488 h 1774825"/>
                <a:gd name="connsiteX12" fmla="*/ 1971676 w 2438400"/>
                <a:gd name="connsiteY12" fmla="*/ 425450 h 1774825"/>
                <a:gd name="connsiteX13" fmla="*/ 471488 w 2438400"/>
                <a:gd name="connsiteY13" fmla="*/ 425450 h 1774825"/>
                <a:gd name="connsiteX14" fmla="*/ 471488 w 2438400"/>
                <a:gd name="connsiteY14" fmla="*/ 801688 h 1774825"/>
                <a:gd name="connsiteX15" fmla="*/ 471488 w 2438400"/>
                <a:gd name="connsiteY15" fmla="*/ 971551 h 1774825"/>
                <a:gd name="connsiteX16" fmla="*/ 1971676 w 2438400"/>
                <a:gd name="connsiteY16" fmla="*/ 971551 h 1774825"/>
                <a:gd name="connsiteX17" fmla="*/ 1971676 w 2438400"/>
                <a:gd name="connsiteY17" fmla="*/ 801688 h 1774825"/>
                <a:gd name="connsiteX18" fmla="*/ 471488 w 2438400"/>
                <a:gd name="connsiteY18" fmla="*/ 801688 h 1774825"/>
                <a:gd name="connsiteX19" fmla="*/ 471488 w 2438400"/>
                <a:gd name="connsiteY19" fmla="*/ 1174750 h 1774825"/>
                <a:gd name="connsiteX20" fmla="*/ 471488 w 2438400"/>
                <a:gd name="connsiteY20" fmla="*/ 1347788 h 1774825"/>
                <a:gd name="connsiteX21" fmla="*/ 1971676 w 2438400"/>
                <a:gd name="connsiteY21" fmla="*/ 1347788 h 1774825"/>
                <a:gd name="connsiteX22" fmla="*/ 1971676 w 2438400"/>
                <a:gd name="connsiteY22" fmla="*/ 1174750 h 1774825"/>
                <a:gd name="connsiteX23" fmla="*/ 471488 w 2438400"/>
                <a:gd name="connsiteY23" fmla="*/ 1174750 h 177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38400" h="1774825">
                  <a:moveTo>
                    <a:pt x="290196" y="0"/>
                  </a:moveTo>
                  <a:cubicBezTo>
                    <a:pt x="2151973" y="0"/>
                    <a:pt x="2151973" y="0"/>
                    <a:pt x="2151973" y="0"/>
                  </a:cubicBezTo>
                  <a:cubicBezTo>
                    <a:pt x="2310262" y="0"/>
                    <a:pt x="2438400" y="128119"/>
                    <a:pt x="2438400" y="286384"/>
                  </a:cubicBezTo>
                  <a:lnTo>
                    <a:pt x="2438400" y="1484673"/>
                  </a:lnTo>
                  <a:cubicBezTo>
                    <a:pt x="2438400" y="1646706"/>
                    <a:pt x="2310262" y="1774825"/>
                    <a:pt x="2151973" y="1774825"/>
                  </a:cubicBezTo>
                  <a:cubicBezTo>
                    <a:pt x="290196" y="1774825"/>
                    <a:pt x="290196" y="1774825"/>
                    <a:pt x="290196" y="1774825"/>
                  </a:cubicBezTo>
                  <a:cubicBezTo>
                    <a:pt x="131907" y="1774825"/>
                    <a:pt x="0" y="1646706"/>
                    <a:pt x="0" y="1484673"/>
                  </a:cubicBezTo>
                  <a:cubicBezTo>
                    <a:pt x="0" y="286384"/>
                    <a:pt x="0" y="286384"/>
                    <a:pt x="0" y="286384"/>
                  </a:cubicBezTo>
                  <a:cubicBezTo>
                    <a:pt x="0" y="128119"/>
                    <a:pt x="131907" y="0"/>
                    <a:pt x="290196" y="0"/>
                  </a:cubicBezTo>
                  <a:close/>
                  <a:moveTo>
                    <a:pt x="471488" y="425450"/>
                  </a:moveTo>
                  <a:lnTo>
                    <a:pt x="471488" y="598488"/>
                  </a:lnTo>
                  <a:lnTo>
                    <a:pt x="1971676" y="598488"/>
                  </a:lnTo>
                  <a:lnTo>
                    <a:pt x="1971676" y="425450"/>
                  </a:lnTo>
                  <a:lnTo>
                    <a:pt x="471488" y="425450"/>
                  </a:lnTo>
                  <a:close/>
                  <a:moveTo>
                    <a:pt x="471488" y="801688"/>
                  </a:moveTo>
                  <a:lnTo>
                    <a:pt x="471488" y="971551"/>
                  </a:lnTo>
                  <a:lnTo>
                    <a:pt x="1971676" y="971551"/>
                  </a:lnTo>
                  <a:lnTo>
                    <a:pt x="1971676" y="801688"/>
                  </a:lnTo>
                  <a:lnTo>
                    <a:pt x="471488" y="801688"/>
                  </a:lnTo>
                  <a:close/>
                  <a:moveTo>
                    <a:pt x="471488" y="1174750"/>
                  </a:moveTo>
                  <a:lnTo>
                    <a:pt x="471488" y="1347788"/>
                  </a:lnTo>
                  <a:lnTo>
                    <a:pt x="1971676" y="1347788"/>
                  </a:lnTo>
                  <a:lnTo>
                    <a:pt x="1971676" y="1174750"/>
                  </a:lnTo>
                  <a:lnTo>
                    <a:pt x="471488" y="1174750"/>
                  </a:lnTo>
                  <a:close/>
                </a:path>
              </a:pathLst>
            </a:custGeom>
            <a:solidFill>
              <a:srgbClr val="CF3B4C"/>
            </a:solidFill>
            <a:ln>
              <a:noFill/>
            </a:ln>
          </p:spPr>
          <p:txBody>
            <a:bodyPr/>
            <a:p>
              <a:pPr fontAlgn="auto"/>
              <a:endParaRPr altLang="en-US" sz="2000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48796" name="文本框 60"/>
          <p:cNvSpPr>
            <a:spLocks noChangeArrowheads="1"/>
          </p:cNvSpPr>
          <p:nvPr/>
        </p:nvSpPr>
        <p:spPr bwMode="auto">
          <a:xfrm>
            <a:off x="10730415" y="4960155"/>
            <a:ext cx="1376241" cy="1424940"/>
          </a:xfrm>
          <a:prstGeom prst="rect"/>
          <a:noFill/>
          <a:ln>
            <a:noFill/>
          </a:ln>
        </p:spPr>
        <p:txBody>
          <a:bodyPr wrap="square">
            <a:spAutoFit/>
          </a:bodyPr>
          <a:p>
            <a:r>
              <a:rPr altLang="en-US" b="1" dirty="0" sz="1400" lang="zh-CN">
                <a:solidFill>
                  <a:srgbClr val="344F66"/>
                </a:solidFill>
                <a:cs typeface="+mn-ea"/>
              </a:rPr>
              <a:t>测试评估</a:t>
            </a:r>
            <a:endParaRPr altLang="zh-CN" b="1" dirty="0" sz="1400" lang="en-US">
              <a:solidFill>
                <a:srgbClr val="344F66"/>
              </a:solidFill>
              <a:cs typeface="+mn-ea"/>
            </a:endParaRPr>
          </a:p>
          <a:p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通过体验测试收集玩家反馈，优化操作手感、难度曲线及数值平衡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  <a:p>
            <a:endParaRPr altLang="en-US" dirty="0" sz="16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pic>
        <p:nvPicPr>
          <p:cNvPr id="2097185" name="图片 3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">
                            <p:stCondLst>
                              <p:cond delay="500"/>
                            </p:stCondLst>
                            <p:childTnLst>
                              <p:par>
                                <p:cTn fill="hold" id="12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6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7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8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0"/>
                                        <p:tgtEl>
                                          <p:spTgt spid="104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1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22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4"/>
                                        <p:tgtEl>
                                          <p:spTgt spid="1048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6"/>
                                        <p:tgtEl>
                                          <p:spTgt spid="104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27" nodeType="with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1"/>
                                        <p:tgtEl>
                                          <p:spTgt spid="104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2" nodeType="with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4"/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5"/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6"/>
                                        <p:tgtEl>
                                          <p:spTgt spid="104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7" nodeType="with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9"/>
                                        <p:tgtEl>
                                          <p:spTgt spid="1048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0"/>
                                        <p:tgtEl>
                                          <p:spTgt spid="1048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1"/>
                                        <p:tgtEl>
                                          <p:spTgt spid="104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2" nodeType="with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4"/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5"/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6"/>
                                        <p:tgtEl>
                                          <p:spTgt spid="1048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7" nodeType="with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9"/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0"/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1"/>
                                        <p:tgtEl>
                                          <p:spTgt spid="1048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2" nodeType="with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4"/>
                                        <p:tgtEl>
                                          <p:spTgt spid="1048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5"/>
                                        <p:tgtEl>
                                          <p:spTgt spid="1048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6"/>
                                        <p:tgtEl>
                                          <p:spTgt spid="104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9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6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61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2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63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5"/>
                                        <p:tgtEl>
                                          <p:spTgt spid="1048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6"/>
                                        <p:tgtEl>
                                          <p:spTgt spid="1048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6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9"/>
                                        <p:tgtEl>
                                          <p:spTgt spid="1048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0"/>
                                        <p:tgtEl>
                                          <p:spTgt spid="1048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7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3"/>
                                        <p:tgtEl>
                                          <p:spTgt spid="104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4"/>
                                        <p:tgtEl>
                                          <p:spTgt spid="104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7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7"/>
                                        <p:tgtEl>
                                          <p:spTgt spid="1048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8"/>
                                        <p:tgtEl>
                                          <p:spTgt spid="1048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2" grpId="0" animBg="1"/>
      <p:bldP spid="1048783" grpId="0" animBg="1"/>
      <p:bldP spid="1048784" grpId="0" animBg="1"/>
      <p:bldP spid="1048785" grpId="0" animBg="1"/>
      <p:bldP spid="1048786" grpId="0" animBg="1"/>
      <p:bldP spid="1048787" grpId="0" animBg="1"/>
      <p:bldP spid="1048788" grpId="0"/>
      <p:bldP spid="1048789" grpId="0"/>
      <p:bldP spid="1048790" grpId="0"/>
      <p:bldP spid="1048791" grpId="0"/>
      <p:bldP spid="1048792" grpId="0"/>
      <p:bldP spid="1048793" grpId="0" animBg="1"/>
      <p:bldP spid="104879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6" name="图片 5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l="6659" t="6677" r="6720" b="6693"/>
          <a:stretch>
            <a:fillRect/>
          </a:stretch>
        </p:blipFill>
        <p:spPr>
          <a:xfrm>
            <a:off x="-1" y="0"/>
            <a:ext cx="12192001" cy="6858000"/>
          </a:xfrm>
          <a:prstGeom prst="rect"/>
        </p:spPr>
      </p:pic>
      <p:pic>
        <p:nvPicPr>
          <p:cNvPr id="2097187" name="图片 4"/>
          <p:cNvPicPr>
            <a:picLocks noChangeAspect="1"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9274592" y="6060713"/>
            <a:ext cx="2734062" cy="539497"/>
          </a:xfrm>
          <a:prstGeom prst="rect"/>
        </p:spPr>
      </p:pic>
      <p:pic>
        <p:nvPicPr>
          <p:cNvPr id="2097188" name="图片 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3" cstate="print"/>
          <a:srcRect l="36510" t="24114" r="34678" b="22737"/>
          <a:stretch>
            <a:fillRect/>
          </a:stretch>
        </p:blipFill>
        <p:spPr>
          <a:xfrm>
            <a:off x="1651394" y="1134208"/>
            <a:ext cx="2094129" cy="2172731"/>
          </a:xfrm>
          <a:prstGeom prst="rect"/>
        </p:spPr>
      </p:pic>
      <p:sp>
        <p:nvSpPr>
          <p:cNvPr id="1048797" name="TextBox 12"/>
          <p:cNvSpPr txBox="1"/>
          <p:nvPr/>
        </p:nvSpPr>
        <p:spPr>
          <a:xfrm>
            <a:off x="2472996" y="1849942"/>
            <a:ext cx="8067610" cy="106934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ctr">
              <a:defRPr b="1"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66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第三部分</a:t>
            </a:r>
          </a:p>
        </p:txBody>
      </p:sp>
      <p:grpSp>
        <p:nvGrpSpPr>
          <p:cNvPr id="92" name="组合 17"/>
          <p:cNvGrpSpPr/>
          <p:nvPr/>
        </p:nvGrpSpPr>
        <p:grpSpPr>
          <a:xfrm>
            <a:off x="-4151" y="0"/>
            <a:ext cx="12196151" cy="6858000"/>
            <a:chOff x="-4151" y="0"/>
            <a:chExt cx="12196151" cy="6858000"/>
          </a:xfrm>
        </p:grpSpPr>
        <p:grpSp>
          <p:nvGrpSpPr>
            <p:cNvPr id="93" name="组合 18"/>
            <p:cNvGrpSpPr/>
            <p:nvPr/>
          </p:nvGrpSpPr>
          <p:grpSpPr>
            <a:xfrm>
              <a:off x="0" y="0"/>
              <a:ext cx="3001030" cy="109728"/>
              <a:chOff x="0" y="0"/>
              <a:chExt cx="3001030" cy="109728"/>
            </a:xfrm>
          </p:grpSpPr>
          <p:sp>
            <p:nvSpPr>
              <p:cNvPr id="1048798" name="矩形 5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799" name="矩形 5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94" name="组合 19"/>
            <p:cNvGrpSpPr/>
            <p:nvPr/>
          </p:nvGrpSpPr>
          <p:grpSpPr>
            <a:xfrm>
              <a:off x="8994788" y="0"/>
              <a:ext cx="3197212" cy="109728"/>
              <a:chOff x="0" y="0"/>
              <a:chExt cx="3001030" cy="109728"/>
            </a:xfrm>
          </p:grpSpPr>
          <p:sp>
            <p:nvSpPr>
              <p:cNvPr id="1048800" name="矩形 5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01" name="矩形 5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95" name="组合 20"/>
            <p:cNvGrpSpPr/>
            <p:nvPr/>
          </p:nvGrpSpPr>
          <p:grpSpPr>
            <a:xfrm>
              <a:off x="5997909" y="0"/>
              <a:ext cx="3001030" cy="109728"/>
              <a:chOff x="0" y="0"/>
              <a:chExt cx="3001030" cy="109728"/>
            </a:xfrm>
          </p:grpSpPr>
          <p:sp>
            <p:nvSpPr>
              <p:cNvPr id="1048802" name="矩形 4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03" name="矩形 4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96" name="组合 21"/>
            <p:cNvGrpSpPr/>
            <p:nvPr/>
          </p:nvGrpSpPr>
          <p:grpSpPr>
            <a:xfrm>
              <a:off x="2996879" y="0"/>
              <a:ext cx="3001030" cy="109728"/>
              <a:chOff x="0" y="0"/>
              <a:chExt cx="3001030" cy="109728"/>
            </a:xfrm>
          </p:grpSpPr>
          <p:sp>
            <p:nvSpPr>
              <p:cNvPr id="1048804" name="矩形 4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05" name="矩形 4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97" name="组合 22"/>
            <p:cNvGrpSpPr/>
            <p:nvPr/>
          </p:nvGrpSpPr>
          <p:grpSpPr>
            <a:xfrm>
              <a:off x="-4151" y="6748272"/>
              <a:ext cx="3001030" cy="109728"/>
              <a:chOff x="0" y="0"/>
              <a:chExt cx="3001030" cy="109728"/>
            </a:xfrm>
          </p:grpSpPr>
          <p:sp>
            <p:nvSpPr>
              <p:cNvPr id="1048806" name="矩形 4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07" name="矩形 4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98" name="组合 23"/>
            <p:cNvGrpSpPr/>
            <p:nvPr/>
          </p:nvGrpSpPr>
          <p:grpSpPr>
            <a:xfrm>
              <a:off x="5993758" y="6748272"/>
              <a:ext cx="3001030" cy="109728"/>
              <a:chOff x="0" y="0"/>
              <a:chExt cx="3001030" cy="109728"/>
            </a:xfrm>
          </p:grpSpPr>
          <p:sp>
            <p:nvSpPr>
              <p:cNvPr id="1048808" name="矩形 4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09" name="矩形 4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99" name="组合 24"/>
            <p:cNvGrpSpPr/>
            <p:nvPr/>
          </p:nvGrpSpPr>
          <p:grpSpPr>
            <a:xfrm>
              <a:off x="2992728" y="6748272"/>
              <a:ext cx="3001030" cy="109728"/>
              <a:chOff x="0" y="0"/>
              <a:chExt cx="3001030" cy="109728"/>
            </a:xfrm>
          </p:grpSpPr>
          <p:sp>
            <p:nvSpPr>
              <p:cNvPr id="1048810" name="矩形 4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11" name="矩形 4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00" name="组合 25"/>
            <p:cNvGrpSpPr/>
            <p:nvPr/>
          </p:nvGrpSpPr>
          <p:grpSpPr>
            <a:xfrm>
              <a:off x="8994788" y="6748272"/>
              <a:ext cx="3197212" cy="109728"/>
              <a:chOff x="0" y="0"/>
              <a:chExt cx="3001030" cy="109728"/>
            </a:xfrm>
          </p:grpSpPr>
          <p:sp>
            <p:nvSpPr>
              <p:cNvPr id="1048812" name="矩形 3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13" name="矩形 3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01" name="组合 26"/>
            <p:cNvGrpSpPr/>
            <p:nvPr/>
          </p:nvGrpSpPr>
          <p:grpSpPr>
            <a:xfrm rot="16200000">
              <a:off x="-1543742" y="1653470"/>
              <a:ext cx="3197212" cy="109728"/>
              <a:chOff x="0" y="0"/>
              <a:chExt cx="3001030" cy="109728"/>
            </a:xfrm>
          </p:grpSpPr>
          <p:sp>
            <p:nvSpPr>
              <p:cNvPr id="1048814" name="矩形 3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15" name="矩形 3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02" name="组合 27"/>
            <p:cNvGrpSpPr/>
            <p:nvPr/>
          </p:nvGrpSpPr>
          <p:grpSpPr>
            <a:xfrm rot="16200000">
              <a:off x="-1667877" y="4970666"/>
              <a:ext cx="3441332" cy="113879"/>
              <a:chOff x="0" y="0"/>
              <a:chExt cx="3001030" cy="109728"/>
            </a:xfrm>
          </p:grpSpPr>
          <p:sp>
            <p:nvSpPr>
              <p:cNvPr id="1048816" name="矩形 3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17" name="矩形 3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03" name="组合 28"/>
            <p:cNvGrpSpPr/>
            <p:nvPr/>
          </p:nvGrpSpPr>
          <p:grpSpPr>
            <a:xfrm rot="16200000">
              <a:off x="10538530" y="1653470"/>
              <a:ext cx="3197212" cy="109728"/>
              <a:chOff x="0" y="0"/>
              <a:chExt cx="3001030" cy="109728"/>
            </a:xfrm>
          </p:grpSpPr>
          <p:sp>
            <p:nvSpPr>
              <p:cNvPr id="1048818" name="矩形 3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19" name="矩形 3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04" name="组合 29"/>
            <p:cNvGrpSpPr/>
            <p:nvPr/>
          </p:nvGrpSpPr>
          <p:grpSpPr>
            <a:xfrm rot="16200000">
              <a:off x="10414395" y="4970666"/>
              <a:ext cx="3441332" cy="113879"/>
              <a:chOff x="0" y="0"/>
              <a:chExt cx="3001030" cy="109728"/>
            </a:xfrm>
          </p:grpSpPr>
          <p:sp>
            <p:nvSpPr>
              <p:cNvPr id="1048820" name="矩形 3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821" name="矩形 3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097189" name="图片 54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>
            <a:duotone>
              <a:prstClr val="black"/>
              <a:srgbClr val="38536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856300" y="2960980"/>
            <a:ext cx="5301002" cy="145020"/>
          </a:xfrm>
          <a:prstGeom prst="rect"/>
        </p:spPr>
      </p:pic>
      <p:sp>
        <p:nvSpPr>
          <p:cNvPr id="1048822" name="TextBox 12"/>
          <p:cNvSpPr txBox="1"/>
          <p:nvPr/>
        </p:nvSpPr>
        <p:spPr>
          <a:xfrm>
            <a:off x="2232214" y="3346064"/>
            <a:ext cx="8067610" cy="106934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ctr">
              <a:defRPr b="1"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66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理论基础与研究内容</a:t>
            </a:r>
          </a:p>
        </p:txBody>
      </p:sp>
      <p:pic>
        <p:nvPicPr>
          <p:cNvPr id="2097190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2000"/>
                            </p:stCondLst>
                            <p:childTnLst>
                              <p:par>
                                <p:cTn fill="hold" id="9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2097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2097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209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15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9"/>
                                        <p:tgtEl>
                                          <p:spTgt spid="104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0">
                            <p:stCondLst>
                              <p:cond delay="3000"/>
                            </p:stCondLst>
                            <p:childTnLst>
                              <p:par>
                                <p:cTn fill="hold" id="21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3"/>
                                        <p:tgtEl>
                                          <p:spTgt spid="209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3500"/>
                            </p:stCondLst>
                            <p:childTnLst>
                              <p:par>
                                <p:cTn fill="hold" grpId="0" id="25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1048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1" tmFilter="0,0; .5, 1; 1, 1"/>
                                        <p:tgtEl>
                                          <p:spTgt spid="104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2">
                            <p:stCondLst>
                              <p:cond delay="4400"/>
                            </p:stCondLst>
                            <p:childTnLst>
                              <p:par>
                                <p:cTn fill="hold" id="33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5"/>
                                        <p:tgtEl>
                                          <p:spTgt spid="209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97" grpId="0"/>
      <p:bldP spid="10488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"/>
          <p:cNvGrpSpPr/>
          <p:nvPr/>
        </p:nvGrpSpPr>
        <p:grpSpPr>
          <a:xfrm>
            <a:off x="5245239" y="1980117"/>
            <a:ext cx="5789106" cy="3633076"/>
            <a:chOff x="3963425" y="1323923"/>
            <a:chExt cx="4500562" cy="2739579"/>
          </a:xfrm>
        </p:grpSpPr>
        <p:cxnSp>
          <p:nvCxnSpPr>
            <p:cNvPr id="3145729" name="Straight Connector 4"/>
            <p:cNvCxnSpPr>
              <a:cxnSpLocks/>
            </p:cNvCxnSpPr>
            <p:nvPr/>
          </p:nvCxnSpPr>
          <p:spPr>
            <a:xfrm>
              <a:off x="3963425" y="1323923"/>
              <a:ext cx="0" cy="2739579"/>
            </a:xfrm>
            <a:prstGeom prst="line"/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组合 3"/>
            <p:cNvGrpSpPr/>
            <p:nvPr/>
          </p:nvGrpSpPr>
          <p:grpSpPr>
            <a:xfrm>
              <a:off x="4006286" y="1758309"/>
              <a:ext cx="4457701" cy="1774032"/>
              <a:chOff x="4006286" y="1758309"/>
              <a:chExt cx="4457701" cy="1774032"/>
            </a:xfrm>
          </p:grpSpPr>
          <p:sp>
            <p:nvSpPr>
              <p:cNvPr id="1048823" name="Line 18"/>
              <p:cNvSpPr>
                <a:spLocks noChangeShapeType="1"/>
              </p:cNvSpPr>
              <p:nvPr/>
            </p:nvSpPr>
            <p:spPr bwMode="auto">
              <a:xfrm>
                <a:off x="4006287" y="1758309"/>
                <a:ext cx="4457700" cy="0"/>
              </a:xfrm>
              <a:prstGeom prst="line"/>
              <a:noFill/>
              <a:ln w="19050" cap="rnd">
                <a:solidFill>
                  <a:schemeClr val="tx1"/>
                </a:solidFill>
                <a:prstDash val="sysDot"/>
                <a:round/>
                <a:headEnd/>
                <a:tailEnd type="oval" w="med" len="med"/>
              </a:ln>
              <a:effectLst/>
            </p:spPr>
            <p:txBody>
              <a:bodyPr bIns="34290" lIns="68580" rIns="68580" tIns="34290"/>
              <a:p>
                <a:endParaRPr lang="en-US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824" name="Line 19"/>
              <p:cNvSpPr>
                <a:spLocks noChangeShapeType="1"/>
              </p:cNvSpPr>
              <p:nvPr/>
            </p:nvSpPr>
            <p:spPr bwMode="auto">
              <a:xfrm>
                <a:off x="4006287" y="2691759"/>
                <a:ext cx="4457700" cy="0"/>
              </a:xfrm>
              <a:prstGeom prst="line"/>
              <a:noFill/>
              <a:ln w="19050" cap="rnd">
                <a:solidFill>
                  <a:schemeClr val="tx1"/>
                </a:solidFill>
                <a:prstDash val="sysDot"/>
                <a:round/>
                <a:headEnd/>
                <a:tailEnd type="oval" w="med" len="med"/>
              </a:ln>
              <a:effectLst/>
            </p:spPr>
            <p:txBody>
              <a:bodyPr bIns="34290" lIns="68580" rIns="68580" tIns="34290"/>
              <a:p>
                <a:endParaRPr lang="en-US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825" name="Line 20"/>
              <p:cNvSpPr>
                <a:spLocks noChangeShapeType="1"/>
              </p:cNvSpPr>
              <p:nvPr/>
            </p:nvSpPr>
            <p:spPr bwMode="auto">
              <a:xfrm flipV="1">
                <a:off x="4006286" y="3529960"/>
                <a:ext cx="4457700" cy="2381"/>
              </a:xfrm>
              <a:prstGeom prst="line"/>
              <a:noFill/>
              <a:ln w="19050" cap="rnd">
                <a:solidFill>
                  <a:schemeClr val="tx1"/>
                </a:solidFill>
                <a:prstDash val="sysDot"/>
                <a:round/>
                <a:headEnd/>
                <a:tailEnd type="oval" w="med" len="med"/>
              </a:ln>
              <a:effectLst/>
            </p:spPr>
            <p:txBody>
              <a:bodyPr bIns="34290" lIns="68580" rIns="68580" tIns="34290"/>
              <a:p>
                <a:endParaRPr lang="en-US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48826" name="Rectangle 12"/>
          <p:cNvSpPr/>
          <p:nvPr/>
        </p:nvSpPr>
        <p:spPr>
          <a:xfrm>
            <a:off x="6054249" y="2837719"/>
            <a:ext cx="4953311" cy="801117"/>
          </a:xfrm>
          <a:prstGeom prst="rect"/>
        </p:spPr>
        <p:txBody>
          <a:bodyPr bIns="34290" lIns="68580" rIns="68580" tIns="34290" wrap="square">
            <a:spAutoFit/>
          </a:bodyPr>
          <a:p>
            <a:pPr>
              <a:lnSpc>
                <a:spcPct val="150000"/>
              </a:lnSpc>
            </a:pP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该类型游戏强调能力驱动探索、非线性关卡互连与渐进式成长反馈。通过将技能与场景访问权限绑定，实现“获得能力→开启新区域→再探索→再成长”的正向循环。这是本项目关卡设计及系统搭建的理论基础。</a:t>
            </a:r>
            <a:endParaRPr altLang="en-US" dirty="0" sz="11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827" name="Rectangle 13"/>
          <p:cNvSpPr/>
          <p:nvPr/>
        </p:nvSpPr>
        <p:spPr>
          <a:xfrm>
            <a:off x="6040856" y="1610444"/>
            <a:ext cx="4980095" cy="547201"/>
          </a:xfrm>
          <a:prstGeom prst="rect"/>
        </p:spPr>
        <p:txBody>
          <a:bodyPr bIns="34290" lIns="68580" rIns="68580" tIns="34290" wrap="square">
            <a:spAutoFit/>
          </a:bodyPr>
          <a:p>
            <a:pPr>
              <a:lnSpc>
                <a:spcPct val="150000"/>
              </a:lnSpc>
            </a:pPr>
            <a:r>
              <a:rPr altLang="zh-CN" dirty="0" sz="1100" lang="en-US">
                <a:solidFill>
                  <a:srgbClr val="555555"/>
                </a:solidFill>
                <a:cs typeface="+mn-ea"/>
              </a:rPr>
              <a:t>MDA </a:t>
            </a: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模型是当前游戏设计分析中使用最广泛的理论框架，通过将游戏拆分为机制、动力学及情感体验有助于构建类银河恶魔城游戏的设计思路。</a:t>
            </a:r>
            <a:endParaRPr altLang="en-US" dirty="0" sz="11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828" name="Rectangle 14"/>
          <p:cNvSpPr/>
          <p:nvPr/>
        </p:nvSpPr>
        <p:spPr>
          <a:xfrm>
            <a:off x="6081034" y="4029135"/>
            <a:ext cx="4953312" cy="547201"/>
          </a:xfrm>
          <a:prstGeom prst="rect"/>
        </p:spPr>
        <p:txBody>
          <a:bodyPr bIns="34290" lIns="68580" rIns="68580" tIns="34290" wrap="square">
            <a:spAutoFit/>
          </a:bodyPr>
          <a:p>
            <a:pPr>
              <a:lnSpc>
                <a:spcPct val="150000"/>
              </a:lnSpc>
            </a:pPr>
            <a:r>
              <a:rPr altLang="zh-CN" dirty="0" sz="1100" lang="en-US">
                <a:solidFill>
                  <a:srgbClr val="555555"/>
                </a:solidFill>
                <a:cs typeface="+mn-ea"/>
              </a:rPr>
              <a:t>Unity </a:t>
            </a: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采用 </a:t>
            </a:r>
            <a:r>
              <a:rPr altLang="zh-CN" dirty="0" sz="1100" lang="en-US">
                <a:solidFill>
                  <a:srgbClr val="555555"/>
                </a:solidFill>
                <a:cs typeface="+mn-ea"/>
              </a:rPr>
              <a:t>ECS + </a:t>
            </a: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游戏对象组件化结构，支持 </a:t>
            </a:r>
            <a:r>
              <a:rPr altLang="zh-CN" dirty="0" sz="1100" lang="en-US" err="1">
                <a:solidFill>
                  <a:srgbClr val="555555"/>
                </a:solidFill>
                <a:cs typeface="+mn-ea"/>
              </a:rPr>
              <a:t>Tilemap</a:t>
            </a: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、</a:t>
            </a:r>
            <a:r>
              <a:rPr altLang="zh-CN" dirty="0" sz="1100" lang="en-US">
                <a:solidFill>
                  <a:srgbClr val="555555"/>
                </a:solidFill>
                <a:cs typeface="+mn-ea"/>
              </a:rPr>
              <a:t>Animator</a:t>
            </a: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、</a:t>
            </a:r>
            <a:r>
              <a:rPr altLang="zh-CN" dirty="0" sz="1100" lang="en-US" err="1">
                <a:solidFill>
                  <a:srgbClr val="555555"/>
                </a:solidFill>
                <a:cs typeface="+mn-ea"/>
              </a:rPr>
              <a:t>Cinemachine</a:t>
            </a: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、</a:t>
            </a:r>
            <a:r>
              <a:rPr altLang="zh-CN" dirty="0" sz="1100" lang="en-US">
                <a:solidFill>
                  <a:srgbClr val="555555"/>
                </a:solidFill>
                <a:cs typeface="+mn-ea"/>
              </a:rPr>
              <a:t>2D Physics</a:t>
            </a: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、</a:t>
            </a:r>
            <a:r>
              <a:rPr altLang="zh-CN" dirty="0" sz="1100" lang="en-US" err="1">
                <a:solidFill>
                  <a:srgbClr val="555555"/>
                </a:solidFill>
                <a:cs typeface="+mn-ea"/>
              </a:rPr>
              <a:t>Addressables</a:t>
            </a:r>
            <a:r>
              <a:rPr altLang="zh-CN" dirty="0" sz="1100" lang="en-US">
                <a:solidFill>
                  <a:srgbClr val="555555"/>
                </a:solidFill>
                <a:cs typeface="+mn-ea"/>
              </a:rPr>
              <a:t> </a:t>
            </a: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资源管理等功能。</a:t>
            </a:r>
            <a:endParaRPr altLang="en-US" dirty="0" sz="11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829" name="TextBox 15"/>
          <p:cNvSpPr txBox="1"/>
          <p:nvPr/>
        </p:nvSpPr>
        <p:spPr>
          <a:xfrm>
            <a:off x="6081033" y="5139380"/>
            <a:ext cx="4953312" cy="547201"/>
          </a:xfrm>
          <a:prstGeom prst="rect"/>
          <a:noFill/>
        </p:spPr>
        <p:txBody>
          <a:bodyPr bIns="34290" lIns="68580" rIns="68580" rtlCol="0" tIns="34290" wrap="square">
            <a:spAutoFit/>
          </a:bodyPr>
          <a:p>
            <a:pPr>
              <a:lnSpc>
                <a:spcPct val="150000"/>
              </a:lnSpc>
            </a:pP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角色与怪物的攻击、巡逻、追击逻辑将基于有限状态机实现，</a:t>
            </a:r>
            <a:r>
              <a:rPr altLang="zh-CN" dirty="0" sz="1100" lang="en-US">
                <a:solidFill>
                  <a:srgbClr val="555555"/>
                </a:solidFill>
                <a:cs typeface="+mn-ea"/>
              </a:rPr>
              <a:t>Boss </a:t>
            </a:r>
            <a:r>
              <a:rPr altLang="en-US" dirty="0" sz="1100" lang="zh-CN">
                <a:solidFill>
                  <a:srgbClr val="555555"/>
                </a:solidFill>
                <a:cs typeface="+mn-ea"/>
              </a:rPr>
              <a:t>类敌人采用行为树提升复杂度与可扩展性。</a:t>
            </a:r>
            <a:endParaRPr altLang="en-US" dirty="0" sz="11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grpSp>
        <p:nvGrpSpPr>
          <p:cNvPr id="108" name="Group 24"/>
          <p:cNvGrpSpPr/>
          <p:nvPr/>
        </p:nvGrpSpPr>
        <p:grpSpPr>
          <a:xfrm>
            <a:off x="4640963" y="1466478"/>
            <a:ext cx="1337826" cy="794855"/>
            <a:chOff x="2187746" y="1746748"/>
            <a:chExt cx="1941002" cy="2307542"/>
          </a:xfrm>
        </p:grpSpPr>
        <p:sp>
          <p:nvSpPr>
            <p:cNvPr id="1048830" name="任意多边形 82"/>
            <p:cNvSpPr/>
            <p:nvPr/>
          </p:nvSpPr>
          <p:spPr bwMode="auto">
            <a:xfrm rot="5400000">
              <a:off x="2185797" y="2125228"/>
              <a:ext cx="1931011" cy="1927113"/>
            </a:xfrm>
            <a:prstGeom prst="roundRect"/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algn="tr" blurRad="127000" dir="7380000" dist="63500" rotWithShape="0" sx="102000" sy="102000">
                <a:prstClr val="black">
                  <a:alpha val="39000"/>
                </a:prstClr>
              </a:outerShdw>
            </a:effectLst>
          </p:spPr>
          <p:txBody>
            <a:bodyPr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altLang="en-US" b="1" sz="3200" kern="0" lang="zh-CN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48831" name="任意多边形 83"/>
            <p:cNvSpPr/>
            <p:nvPr/>
          </p:nvSpPr>
          <p:spPr bwMode="auto">
            <a:xfrm rot="16200000">
              <a:off x="2018374" y="1930005"/>
              <a:ext cx="2293631" cy="1927117"/>
            </a:xfrm>
            <a:prstGeom prst="roundRect"/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altLang="en-US" b="1" sz="3200" kern="0" 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832" name="椭圆 80"/>
            <p:cNvSpPr/>
            <p:nvPr/>
          </p:nvSpPr>
          <p:spPr bwMode="auto">
            <a:xfrm>
              <a:off x="2391398" y="2137189"/>
              <a:ext cx="1515968" cy="1683825"/>
            </a:xfrm>
            <a:prstGeom prst="roundRect"/>
            <a:solidFill>
              <a:srgbClr val="344F66"/>
            </a:solidFill>
            <a:ln w="25400" cap="flat" cmpd="sng" algn="ctr">
              <a:noFill/>
              <a:prstDash val="solid"/>
            </a:ln>
            <a:effectLst>
              <a:innerShdw blurRad="63500" dir="18660000" dist="254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altLang="zh-CN" b="1" dirty="0" sz="1400" kern="0" lang="en-US">
                  <a:solidFill>
                    <a:srgbClr val="FFFFFF"/>
                  </a:solidFill>
                  <a:latin typeface="+mn-lt"/>
                  <a:ea typeface="+mn-ea"/>
                  <a:cs typeface="+mn-ea"/>
                </a:rPr>
                <a:t>MDA</a:t>
              </a:r>
              <a:r>
                <a:rPr altLang="en-US" b="1" dirty="0" sz="1400" kern="0" lang="zh-CN">
                  <a:solidFill>
                    <a:srgbClr val="FFFFFF"/>
                  </a:solidFill>
                  <a:latin typeface="+mn-lt"/>
                  <a:ea typeface="+mn-ea"/>
                  <a:cs typeface="+mn-ea"/>
                </a:rPr>
                <a:t>框架</a:t>
              </a:r>
              <a:endParaRPr altLang="en-US" b="1" dirty="0" sz="1400" kern="0" 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9" name="Group 28"/>
          <p:cNvGrpSpPr/>
          <p:nvPr/>
        </p:nvGrpSpPr>
        <p:grpSpPr>
          <a:xfrm>
            <a:off x="4640962" y="2773021"/>
            <a:ext cx="1328254" cy="805817"/>
            <a:chOff x="2187746" y="1668968"/>
            <a:chExt cx="1954989" cy="2385322"/>
          </a:xfrm>
        </p:grpSpPr>
        <p:sp>
          <p:nvSpPr>
            <p:cNvPr id="1048833" name="任意多边形 82"/>
            <p:cNvSpPr/>
            <p:nvPr/>
          </p:nvSpPr>
          <p:spPr bwMode="auto">
            <a:xfrm rot="5400000">
              <a:off x="2185797" y="2125228"/>
              <a:ext cx="1931011" cy="1927113"/>
            </a:xfrm>
            <a:prstGeom prst="roundRect"/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algn="tr" blurRad="127000" dir="7380000" dist="63500" rotWithShape="0" sx="102000" sy="102000">
                <a:prstClr val="black">
                  <a:alpha val="39000"/>
                </a:prstClr>
              </a:outerShdw>
            </a:effectLst>
          </p:spPr>
          <p:txBody>
            <a:bodyPr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altLang="en-US" b="1" sz="3200" kern="0" lang="zh-CN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48834" name="任意多边形 83"/>
            <p:cNvSpPr/>
            <p:nvPr/>
          </p:nvSpPr>
          <p:spPr bwMode="auto">
            <a:xfrm rot="16200000">
              <a:off x="1986478" y="1884122"/>
              <a:ext cx="2371411" cy="1941103"/>
            </a:xfrm>
            <a:prstGeom prst="roundRect"/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altLang="en-US" b="1" sz="3200" kern="0" 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835" name="椭圆 80"/>
            <p:cNvSpPr/>
            <p:nvPr/>
          </p:nvSpPr>
          <p:spPr bwMode="auto">
            <a:xfrm>
              <a:off x="2454985" y="1803108"/>
              <a:ext cx="1464864" cy="1983402"/>
            </a:xfrm>
            <a:prstGeom prst="roundRect"/>
            <a:solidFill>
              <a:srgbClr val="CF3B4C"/>
            </a:solidFill>
            <a:ln w="25400" cap="flat" cmpd="sng" algn="ctr">
              <a:noFill/>
              <a:prstDash val="solid"/>
            </a:ln>
            <a:effectLst>
              <a:innerShdw blurRad="63500" dir="18660000" dist="254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altLang="en-US" b="1" dirty="0" sz="1400" kern="0" lang="zh-CN">
                  <a:solidFill>
                    <a:srgbClr val="FFFFFF"/>
                  </a:solidFill>
                  <a:latin typeface="+mn-lt"/>
                  <a:ea typeface="+mn-ea"/>
                  <a:cs typeface="+mn-ea"/>
                </a:rPr>
                <a:t>类银河恶魔城游戏结构</a:t>
              </a:r>
              <a:endParaRPr altLang="en-US" b="1" dirty="0" sz="1400" kern="0" 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10" name="Group 32"/>
          <p:cNvGrpSpPr/>
          <p:nvPr/>
        </p:nvGrpSpPr>
        <p:grpSpPr>
          <a:xfrm>
            <a:off x="4567731" y="3891104"/>
            <a:ext cx="1411057" cy="872262"/>
            <a:chOff x="2187746" y="1486179"/>
            <a:chExt cx="2008849" cy="2582009"/>
          </a:xfrm>
        </p:grpSpPr>
        <p:sp>
          <p:nvSpPr>
            <p:cNvPr id="1048836" name="任意多边形 82"/>
            <p:cNvSpPr/>
            <p:nvPr/>
          </p:nvSpPr>
          <p:spPr bwMode="auto">
            <a:xfrm rot="5400000">
              <a:off x="2185797" y="2125228"/>
              <a:ext cx="1931011" cy="1927113"/>
            </a:xfrm>
            <a:prstGeom prst="roundRect"/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algn="tr" blurRad="127000" dir="7380000" dist="63500" rotWithShape="0" sx="102000" sy="102000">
                <a:prstClr val="black">
                  <a:alpha val="39000"/>
                </a:prstClr>
              </a:outerShdw>
            </a:effectLst>
          </p:spPr>
          <p:txBody>
            <a:bodyPr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altLang="en-US" b="1" sz="3200" kern="0" lang="zh-CN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48837" name="任意多边形 83"/>
            <p:cNvSpPr/>
            <p:nvPr/>
          </p:nvSpPr>
          <p:spPr bwMode="auto">
            <a:xfrm rot="16200000">
              <a:off x="1908110" y="1779704"/>
              <a:ext cx="2582009" cy="1994960"/>
            </a:xfrm>
            <a:prstGeom prst="roundRect"/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altLang="en-US" b="1" sz="3200" kern="0" 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838" name="椭圆 80"/>
            <p:cNvSpPr/>
            <p:nvPr/>
          </p:nvSpPr>
          <p:spPr bwMode="auto">
            <a:xfrm>
              <a:off x="2394998" y="1829152"/>
              <a:ext cx="1645986" cy="2122917"/>
            </a:xfrm>
            <a:prstGeom prst="roundRect"/>
            <a:solidFill>
              <a:srgbClr val="344F66"/>
            </a:solidFill>
            <a:ln w="25400" cap="flat" cmpd="sng" algn="ctr">
              <a:noFill/>
              <a:prstDash val="solid"/>
            </a:ln>
            <a:effectLst>
              <a:innerShdw blurRad="63500" dir="18660000" dist="254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altLang="zh-CN" b="1" dirty="0" sz="1400" kern="0" lang="en-US">
                  <a:solidFill>
                    <a:srgbClr val="FFFFFF"/>
                  </a:solidFill>
                  <a:latin typeface="+mn-lt"/>
                  <a:ea typeface="+mn-ea"/>
                  <a:cs typeface="+mn-ea"/>
                </a:rPr>
                <a:t>Unity </a:t>
              </a:r>
              <a:r>
                <a:rPr altLang="en-US" b="1" dirty="0" sz="1400" kern="0" lang="zh-CN">
                  <a:solidFill>
                    <a:srgbClr val="FFFFFF"/>
                  </a:solidFill>
                  <a:latin typeface="+mn-lt"/>
                  <a:ea typeface="+mn-ea"/>
                  <a:cs typeface="+mn-ea"/>
                </a:rPr>
                <a:t>引擎架构与组件系统</a:t>
              </a:r>
              <a:endParaRPr altLang="en-US" b="1" dirty="0" sz="1400" kern="0" 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11" name="Group 36"/>
          <p:cNvGrpSpPr/>
          <p:nvPr/>
        </p:nvGrpSpPr>
        <p:grpSpPr>
          <a:xfrm>
            <a:off x="4558159" y="5020376"/>
            <a:ext cx="1411057" cy="924593"/>
            <a:chOff x="2187746" y="2123279"/>
            <a:chExt cx="1927113" cy="1931011"/>
          </a:xfrm>
        </p:grpSpPr>
        <p:sp>
          <p:nvSpPr>
            <p:cNvPr id="1048839" name="任意多边形 82"/>
            <p:cNvSpPr/>
            <p:nvPr/>
          </p:nvSpPr>
          <p:spPr bwMode="auto">
            <a:xfrm rot="5400000">
              <a:off x="2185797" y="2125228"/>
              <a:ext cx="1931011" cy="1927113"/>
            </a:xfrm>
            <a:prstGeom prst="roundRect"/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algn="tr" blurRad="127000" dir="7380000" dist="63500" rotWithShape="0" sx="102000" sy="102000">
                <a:prstClr val="black">
                  <a:alpha val="39000"/>
                </a:prstClr>
              </a:outerShdw>
            </a:effectLst>
          </p:spPr>
          <p:txBody>
            <a:bodyPr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altLang="en-US" b="1" sz="3200" kern="0" lang="zh-CN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48840" name="椭圆 80"/>
            <p:cNvSpPr/>
            <p:nvPr/>
          </p:nvSpPr>
          <p:spPr bwMode="auto">
            <a:xfrm>
              <a:off x="2454987" y="2391058"/>
              <a:ext cx="1404676" cy="1395452"/>
            </a:xfrm>
            <a:prstGeom prst="roundRect"/>
            <a:solidFill>
              <a:srgbClr val="CF3B4C"/>
            </a:solidFill>
            <a:ln w="25400" cap="flat" cmpd="sng" algn="ctr">
              <a:noFill/>
              <a:prstDash val="solid"/>
            </a:ln>
            <a:effectLst>
              <a:innerShdw blurRad="63500" dir="18660000" dist="254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altLang="en-US" b="1" dirty="0" sz="1400" kern="0" lang="zh-CN">
                  <a:solidFill>
                    <a:srgbClr val="FFFFFF"/>
                  </a:solidFill>
                  <a:latin typeface="+mn-lt"/>
                  <a:ea typeface="+mn-ea"/>
                  <a:cs typeface="+mn-ea"/>
                </a:rPr>
                <a:t>状态机与行为树理论</a:t>
              </a:r>
              <a:endParaRPr altLang="en-US" b="1" dirty="0" sz="1400" kern="0" 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12" name="组合 27"/>
          <p:cNvGrpSpPr/>
          <p:nvPr/>
        </p:nvGrpSpPr>
        <p:grpSpPr>
          <a:xfrm>
            <a:off x="829421" y="2540708"/>
            <a:ext cx="3265408" cy="2497665"/>
            <a:chOff x="520958" y="1683691"/>
            <a:chExt cx="2687638" cy="1993983"/>
          </a:xfrm>
        </p:grpSpPr>
        <p:grpSp>
          <p:nvGrpSpPr>
            <p:cNvPr id="113" name="组合 28"/>
            <p:cNvGrpSpPr/>
            <p:nvPr/>
          </p:nvGrpSpPr>
          <p:grpSpPr>
            <a:xfrm>
              <a:off x="520958" y="1683691"/>
              <a:ext cx="2687638" cy="1993983"/>
              <a:chOff x="3073918" y="203757"/>
              <a:chExt cx="1017887" cy="491907"/>
            </a:xfrm>
          </p:grpSpPr>
          <p:sp>
            <p:nvSpPr>
              <p:cNvPr id="1048841" name="任意多边形 82"/>
              <p:cNvSpPr/>
              <p:nvPr/>
            </p:nvSpPr>
            <p:spPr bwMode="auto">
              <a:xfrm rot="5400000">
                <a:off x="3336908" y="-59233"/>
                <a:ext cx="491907" cy="1017887"/>
              </a:xfrm>
              <a:prstGeom prst="roundRect"/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</a:gradFill>
              <a:ln w="25400" cap="flat" cmpd="sng" algn="ctr">
                <a:noFill/>
                <a:prstDash val="solid"/>
              </a:ln>
              <a:effectLst>
                <a:outerShdw algn="tr" blurRad="127000" dir="7380000" dist="63500" rotWithShape="0" sx="102000" sy="10200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altLang="en-US" kern="0" 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48842" name="任意多边形 83"/>
              <p:cNvSpPr/>
              <p:nvPr/>
            </p:nvSpPr>
            <p:spPr bwMode="auto">
              <a:xfrm rot="16200000">
                <a:off x="3333117" y="-51899"/>
                <a:ext cx="484819" cy="1003218"/>
              </a:xfrm>
              <a:prstGeom prst="roundRect"/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eaLnBrk="0" hangingPunct="0" indent="-285750" marL="7429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eaLnBrk="0" hangingPunct="0" indent="-228600" marL="1143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eaLnBrk="0" hangingPunct="0" indent="-228600" marL="16002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eaLnBrk="0" hangingPunct="0" indent="-228600" marL="20574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altLang="en-US" kern="0" lang="zh-CN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048843" name="矩形 41"/>
            <p:cNvSpPr>
              <a:spLocks noChangeAspect="1" noChangeArrowheads="1"/>
            </p:cNvSpPr>
            <p:nvPr/>
          </p:nvSpPr>
          <p:spPr bwMode="auto">
            <a:xfrm>
              <a:off x="645374" y="1794270"/>
              <a:ext cx="2438806" cy="1772825"/>
            </a:xfrm>
            <a:prstGeom prst="roundRect"/>
            <a:blipFill rotWithShape="1" dpi="0">
              <a:blip xmlns:r="http://schemas.openxmlformats.org/officeDocument/2006/relationships" r:embed="rId1" cstate="print"/>
              <a:srcRect/>
              <a:stretch>
                <a:fillRect/>
              </a:stretch>
            </a:blip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buFont typeface="Arial" charset="0"/>
                <a:buNone/>
              </a:pPr>
              <a:endParaRPr altLang="zh-CN" 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48844" name="TextBox 42"/>
          <p:cNvSpPr txBox="1"/>
          <p:nvPr/>
        </p:nvSpPr>
        <p:spPr>
          <a:xfrm>
            <a:off x="1311470" y="315858"/>
            <a:ext cx="3649369" cy="430887"/>
          </a:xfrm>
          <a:prstGeom prst="rect"/>
          <a:noFill/>
          <a:ln>
            <a:noFill/>
          </a:ln>
        </p:spPr>
        <p:txBody>
          <a:bodyPr anchor="t" anchorCtr="0" bIns="0" compatLnSpc="1" lIns="0" numCol="1" rIns="0" tIns="0" vert="horz" wrap="square">
            <a:spAutoFit/>
          </a:bodyPr>
          <a:lstStyle>
            <a:defPPr>
              <a:defRPr lang="zh-CN"/>
            </a:defPPr>
            <a:lvl1pPr defTabSz="914400" eaLnBrk="1" hangingPunct="1" indent="0" latinLnBrk="0" lvl="0" marL="0" marR="0">
              <a:lnSpc>
                <a:spcPct val="100000"/>
              </a:lnSpc>
              <a:buClrTx/>
              <a:buSzTx/>
              <a:buFontTx/>
              <a:buNone/>
              <a:defRPr baseline="0" b="1" cap="none" sz="2800" i="0" kumimoji="0" normalizeH="0" strike="noStrike" u="none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3.1 </a:t>
            </a:r>
            <a:r>
              <a:rPr altLang="en-US" b="0" dirty="0" lang="zh-CN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理论基础</a:t>
            </a:r>
          </a:p>
        </p:txBody>
      </p:sp>
      <p:pic>
        <p:nvPicPr>
          <p:cNvPr id="2097191" name="图片 33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">
                            <p:stCondLst>
                              <p:cond delay="500"/>
                            </p:stCondLst>
                            <p:childTnLst>
                              <p:par>
                                <p:cTn fill="hold" id="12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dur="500" id="14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5">
                            <p:stCondLst>
                              <p:cond delay="1000"/>
                            </p:stCondLst>
                            <p:childTnLst>
                              <p:par>
                                <p:cTn fill="hold" id="16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0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3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4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7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8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2">
                            <p:stCondLst>
                              <p:cond delay="1500"/>
                            </p:stCondLst>
                            <p:childTnLst>
                              <p:par>
                                <p:cTn fill="hold" id="33" nodeType="after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35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6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37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9"/>
                                        <p:tgtEl>
                                          <p:spTgt spid="1048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0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2"/>
                                        <p:tgtEl>
                                          <p:spTgt spid="1048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3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5"/>
                                        <p:tgtEl>
                                          <p:spTgt spid="104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6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8"/>
                                        <p:tgtEl>
                                          <p:spTgt spid="1048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26" grpId="0"/>
      <p:bldP spid="1048827" grpId="0"/>
      <p:bldP spid="1048828" grpId="0"/>
      <p:bldP spid="1048829" grpId="0"/>
      <p:bldP spid="10488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0" name="直接箭头连接符 1"/>
          <p:cNvCxnSpPr>
            <a:cxnSpLocks/>
          </p:cNvCxnSpPr>
          <p:nvPr/>
        </p:nvCxnSpPr>
        <p:spPr>
          <a:xfrm>
            <a:off x="1577002" y="1836444"/>
            <a:ext cx="9701500" cy="0"/>
          </a:xfrm>
          <a:prstGeom prst="straightConnector1"/>
          <a:ln w="15875">
            <a:solidFill>
              <a:schemeClr val="tx1">
                <a:lumMod val="85000"/>
                <a:lumOff val="15000"/>
                <a:alpha val="70000"/>
              </a:schemeClr>
            </a:solidFill>
            <a:prstDash val="sys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直接连接符 2"/>
          <p:cNvCxnSpPr>
            <a:cxnSpLocks/>
          </p:cNvCxnSpPr>
          <p:nvPr/>
        </p:nvCxnSpPr>
        <p:spPr>
          <a:xfrm>
            <a:off x="3290602" y="1961061"/>
            <a:ext cx="0" cy="2786205"/>
          </a:xfrm>
          <a:prstGeom prst="line"/>
          <a:ln w="15875">
            <a:solidFill>
              <a:schemeClr val="tx1">
                <a:lumMod val="85000"/>
                <a:lumOff val="15000"/>
                <a:alpha val="7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2" name="直接连接符 3"/>
          <p:cNvCxnSpPr>
            <a:cxnSpLocks/>
          </p:cNvCxnSpPr>
          <p:nvPr/>
        </p:nvCxnSpPr>
        <p:spPr>
          <a:xfrm>
            <a:off x="5037095" y="1961061"/>
            <a:ext cx="0" cy="2786205"/>
          </a:xfrm>
          <a:prstGeom prst="line"/>
          <a:ln w="15875">
            <a:solidFill>
              <a:schemeClr val="tx1">
                <a:lumMod val="85000"/>
                <a:lumOff val="15000"/>
                <a:alpha val="7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直接连接符 4"/>
          <p:cNvCxnSpPr>
            <a:cxnSpLocks/>
          </p:cNvCxnSpPr>
          <p:nvPr/>
        </p:nvCxnSpPr>
        <p:spPr>
          <a:xfrm>
            <a:off x="6764989" y="1961061"/>
            <a:ext cx="0" cy="2786205"/>
          </a:xfrm>
          <a:prstGeom prst="line"/>
          <a:ln w="15875">
            <a:solidFill>
              <a:schemeClr val="tx1">
                <a:lumMod val="85000"/>
                <a:lumOff val="15000"/>
                <a:alpha val="7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4" name="直接连接符 5"/>
          <p:cNvCxnSpPr>
            <a:cxnSpLocks/>
          </p:cNvCxnSpPr>
          <p:nvPr/>
        </p:nvCxnSpPr>
        <p:spPr>
          <a:xfrm>
            <a:off x="8511482" y="1961061"/>
            <a:ext cx="0" cy="2786205"/>
          </a:xfrm>
          <a:prstGeom prst="line"/>
          <a:ln w="15875">
            <a:solidFill>
              <a:schemeClr val="tx1">
                <a:lumMod val="85000"/>
                <a:lumOff val="15000"/>
                <a:alpha val="7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5" name="直接连接符 6"/>
          <p:cNvCxnSpPr>
            <a:cxnSpLocks/>
          </p:cNvCxnSpPr>
          <p:nvPr/>
        </p:nvCxnSpPr>
        <p:spPr>
          <a:xfrm>
            <a:off x="10222636" y="1961061"/>
            <a:ext cx="0" cy="2786205"/>
          </a:xfrm>
          <a:prstGeom prst="line"/>
          <a:ln w="15875">
            <a:solidFill>
              <a:schemeClr val="tx1">
                <a:lumMod val="85000"/>
                <a:lumOff val="15000"/>
                <a:alpha val="7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45" name="泪滴形 7"/>
          <p:cNvSpPr/>
          <p:nvPr/>
        </p:nvSpPr>
        <p:spPr>
          <a:xfrm>
            <a:off x="2202532" y="4647862"/>
            <a:ext cx="1088070" cy="1088070"/>
          </a:xfrm>
          <a:prstGeom prst="teardrop"/>
          <a:solidFill>
            <a:srgbClr val="344F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846" name="椭圆 8"/>
          <p:cNvSpPr/>
          <p:nvPr/>
        </p:nvSpPr>
        <p:spPr>
          <a:xfrm>
            <a:off x="3178418" y="1713688"/>
            <a:ext cx="247374" cy="247373"/>
          </a:xfrm>
          <a:prstGeom prst="ellipse"/>
          <a:solidFill>
            <a:srgbClr val="344F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cs typeface="+mn-ea"/>
              <a:sym typeface="+mn-lt"/>
            </a:endParaRPr>
          </a:p>
        </p:txBody>
      </p:sp>
      <p:sp>
        <p:nvSpPr>
          <p:cNvPr id="1048847" name="泪滴形 9"/>
          <p:cNvSpPr/>
          <p:nvPr/>
        </p:nvSpPr>
        <p:spPr>
          <a:xfrm>
            <a:off x="3949025" y="4649522"/>
            <a:ext cx="1086211" cy="1088071"/>
          </a:xfrm>
          <a:prstGeom prst="teardrop"/>
          <a:solidFill>
            <a:srgbClr val="CF3B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cs typeface="+mn-ea"/>
              <a:sym typeface="+mn-lt"/>
            </a:endParaRPr>
          </a:p>
        </p:txBody>
      </p:sp>
      <p:sp>
        <p:nvSpPr>
          <p:cNvPr id="1048848" name="椭圆 10"/>
          <p:cNvSpPr/>
          <p:nvPr/>
        </p:nvSpPr>
        <p:spPr>
          <a:xfrm>
            <a:off x="4923052" y="1713688"/>
            <a:ext cx="247374" cy="247373"/>
          </a:xfrm>
          <a:prstGeom prst="ellipse"/>
          <a:solidFill>
            <a:srgbClr val="CF3B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cs typeface="+mn-ea"/>
              <a:sym typeface="+mn-lt"/>
            </a:endParaRPr>
          </a:p>
        </p:txBody>
      </p:sp>
      <p:sp>
        <p:nvSpPr>
          <p:cNvPr id="1048849" name="泪滴形 11"/>
          <p:cNvSpPr/>
          <p:nvPr/>
        </p:nvSpPr>
        <p:spPr>
          <a:xfrm>
            <a:off x="5676919" y="4647862"/>
            <a:ext cx="1088070" cy="1088070"/>
          </a:xfrm>
          <a:prstGeom prst="teardrop"/>
          <a:solidFill>
            <a:srgbClr val="344F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850" name="椭圆 12"/>
          <p:cNvSpPr/>
          <p:nvPr/>
        </p:nvSpPr>
        <p:spPr>
          <a:xfrm>
            <a:off x="6652805" y="1713688"/>
            <a:ext cx="247374" cy="247373"/>
          </a:xfrm>
          <a:prstGeom prst="ellipse"/>
          <a:solidFill>
            <a:srgbClr val="344F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cs typeface="+mn-ea"/>
              <a:sym typeface="+mn-lt"/>
            </a:endParaRPr>
          </a:p>
        </p:txBody>
      </p:sp>
      <p:sp>
        <p:nvSpPr>
          <p:cNvPr id="1048851" name="泪滴形 13"/>
          <p:cNvSpPr/>
          <p:nvPr/>
        </p:nvSpPr>
        <p:spPr>
          <a:xfrm>
            <a:off x="7423412" y="4649522"/>
            <a:ext cx="1086211" cy="1088071"/>
          </a:xfrm>
          <a:prstGeom prst="teardrop"/>
          <a:solidFill>
            <a:srgbClr val="CF3B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852" name="椭圆 14"/>
          <p:cNvSpPr/>
          <p:nvPr/>
        </p:nvSpPr>
        <p:spPr>
          <a:xfrm>
            <a:off x="8397439" y="1713688"/>
            <a:ext cx="247374" cy="247373"/>
          </a:xfrm>
          <a:prstGeom prst="ellipse"/>
          <a:solidFill>
            <a:srgbClr val="CF3B4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cs typeface="+mn-ea"/>
              <a:sym typeface="+mn-lt"/>
            </a:endParaRPr>
          </a:p>
        </p:txBody>
      </p:sp>
      <p:sp>
        <p:nvSpPr>
          <p:cNvPr id="1048853" name="泪滴形 15"/>
          <p:cNvSpPr/>
          <p:nvPr/>
        </p:nvSpPr>
        <p:spPr>
          <a:xfrm>
            <a:off x="9134566" y="4649522"/>
            <a:ext cx="1088071" cy="1088071"/>
          </a:xfrm>
          <a:prstGeom prst="teardrop"/>
          <a:solidFill>
            <a:srgbClr val="344F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854" name="椭圆 16"/>
          <p:cNvSpPr/>
          <p:nvPr/>
        </p:nvSpPr>
        <p:spPr>
          <a:xfrm>
            <a:off x="10110453" y="1713688"/>
            <a:ext cx="247373" cy="247373"/>
          </a:xfrm>
          <a:prstGeom prst="ellipse"/>
          <a:solidFill>
            <a:srgbClr val="344F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/>
            <a:endParaRPr altLang="en-US" lang="zh-CN" noProof="1">
              <a:cs typeface="+mn-ea"/>
              <a:sym typeface="+mn-lt"/>
            </a:endParaRPr>
          </a:p>
        </p:txBody>
      </p:sp>
      <p:sp>
        <p:nvSpPr>
          <p:cNvPr id="1048855" name="文本框 24"/>
          <p:cNvSpPr txBox="1">
            <a:spLocks noChangeArrowheads="1"/>
          </p:cNvSpPr>
          <p:nvPr/>
        </p:nvSpPr>
        <p:spPr bwMode="auto">
          <a:xfrm>
            <a:off x="2325289" y="4941534"/>
            <a:ext cx="546945" cy="461665"/>
          </a:xfrm>
          <a:prstGeom prst="rect"/>
          <a:noFill/>
          <a:ln>
            <a:noFill/>
          </a:ln>
        </p:spPr>
        <p:txBody>
          <a:bodyPr wrap="none">
            <a:spAutoFit/>
          </a:bodyPr>
          <a:p>
            <a:r>
              <a:rPr altLang="zh-CN" dirty="0" sz="2400" lang="en-US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altLang="en-US" dirty="0" sz="2400" lang="zh-CN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856" name="文本框 25"/>
          <p:cNvSpPr txBox="1">
            <a:spLocks noChangeArrowheads="1"/>
          </p:cNvSpPr>
          <p:nvPr/>
        </p:nvSpPr>
        <p:spPr bwMode="auto">
          <a:xfrm>
            <a:off x="4064342" y="4941534"/>
            <a:ext cx="546945" cy="461665"/>
          </a:xfrm>
          <a:prstGeom prst="rect"/>
          <a:noFill/>
          <a:ln>
            <a:noFill/>
          </a:ln>
        </p:spPr>
        <p:txBody>
          <a:bodyPr wrap="none">
            <a:spAutoFit/>
          </a:bodyPr>
          <a:p>
            <a:r>
              <a:rPr altLang="zh-CN" dirty="0" sz="2400" lang="en-US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altLang="en-US" dirty="0" sz="2400" lang="zh-CN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857" name="文本框 26"/>
          <p:cNvSpPr txBox="1">
            <a:spLocks noChangeArrowheads="1"/>
          </p:cNvSpPr>
          <p:nvPr/>
        </p:nvSpPr>
        <p:spPr bwMode="auto">
          <a:xfrm>
            <a:off x="5792236" y="4941534"/>
            <a:ext cx="546945" cy="461665"/>
          </a:xfrm>
          <a:prstGeom prst="rect"/>
          <a:noFill/>
          <a:ln>
            <a:noFill/>
          </a:ln>
        </p:spPr>
        <p:txBody>
          <a:bodyPr wrap="none">
            <a:spAutoFit/>
          </a:bodyPr>
          <a:p>
            <a:r>
              <a:rPr altLang="zh-CN" dirty="0" sz="2400" lang="en-US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altLang="en-US" dirty="0" sz="2400" lang="zh-CN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858" name="文本框 30"/>
          <p:cNvSpPr txBox="1">
            <a:spLocks noChangeArrowheads="1"/>
          </p:cNvSpPr>
          <p:nvPr/>
        </p:nvSpPr>
        <p:spPr bwMode="auto">
          <a:xfrm>
            <a:off x="7567349" y="4941534"/>
            <a:ext cx="546945" cy="461665"/>
          </a:xfrm>
          <a:prstGeom prst="rect"/>
          <a:noFill/>
          <a:ln>
            <a:noFill/>
          </a:ln>
        </p:spPr>
        <p:txBody>
          <a:bodyPr wrap="none">
            <a:spAutoFit/>
          </a:bodyPr>
          <a:p>
            <a:r>
              <a:rPr altLang="zh-CN" dirty="0" sz="2400" lang="en-US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altLang="en-US" dirty="0" sz="2400" lang="zh-CN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859" name="文本框 31"/>
          <p:cNvSpPr txBox="1">
            <a:spLocks noChangeArrowheads="1"/>
          </p:cNvSpPr>
          <p:nvPr/>
        </p:nvSpPr>
        <p:spPr bwMode="auto">
          <a:xfrm>
            <a:off x="9249883" y="4941534"/>
            <a:ext cx="546945" cy="461665"/>
          </a:xfrm>
          <a:prstGeom prst="rect"/>
          <a:noFill/>
          <a:ln>
            <a:noFill/>
          </a:ln>
        </p:spPr>
        <p:txBody>
          <a:bodyPr wrap="none">
            <a:spAutoFit/>
          </a:bodyPr>
          <a:p>
            <a:r>
              <a:rPr altLang="zh-CN" dirty="0" sz="2400" lang="en-US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altLang="en-US" dirty="0" sz="2400" lang="zh-CN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15" name="组合 22"/>
          <p:cNvGrpSpPr>
            <a:grpSpLocks noChangeAspect="1"/>
          </p:cNvGrpSpPr>
          <p:nvPr/>
        </p:nvGrpSpPr>
        <p:grpSpPr>
          <a:xfrm>
            <a:off x="3992282" y="1221183"/>
            <a:ext cx="523494" cy="397755"/>
            <a:chOff x="4268086" y="4221191"/>
            <a:chExt cx="509646" cy="387231"/>
          </a:xfrm>
          <a:solidFill>
            <a:srgbClr val="CF3B4C"/>
          </a:solidFill>
          <a:effectLst/>
        </p:grpSpPr>
        <p:sp>
          <p:nvSpPr>
            <p:cNvPr id="1048860" name="Freeform 20"/>
            <p:cNvSpPr>
              <a:spLocks noEditPoints="1"/>
            </p:cNvSpPr>
            <p:nvPr/>
          </p:nvSpPr>
          <p:spPr bwMode="auto">
            <a:xfrm>
              <a:off x="4268086" y="4273030"/>
              <a:ext cx="337890" cy="335392"/>
            </a:xfrm>
            <a:custGeom>
              <a:avLst/>
              <a:gdLst>
                <a:gd name="T0" fmla="*/ 229 w 229"/>
                <a:gd name="T1" fmla="*/ 128 h 227"/>
                <a:gd name="T2" fmla="*/ 229 w 229"/>
                <a:gd name="T3" fmla="*/ 98 h 227"/>
                <a:gd name="T4" fmla="*/ 206 w 229"/>
                <a:gd name="T5" fmla="*/ 93 h 227"/>
                <a:gd name="T6" fmla="*/ 200 w 229"/>
                <a:gd name="T7" fmla="*/ 76 h 227"/>
                <a:gd name="T8" fmla="*/ 216 w 229"/>
                <a:gd name="T9" fmla="*/ 58 h 227"/>
                <a:gd name="T10" fmla="*/ 198 w 229"/>
                <a:gd name="T11" fmla="*/ 34 h 227"/>
                <a:gd name="T12" fmla="*/ 176 w 229"/>
                <a:gd name="T13" fmla="*/ 44 h 227"/>
                <a:gd name="T14" fmla="*/ 161 w 229"/>
                <a:gd name="T15" fmla="*/ 33 h 227"/>
                <a:gd name="T16" fmla="*/ 164 w 229"/>
                <a:gd name="T17" fmla="*/ 9 h 227"/>
                <a:gd name="T18" fmla="*/ 135 w 229"/>
                <a:gd name="T19" fmla="*/ 0 h 227"/>
                <a:gd name="T20" fmla="*/ 123 w 229"/>
                <a:gd name="T21" fmla="*/ 20 h 227"/>
                <a:gd name="T22" fmla="*/ 114 w 229"/>
                <a:gd name="T23" fmla="*/ 20 h 227"/>
                <a:gd name="T24" fmla="*/ 105 w 229"/>
                <a:gd name="T25" fmla="*/ 20 h 227"/>
                <a:gd name="T26" fmla="*/ 93 w 229"/>
                <a:gd name="T27" fmla="*/ 0 h 227"/>
                <a:gd name="T28" fmla="*/ 65 w 229"/>
                <a:gd name="T29" fmla="*/ 9 h 227"/>
                <a:gd name="T30" fmla="*/ 67 w 229"/>
                <a:gd name="T31" fmla="*/ 33 h 227"/>
                <a:gd name="T32" fmla="*/ 52 w 229"/>
                <a:gd name="T33" fmla="*/ 44 h 227"/>
                <a:gd name="T34" fmla="*/ 30 w 229"/>
                <a:gd name="T35" fmla="*/ 34 h 227"/>
                <a:gd name="T36" fmla="*/ 13 w 229"/>
                <a:gd name="T37" fmla="*/ 58 h 227"/>
                <a:gd name="T38" fmla="*/ 29 w 229"/>
                <a:gd name="T39" fmla="*/ 76 h 227"/>
                <a:gd name="T40" fmla="*/ 23 w 229"/>
                <a:gd name="T41" fmla="*/ 94 h 227"/>
                <a:gd name="T42" fmla="*/ 0 w 229"/>
                <a:gd name="T43" fmla="*/ 98 h 227"/>
                <a:gd name="T44" fmla="*/ 0 w 229"/>
                <a:gd name="T45" fmla="*/ 128 h 227"/>
                <a:gd name="T46" fmla="*/ 23 w 229"/>
                <a:gd name="T47" fmla="*/ 133 h 227"/>
                <a:gd name="T48" fmla="*/ 29 w 229"/>
                <a:gd name="T49" fmla="*/ 151 h 227"/>
                <a:gd name="T50" fmla="*/ 13 w 229"/>
                <a:gd name="T51" fmla="*/ 169 h 227"/>
                <a:gd name="T52" fmla="*/ 31 w 229"/>
                <a:gd name="T53" fmla="*/ 193 h 227"/>
                <a:gd name="T54" fmla="*/ 52 w 229"/>
                <a:gd name="T55" fmla="*/ 183 h 227"/>
                <a:gd name="T56" fmla="*/ 67 w 229"/>
                <a:gd name="T57" fmla="*/ 194 h 227"/>
                <a:gd name="T58" fmla="*/ 65 w 229"/>
                <a:gd name="T59" fmla="*/ 218 h 227"/>
                <a:gd name="T60" fmla="*/ 93 w 229"/>
                <a:gd name="T61" fmla="*/ 227 h 227"/>
                <a:gd name="T62" fmla="*/ 105 w 229"/>
                <a:gd name="T63" fmla="*/ 206 h 227"/>
                <a:gd name="T64" fmla="*/ 114 w 229"/>
                <a:gd name="T65" fmla="*/ 207 h 227"/>
                <a:gd name="T66" fmla="*/ 124 w 229"/>
                <a:gd name="T67" fmla="*/ 206 h 227"/>
                <a:gd name="T68" fmla="*/ 135 w 229"/>
                <a:gd name="T69" fmla="*/ 227 h 227"/>
                <a:gd name="T70" fmla="*/ 164 w 229"/>
                <a:gd name="T71" fmla="*/ 217 h 227"/>
                <a:gd name="T72" fmla="*/ 161 w 229"/>
                <a:gd name="T73" fmla="*/ 194 h 227"/>
                <a:gd name="T74" fmla="*/ 176 w 229"/>
                <a:gd name="T75" fmla="*/ 183 h 227"/>
                <a:gd name="T76" fmla="*/ 198 w 229"/>
                <a:gd name="T77" fmla="*/ 193 h 227"/>
                <a:gd name="T78" fmla="*/ 216 w 229"/>
                <a:gd name="T79" fmla="*/ 168 h 227"/>
                <a:gd name="T80" fmla="*/ 200 w 229"/>
                <a:gd name="T81" fmla="*/ 151 h 227"/>
                <a:gd name="T82" fmla="*/ 206 w 229"/>
                <a:gd name="T83" fmla="*/ 133 h 227"/>
                <a:gd name="T84" fmla="*/ 229 w 229"/>
                <a:gd name="T85" fmla="*/ 128 h 227"/>
                <a:gd name="T86" fmla="*/ 114 w 229"/>
                <a:gd name="T87" fmla="*/ 180 h 227"/>
                <a:gd name="T88" fmla="*/ 47 w 229"/>
                <a:gd name="T89" fmla="*/ 113 h 227"/>
                <a:gd name="T90" fmla="*/ 114 w 229"/>
                <a:gd name="T91" fmla="*/ 46 h 227"/>
                <a:gd name="T92" fmla="*/ 181 w 229"/>
                <a:gd name="T93" fmla="*/ 113 h 227"/>
                <a:gd name="T94" fmla="*/ 114 w 229"/>
                <a:gd name="T95" fmla="*/ 18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9" h="227">
                  <a:moveTo>
                    <a:pt x="229" y="128"/>
                  </a:moveTo>
                  <a:cubicBezTo>
                    <a:pt x="229" y="98"/>
                    <a:pt x="229" y="98"/>
                    <a:pt x="229" y="98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4" y="87"/>
                    <a:pt x="202" y="81"/>
                    <a:pt x="200" y="76"/>
                  </a:cubicBezTo>
                  <a:cubicBezTo>
                    <a:pt x="216" y="58"/>
                    <a:pt x="216" y="58"/>
                    <a:pt x="216" y="58"/>
                  </a:cubicBezTo>
                  <a:cubicBezTo>
                    <a:pt x="198" y="34"/>
                    <a:pt x="198" y="34"/>
                    <a:pt x="198" y="3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2" y="39"/>
                    <a:pt x="167" y="36"/>
                    <a:pt x="161" y="33"/>
                  </a:cubicBezTo>
                  <a:cubicBezTo>
                    <a:pt x="164" y="9"/>
                    <a:pt x="164" y="9"/>
                    <a:pt x="164" y="9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0" y="20"/>
                    <a:pt x="117" y="20"/>
                    <a:pt x="114" y="20"/>
                  </a:cubicBezTo>
                  <a:cubicBezTo>
                    <a:pt x="111" y="20"/>
                    <a:pt x="108" y="20"/>
                    <a:pt x="105" y="2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2" y="36"/>
                    <a:pt x="57" y="39"/>
                    <a:pt x="52" y="4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6" y="81"/>
                    <a:pt x="24" y="87"/>
                    <a:pt x="23" y="94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23" y="133"/>
                    <a:pt x="23" y="133"/>
                    <a:pt x="23" y="133"/>
                  </a:cubicBezTo>
                  <a:cubicBezTo>
                    <a:pt x="24" y="139"/>
                    <a:pt x="26" y="145"/>
                    <a:pt x="29" y="151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7" y="187"/>
                    <a:pt x="62" y="191"/>
                    <a:pt x="67" y="194"/>
                  </a:cubicBezTo>
                  <a:cubicBezTo>
                    <a:pt x="65" y="218"/>
                    <a:pt x="65" y="218"/>
                    <a:pt x="65" y="218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105" y="206"/>
                    <a:pt x="105" y="206"/>
                    <a:pt x="105" y="206"/>
                  </a:cubicBezTo>
                  <a:cubicBezTo>
                    <a:pt x="108" y="207"/>
                    <a:pt x="111" y="207"/>
                    <a:pt x="114" y="207"/>
                  </a:cubicBezTo>
                  <a:cubicBezTo>
                    <a:pt x="117" y="207"/>
                    <a:pt x="121" y="207"/>
                    <a:pt x="124" y="206"/>
                  </a:cubicBezTo>
                  <a:cubicBezTo>
                    <a:pt x="135" y="227"/>
                    <a:pt x="135" y="227"/>
                    <a:pt x="135" y="227"/>
                  </a:cubicBezTo>
                  <a:cubicBezTo>
                    <a:pt x="164" y="217"/>
                    <a:pt x="164" y="217"/>
                    <a:pt x="164" y="217"/>
                  </a:cubicBezTo>
                  <a:cubicBezTo>
                    <a:pt x="161" y="194"/>
                    <a:pt x="161" y="194"/>
                    <a:pt x="161" y="194"/>
                  </a:cubicBezTo>
                  <a:cubicBezTo>
                    <a:pt x="167" y="191"/>
                    <a:pt x="172" y="187"/>
                    <a:pt x="176" y="183"/>
                  </a:cubicBezTo>
                  <a:cubicBezTo>
                    <a:pt x="198" y="193"/>
                    <a:pt x="198" y="193"/>
                    <a:pt x="198" y="193"/>
                  </a:cubicBezTo>
                  <a:cubicBezTo>
                    <a:pt x="216" y="168"/>
                    <a:pt x="216" y="168"/>
                    <a:pt x="216" y="168"/>
                  </a:cubicBezTo>
                  <a:cubicBezTo>
                    <a:pt x="200" y="151"/>
                    <a:pt x="200" y="151"/>
                    <a:pt x="200" y="151"/>
                  </a:cubicBezTo>
                  <a:cubicBezTo>
                    <a:pt x="202" y="145"/>
                    <a:pt x="204" y="139"/>
                    <a:pt x="206" y="133"/>
                  </a:cubicBezTo>
                  <a:lnTo>
                    <a:pt x="229" y="128"/>
                  </a:lnTo>
                  <a:close/>
                  <a:moveTo>
                    <a:pt x="114" y="180"/>
                  </a:moveTo>
                  <a:cubicBezTo>
                    <a:pt x="77" y="180"/>
                    <a:pt x="47" y="150"/>
                    <a:pt x="47" y="113"/>
                  </a:cubicBezTo>
                  <a:cubicBezTo>
                    <a:pt x="47" y="76"/>
                    <a:pt x="77" y="46"/>
                    <a:pt x="114" y="46"/>
                  </a:cubicBezTo>
                  <a:cubicBezTo>
                    <a:pt x="151" y="46"/>
                    <a:pt x="181" y="76"/>
                    <a:pt x="181" y="113"/>
                  </a:cubicBezTo>
                  <a:cubicBezTo>
                    <a:pt x="181" y="150"/>
                    <a:pt x="151" y="180"/>
                    <a:pt x="114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sz="2000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61" name="Freeform 21"/>
            <p:cNvSpPr>
              <a:spLocks noEditPoints="1"/>
            </p:cNvSpPr>
            <p:nvPr/>
          </p:nvSpPr>
          <p:spPr bwMode="auto">
            <a:xfrm>
              <a:off x="4577871" y="4221191"/>
              <a:ext cx="199861" cy="199861"/>
            </a:xfrm>
            <a:custGeom>
              <a:avLst/>
              <a:gdLst>
                <a:gd name="T0" fmla="*/ 135 w 135"/>
                <a:gd name="T1" fmla="*/ 76 h 135"/>
                <a:gd name="T2" fmla="*/ 135 w 135"/>
                <a:gd name="T3" fmla="*/ 58 h 135"/>
                <a:gd name="T4" fmla="*/ 122 w 135"/>
                <a:gd name="T5" fmla="*/ 55 h 135"/>
                <a:gd name="T6" fmla="*/ 118 w 135"/>
                <a:gd name="T7" fmla="*/ 45 h 135"/>
                <a:gd name="T8" fmla="*/ 128 w 135"/>
                <a:gd name="T9" fmla="*/ 34 h 135"/>
                <a:gd name="T10" fmla="*/ 117 w 135"/>
                <a:gd name="T11" fmla="*/ 20 h 135"/>
                <a:gd name="T12" fmla="*/ 104 w 135"/>
                <a:gd name="T13" fmla="*/ 26 h 135"/>
                <a:gd name="T14" fmla="*/ 96 w 135"/>
                <a:gd name="T15" fmla="*/ 19 h 135"/>
                <a:gd name="T16" fmla="*/ 97 w 135"/>
                <a:gd name="T17" fmla="*/ 5 h 135"/>
                <a:gd name="T18" fmla="*/ 80 w 135"/>
                <a:gd name="T19" fmla="*/ 0 h 135"/>
                <a:gd name="T20" fmla="*/ 73 w 135"/>
                <a:gd name="T21" fmla="*/ 12 h 135"/>
                <a:gd name="T22" fmla="*/ 67 w 135"/>
                <a:gd name="T23" fmla="*/ 12 h 135"/>
                <a:gd name="T24" fmla="*/ 62 w 135"/>
                <a:gd name="T25" fmla="*/ 12 h 135"/>
                <a:gd name="T26" fmla="*/ 55 w 135"/>
                <a:gd name="T27" fmla="*/ 0 h 135"/>
                <a:gd name="T28" fmla="*/ 38 w 135"/>
                <a:gd name="T29" fmla="*/ 5 h 135"/>
                <a:gd name="T30" fmla="*/ 39 w 135"/>
                <a:gd name="T31" fmla="*/ 19 h 135"/>
                <a:gd name="T32" fmla="*/ 30 w 135"/>
                <a:gd name="T33" fmla="*/ 26 h 135"/>
                <a:gd name="T34" fmla="*/ 18 w 135"/>
                <a:gd name="T35" fmla="*/ 20 h 135"/>
                <a:gd name="T36" fmla="*/ 7 w 135"/>
                <a:gd name="T37" fmla="*/ 34 h 135"/>
                <a:gd name="T38" fmla="*/ 17 w 135"/>
                <a:gd name="T39" fmla="*/ 45 h 135"/>
                <a:gd name="T40" fmla="*/ 13 w 135"/>
                <a:gd name="T41" fmla="*/ 55 h 135"/>
                <a:gd name="T42" fmla="*/ 0 w 135"/>
                <a:gd name="T43" fmla="*/ 58 h 135"/>
                <a:gd name="T44" fmla="*/ 0 w 135"/>
                <a:gd name="T45" fmla="*/ 76 h 135"/>
                <a:gd name="T46" fmla="*/ 13 w 135"/>
                <a:gd name="T47" fmla="*/ 79 h 135"/>
                <a:gd name="T48" fmla="*/ 17 w 135"/>
                <a:gd name="T49" fmla="*/ 90 h 135"/>
                <a:gd name="T50" fmla="*/ 7 w 135"/>
                <a:gd name="T51" fmla="*/ 100 h 135"/>
                <a:gd name="T52" fmla="*/ 18 w 135"/>
                <a:gd name="T53" fmla="*/ 114 h 135"/>
                <a:gd name="T54" fmla="*/ 31 w 135"/>
                <a:gd name="T55" fmla="*/ 109 h 135"/>
                <a:gd name="T56" fmla="*/ 39 w 135"/>
                <a:gd name="T57" fmla="*/ 115 h 135"/>
                <a:gd name="T58" fmla="*/ 38 w 135"/>
                <a:gd name="T59" fmla="*/ 129 h 135"/>
                <a:gd name="T60" fmla="*/ 55 w 135"/>
                <a:gd name="T61" fmla="*/ 135 h 135"/>
                <a:gd name="T62" fmla="*/ 62 w 135"/>
                <a:gd name="T63" fmla="*/ 122 h 135"/>
                <a:gd name="T64" fmla="*/ 68 w 135"/>
                <a:gd name="T65" fmla="*/ 123 h 135"/>
                <a:gd name="T66" fmla="*/ 73 w 135"/>
                <a:gd name="T67" fmla="*/ 122 h 135"/>
                <a:gd name="T68" fmla="*/ 80 w 135"/>
                <a:gd name="T69" fmla="*/ 135 h 135"/>
                <a:gd name="T70" fmla="*/ 97 w 135"/>
                <a:gd name="T71" fmla="*/ 129 h 135"/>
                <a:gd name="T72" fmla="*/ 96 w 135"/>
                <a:gd name="T73" fmla="*/ 115 h 135"/>
                <a:gd name="T74" fmla="*/ 104 w 135"/>
                <a:gd name="T75" fmla="*/ 109 h 135"/>
                <a:gd name="T76" fmla="*/ 117 w 135"/>
                <a:gd name="T77" fmla="*/ 114 h 135"/>
                <a:gd name="T78" fmla="*/ 128 w 135"/>
                <a:gd name="T79" fmla="*/ 100 h 135"/>
                <a:gd name="T80" fmla="*/ 118 w 135"/>
                <a:gd name="T81" fmla="*/ 89 h 135"/>
                <a:gd name="T82" fmla="*/ 122 w 135"/>
                <a:gd name="T83" fmla="*/ 79 h 135"/>
                <a:gd name="T84" fmla="*/ 135 w 135"/>
                <a:gd name="T85" fmla="*/ 76 h 135"/>
                <a:gd name="T86" fmla="*/ 67 w 135"/>
                <a:gd name="T87" fmla="*/ 107 h 135"/>
                <a:gd name="T88" fmla="*/ 28 w 135"/>
                <a:gd name="T89" fmla="*/ 67 h 135"/>
                <a:gd name="T90" fmla="*/ 67 w 135"/>
                <a:gd name="T91" fmla="*/ 27 h 135"/>
                <a:gd name="T92" fmla="*/ 107 w 135"/>
                <a:gd name="T93" fmla="*/ 67 h 135"/>
                <a:gd name="T94" fmla="*/ 67 w 135"/>
                <a:gd name="T95" fmla="*/ 10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5" h="135">
                  <a:moveTo>
                    <a:pt x="135" y="76"/>
                  </a:moveTo>
                  <a:cubicBezTo>
                    <a:pt x="135" y="58"/>
                    <a:pt x="135" y="58"/>
                    <a:pt x="135" y="5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1" y="52"/>
                    <a:pt x="120" y="48"/>
                    <a:pt x="118" y="45"/>
                  </a:cubicBezTo>
                  <a:cubicBezTo>
                    <a:pt x="128" y="34"/>
                    <a:pt x="128" y="34"/>
                    <a:pt x="128" y="34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2" y="23"/>
                    <a:pt x="99" y="21"/>
                    <a:pt x="96" y="19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1" y="12"/>
                    <a:pt x="69" y="12"/>
                    <a:pt x="67" y="12"/>
                  </a:cubicBezTo>
                  <a:cubicBezTo>
                    <a:pt x="66" y="12"/>
                    <a:pt x="64" y="12"/>
                    <a:pt x="62" y="12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6" y="21"/>
                    <a:pt x="33" y="23"/>
                    <a:pt x="30" y="26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5" y="48"/>
                    <a:pt x="14" y="52"/>
                    <a:pt x="13" y="5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4" y="83"/>
                    <a:pt x="15" y="86"/>
                    <a:pt x="17" y="90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3" y="111"/>
                    <a:pt x="36" y="113"/>
                    <a:pt x="39" y="115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64" y="123"/>
                    <a:pt x="66" y="123"/>
                    <a:pt x="68" y="123"/>
                  </a:cubicBezTo>
                  <a:cubicBezTo>
                    <a:pt x="69" y="123"/>
                    <a:pt x="71" y="123"/>
                    <a:pt x="73" y="122"/>
                  </a:cubicBezTo>
                  <a:cubicBezTo>
                    <a:pt x="80" y="135"/>
                    <a:pt x="80" y="135"/>
                    <a:pt x="80" y="135"/>
                  </a:cubicBezTo>
                  <a:cubicBezTo>
                    <a:pt x="97" y="129"/>
                    <a:pt x="97" y="129"/>
                    <a:pt x="97" y="129"/>
                  </a:cubicBezTo>
                  <a:cubicBezTo>
                    <a:pt x="96" y="115"/>
                    <a:pt x="96" y="115"/>
                    <a:pt x="96" y="115"/>
                  </a:cubicBezTo>
                  <a:cubicBezTo>
                    <a:pt x="99" y="113"/>
                    <a:pt x="102" y="111"/>
                    <a:pt x="104" y="109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28" y="100"/>
                    <a:pt x="128" y="100"/>
                    <a:pt x="128" y="100"/>
                  </a:cubicBezTo>
                  <a:cubicBezTo>
                    <a:pt x="118" y="89"/>
                    <a:pt x="118" y="89"/>
                    <a:pt x="118" y="89"/>
                  </a:cubicBezTo>
                  <a:cubicBezTo>
                    <a:pt x="120" y="86"/>
                    <a:pt x="121" y="83"/>
                    <a:pt x="122" y="79"/>
                  </a:cubicBezTo>
                  <a:lnTo>
                    <a:pt x="135" y="76"/>
                  </a:lnTo>
                  <a:close/>
                  <a:moveTo>
                    <a:pt x="67" y="107"/>
                  </a:moveTo>
                  <a:cubicBezTo>
                    <a:pt x="46" y="107"/>
                    <a:pt x="28" y="89"/>
                    <a:pt x="28" y="67"/>
                  </a:cubicBezTo>
                  <a:cubicBezTo>
                    <a:pt x="28" y="45"/>
                    <a:pt x="46" y="27"/>
                    <a:pt x="67" y="27"/>
                  </a:cubicBezTo>
                  <a:cubicBezTo>
                    <a:pt x="89" y="27"/>
                    <a:pt x="107" y="45"/>
                    <a:pt x="107" y="67"/>
                  </a:cubicBezTo>
                  <a:cubicBezTo>
                    <a:pt x="107" y="89"/>
                    <a:pt x="89" y="107"/>
                    <a:pt x="67" y="10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sz="2000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6" name="组合 25"/>
          <p:cNvGrpSpPr/>
          <p:nvPr/>
        </p:nvGrpSpPr>
        <p:grpSpPr>
          <a:xfrm>
            <a:off x="2263492" y="1222861"/>
            <a:ext cx="421096" cy="402728"/>
            <a:chOff x="1004888" y="993775"/>
            <a:chExt cx="2438400" cy="2332038"/>
          </a:xfrm>
          <a:solidFill>
            <a:srgbClr val="344F66"/>
          </a:solidFill>
          <a:effectLst/>
        </p:grpSpPr>
        <p:sp>
          <p:nvSpPr>
            <p:cNvPr id="1048862" name="Freeform 25"/>
            <p:cNvSpPr/>
            <p:nvPr/>
          </p:nvSpPr>
          <p:spPr bwMode="auto">
            <a:xfrm>
              <a:off x="1898651" y="2670175"/>
              <a:ext cx="655638" cy="655638"/>
            </a:xfrm>
            <a:custGeom>
              <a:avLst/>
              <a:gdLst>
                <a:gd name="T0" fmla="*/ 206 w 413"/>
                <a:gd name="T1" fmla="*/ 413 h 413"/>
                <a:gd name="T2" fmla="*/ 0 w 413"/>
                <a:gd name="T3" fmla="*/ 0 h 413"/>
                <a:gd name="T4" fmla="*/ 413 w 413"/>
                <a:gd name="T5" fmla="*/ 0 h 413"/>
                <a:gd name="T6" fmla="*/ 206 w 413"/>
                <a:gd name="T7" fmla="*/ 41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3" h="413">
                  <a:moveTo>
                    <a:pt x="206" y="413"/>
                  </a:moveTo>
                  <a:lnTo>
                    <a:pt x="0" y="0"/>
                  </a:lnTo>
                  <a:lnTo>
                    <a:pt x="413" y="0"/>
                  </a:lnTo>
                  <a:lnTo>
                    <a:pt x="206" y="4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sz="2000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63" name="任意多边形 43"/>
            <p:cNvSpPr>
              <a:spLocks noChangeArrowheads="1"/>
            </p:cNvSpPr>
            <p:nvPr/>
          </p:nvSpPr>
          <p:spPr bwMode="auto">
            <a:xfrm>
              <a:off x="1004888" y="993775"/>
              <a:ext cx="2438400" cy="1774825"/>
            </a:xfrm>
            <a:custGeom>
              <a:avLst/>
              <a:gdLst>
                <a:gd name="connsiteX0" fmla="*/ 290196 w 2438400"/>
                <a:gd name="connsiteY0" fmla="*/ 0 h 1774825"/>
                <a:gd name="connsiteX1" fmla="*/ 2151973 w 2438400"/>
                <a:gd name="connsiteY1" fmla="*/ 0 h 1774825"/>
                <a:gd name="connsiteX2" fmla="*/ 2438400 w 2438400"/>
                <a:gd name="connsiteY2" fmla="*/ 286384 h 1774825"/>
                <a:gd name="connsiteX3" fmla="*/ 2438400 w 2438400"/>
                <a:gd name="connsiteY3" fmla="*/ 1484673 h 1774825"/>
                <a:gd name="connsiteX4" fmla="*/ 2151973 w 2438400"/>
                <a:gd name="connsiteY4" fmla="*/ 1774825 h 1774825"/>
                <a:gd name="connsiteX5" fmla="*/ 290196 w 2438400"/>
                <a:gd name="connsiteY5" fmla="*/ 1774825 h 1774825"/>
                <a:gd name="connsiteX6" fmla="*/ 0 w 2438400"/>
                <a:gd name="connsiteY6" fmla="*/ 1484673 h 1774825"/>
                <a:gd name="connsiteX7" fmla="*/ 0 w 2438400"/>
                <a:gd name="connsiteY7" fmla="*/ 286384 h 1774825"/>
                <a:gd name="connsiteX8" fmla="*/ 290196 w 2438400"/>
                <a:gd name="connsiteY8" fmla="*/ 0 h 1774825"/>
                <a:gd name="connsiteX9" fmla="*/ 471488 w 2438400"/>
                <a:gd name="connsiteY9" fmla="*/ 425450 h 1774825"/>
                <a:gd name="connsiteX10" fmla="*/ 471488 w 2438400"/>
                <a:gd name="connsiteY10" fmla="*/ 598488 h 1774825"/>
                <a:gd name="connsiteX11" fmla="*/ 1971676 w 2438400"/>
                <a:gd name="connsiteY11" fmla="*/ 598488 h 1774825"/>
                <a:gd name="connsiteX12" fmla="*/ 1971676 w 2438400"/>
                <a:gd name="connsiteY12" fmla="*/ 425450 h 1774825"/>
                <a:gd name="connsiteX13" fmla="*/ 471488 w 2438400"/>
                <a:gd name="connsiteY13" fmla="*/ 425450 h 1774825"/>
                <a:gd name="connsiteX14" fmla="*/ 471488 w 2438400"/>
                <a:gd name="connsiteY14" fmla="*/ 801688 h 1774825"/>
                <a:gd name="connsiteX15" fmla="*/ 471488 w 2438400"/>
                <a:gd name="connsiteY15" fmla="*/ 971551 h 1774825"/>
                <a:gd name="connsiteX16" fmla="*/ 1971676 w 2438400"/>
                <a:gd name="connsiteY16" fmla="*/ 971551 h 1774825"/>
                <a:gd name="connsiteX17" fmla="*/ 1971676 w 2438400"/>
                <a:gd name="connsiteY17" fmla="*/ 801688 h 1774825"/>
                <a:gd name="connsiteX18" fmla="*/ 471488 w 2438400"/>
                <a:gd name="connsiteY18" fmla="*/ 801688 h 1774825"/>
                <a:gd name="connsiteX19" fmla="*/ 471488 w 2438400"/>
                <a:gd name="connsiteY19" fmla="*/ 1174750 h 1774825"/>
                <a:gd name="connsiteX20" fmla="*/ 471488 w 2438400"/>
                <a:gd name="connsiteY20" fmla="*/ 1347788 h 1774825"/>
                <a:gd name="connsiteX21" fmla="*/ 1971676 w 2438400"/>
                <a:gd name="connsiteY21" fmla="*/ 1347788 h 1774825"/>
                <a:gd name="connsiteX22" fmla="*/ 1971676 w 2438400"/>
                <a:gd name="connsiteY22" fmla="*/ 1174750 h 1774825"/>
                <a:gd name="connsiteX23" fmla="*/ 471488 w 2438400"/>
                <a:gd name="connsiteY23" fmla="*/ 1174750 h 177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38400" h="1774825">
                  <a:moveTo>
                    <a:pt x="290196" y="0"/>
                  </a:moveTo>
                  <a:cubicBezTo>
                    <a:pt x="2151973" y="0"/>
                    <a:pt x="2151973" y="0"/>
                    <a:pt x="2151973" y="0"/>
                  </a:cubicBezTo>
                  <a:cubicBezTo>
                    <a:pt x="2310262" y="0"/>
                    <a:pt x="2438400" y="128119"/>
                    <a:pt x="2438400" y="286384"/>
                  </a:cubicBezTo>
                  <a:lnTo>
                    <a:pt x="2438400" y="1484673"/>
                  </a:lnTo>
                  <a:cubicBezTo>
                    <a:pt x="2438400" y="1646706"/>
                    <a:pt x="2310262" y="1774825"/>
                    <a:pt x="2151973" y="1774825"/>
                  </a:cubicBezTo>
                  <a:cubicBezTo>
                    <a:pt x="290196" y="1774825"/>
                    <a:pt x="290196" y="1774825"/>
                    <a:pt x="290196" y="1774825"/>
                  </a:cubicBezTo>
                  <a:cubicBezTo>
                    <a:pt x="131907" y="1774825"/>
                    <a:pt x="0" y="1646706"/>
                    <a:pt x="0" y="1484673"/>
                  </a:cubicBezTo>
                  <a:cubicBezTo>
                    <a:pt x="0" y="286384"/>
                    <a:pt x="0" y="286384"/>
                    <a:pt x="0" y="286384"/>
                  </a:cubicBezTo>
                  <a:cubicBezTo>
                    <a:pt x="0" y="128119"/>
                    <a:pt x="131907" y="0"/>
                    <a:pt x="290196" y="0"/>
                  </a:cubicBezTo>
                  <a:close/>
                  <a:moveTo>
                    <a:pt x="471488" y="425450"/>
                  </a:moveTo>
                  <a:lnTo>
                    <a:pt x="471488" y="598488"/>
                  </a:lnTo>
                  <a:lnTo>
                    <a:pt x="1971676" y="598488"/>
                  </a:lnTo>
                  <a:lnTo>
                    <a:pt x="1971676" y="425450"/>
                  </a:lnTo>
                  <a:lnTo>
                    <a:pt x="471488" y="425450"/>
                  </a:lnTo>
                  <a:close/>
                  <a:moveTo>
                    <a:pt x="471488" y="801688"/>
                  </a:moveTo>
                  <a:lnTo>
                    <a:pt x="471488" y="971551"/>
                  </a:lnTo>
                  <a:lnTo>
                    <a:pt x="1971676" y="971551"/>
                  </a:lnTo>
                  <a:lnTo>
                    <a:pt x="1971676" y="801688"/>
                  </a:lnTo>
                  <a:lnTo>
                    <a:pt x="471488" y="801688"/>
                  </a:lnTo>
                  <a:close/>
                  <a:moveTo>
                    <a:pt x="471488" y="1174750"/>
                  </a:moveTo>
                  <a:lnTo>
                    <a:pt x="471488" y="1347788"/>
                  </a:lnTo>
                  <a:lnTo>
                    <a:pt x="1971676" y="1347788"/>
                  </a:lnTo>
                  <a:lnTo>
                    <a:pt x="1971676" y="1174750"/>
                  </a:lnTo>
                  <a:lnTo>
                    <a:pt x="471488" y="117475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sz="2000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7" name="组合 28"/>
          <p:cNvGrpSpPr/>
          <p:nvPr/>
        </p:nvGrpSpPr>
        <p:grpSpPr>
          <a:xfrm>
            <a:off x="7463526" y="1188219"/>
            <a:ext cx="370488" cy="473812"/>
            <a:chOff x="1605186" y="572440"/>
            <a:chExt cx="563562" cy="720725"/>
          </a:xfrm>
          <a:solidFill>
            <a:srgbClr val="CF3B4C"/>
          </a:solidFill>
          <a:effectLst/>
        </p:grpSpPr>
        <p:sp>
          <p:nvSpPr>
            <p:cNvPr id="1048864" name="Freeform 32"/>
            <p:cNvSpPr/>
            <p:nvPr/>
          </p:nvSpPr>
          <p:spPr bwMode="auto">
            <a:xfrm>
              <a:off x="1814736" y="572440"/>
              <a:ext cx="142875" cy="720725"/>
            </a:xfrm>
            <a:custGeom>
              <a:avLst/>
              <a:gdLst>
                <a:gd name="T0" fmla="*/ 64 w 64"/>
                <a:gd name="T1" fmla="*/ 289 h 321"/>
                <a:gd name="T2" fmla="*/ 32 w 64"/>
                <a:gd name="T3" fmla="*/ 321 h 321"/>
                <a:gd name="T4" fmla="*/ 0 w 64"/>
                <a:gd name="T5" fmla="*/ 289 h 321"/>
                <a:gd name="T6" fmla="*/ 0 w 64"/>
                <a:gd name="T7" fmla="*/ 32 h 321"/>
                <a:gd name="T8" fmla="*/ 32 w 64"/>
                <a:gd name="T9" fmla="*/ 0 h 321"/>
                <a:gd name="T10" fmla="*/ 64 w 64"/>
                <a:gd name="T11" fmla="*/ 32 h 321"/>
                <a:gd name="T12" fmla="*/ 64 w 64"/>
                <a:gd name="T13" fmla="*/ 289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21">
                  <a:moveTo>
                    <a:pt x="64" y="289"/>
                  </a:moveTo>
                  <a:cubicBezTo>
                    <a:pt x="64" y="307"/>
                    <a:pt x="49" y="321"/>
                    <a:pt x="32" y="321"/>
                  </a:cubicBezTo>
                  <a:cubicBezTo>
                    <a:pt x="14" y="321"/>
                    <a:pt x="0" y="307"/>
                    <a:pt x="0" y="28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lnTo>
                    <a:pt x="64" y="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65" name="Freeform 33"/>
            <p:cNvSpPr/>
            <p:nvPr/>
          </p:nvSpPr>
          <p:spPr bwMode="auto">
            <a:xfrm>
              <a:off x="1605186" y="1012177"/>
              <a:ext cx="141288" cy="280988"/>
            </a:xfrm>
            <a:custGeom>
              <a:avLst/>
              <a:gdLst>
                <a:gd name="T0" fmla="*/ 63 w 63"/>
                <a:gd name="T1" fmla="*/ 93 h 125"/>
                <a:gd name="T2" fmla="*/ 32 w 63"/>
                <a:gd name="T3" fmla="*/ 125 h 125"/>
                <a:gd name="T4" fmla="*/ 0 w 63"/>
                <a:gd name="T5" fmla="*/ 93 h 125"/>
                <a:gd name="T6" fmla="*/ 0 w 63"/>
                <a:gd name="T7" fmla="*/ 32 h 125"/>
                <a:gd name="T8" fmla="*/ 32 w 63"/>
                <a:gd name="T9" fmla="*/ 0 h 125"/>
                <a:gd name="T10" fmla="*/ 63 w 63"/>
                <a:gd name="T11" fmla="*/ 32 h 125"/>
                <a:gd name="T12" fmla="*/ 63 w 63"/>
                <a:gd name="T13" fmla="*/ 93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25">
                  <a:moveTo>
                    <a:pt x="63" y="93"/>
                  </a:moveTo>
                  <a:cubicBezTo>
                    <a:pt x="63" y="111"/>
                    <a:pt x="49" y="125"/>
                    <a:pt x="32" y="125"/>
                  </a:cubicBezTo>
                  <a:cubicBezTo>
                    <a:pt x="14" y="125"/>
                    <a:pt x="0" y="111"/>
                    <a:pt x="0" y="9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3" y="14"/>
                    <a:pt x="63" y="32"/>
                  </a:cubicBezTo>
                  <a:lnTo>
                    <a:pt x="63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66" name="Freeform 34"/>
            <p:cNvSpPr/>
            <p:nvPr/>
          </p:nvSpPr>
          <p:spPr bwMode="auto">
            <a:xfrm>
              <a:off x="2025873" y="804215"/>
              <a:ext cx="142875" cy="488950"/>
            </a:xfrm>
            <a:custGeom>
              <a:avLst/>
              <a:gdLst>
                <a:gd name="T0" fmla="*/ 64 w 64"/>
                <a:gd name="T1" fmla="*/ 186 h 218"/>
                <a:gd name="T2" fmla="*/ 32 w 64"/>
                <a:gd name="T3" fmla="*/ 218 h 218"/>
                <a:gd name="T4" fmla="*/ 0 w 64"/>
                <a:gd name="T5" fmla="*/ 186 h 218"/>
                <a:gd name="T6" fmla="*/ 0 w 64"/>
                <a:gd name="T7" fmla="*/ 32 h 218"/>
                <a:gd name="T8" fmla="*/ 32 w 64"/>
                <a:gd name="T9" fmla="*/ 0 h 218"/>
                <a:gd name="T10" fmla="*/ 64 w 64"/>
                <a:gd name="T11" fmla="*/ 32 h 218"/>
                <a:gd name="T12" fmla="*/ 64 w 64"/>
                <a:gd name="T13" fmla="*/ 186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218">
                  <a:moveTo>
                    <a:pt x="64" y="186"/>
                  </a:moveTo>
                  <a:cubicBezTo>
                    <a:pt x="64" y="204"/>
                    <a:pt x="49" y="218"/>
                    <a:pt x="32" y="218"/>
                  </a:cubicBezTo>
                  <a:cubicBezTo>
                    <a:pt x="14" y="218"/>
                    <a:pt x="0" y="204"/>
                    <a:pt x="0" y="18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lnTo>
                    <a:pt x="64" y="1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8" name="组合 32"/>
          <p:cNvGrpSpPr>
            <a:grpSpLocks noChangeAspect="1"/>
          </p:cNvGrpSpPr>
          <p:nvPr/>
        </p:nvGrpSpPr>
        <p:grpSpPr>
          <a:xfrm>
            <a:off x="5722277" y="1166389"/>
            <a:ext cx="411318" cy="465212"/>
            <a:chOff x="4994016" y="4872553"/>
            <a:chExt cx="406394" cy="459644"/>
          </a:xfrm>
          <a:solidFill>
            <a:srgbClr val="344F66"/>
          </a:solidFill>
          <a:effectLst/>
        </p:grpSpPr>
        <p:sp>
          <p:nvSpPr>
            <p:cNvPr id="1048867" name="Freeform 148"/>
            <p:cNvSpPr>
              <a:spLocks noEditPoints="1"/>
            </p:cNvSpPr>
            <p:nvPr/>
          </p:nvSpPr>
          <p:spPr bwMode="auto">
            <a:xfrm>
              <a:off x="5049137" y="4872553"/>
              <a:ext cx="351273" cy="456842"/>
            </a:xfrm>
            <a:custGeom>
              <a:avLst/>
              <a:gdLst>
                <a:gd name="T0" fmla="*/ 157 w 159"/>
                <a:gd name="T1" fmla="*/ 185 h 207"/>
                <a:gd name="T2" fmla="*/ 89 w 159"/>
                <a:gd name="T3" fmla="*/ 79 h 207"/>
                <a:gd name="T4" fmla="*/ 92 w 159"/>
                <a:gd name="T5" fmla="*/ 24 h 207"/>
                <a:gd name="T6" fmla="*/ 42 w 159"/>
                <a:gd name="T7" fmla="*/ 4 h 207"/>
                <a:gd name="T8" fmla="*/ 70 w 159"/>
                <a:gd name="T9" fmla="*/ 48 h 207"/>
                <a:gd name="T10" fmla="*/ 37 w 159"/>
                <a:gd name="T11" fmla="*/ 69 h 207"/>
                <a:gd name="T12" fmla="*/ 10 w 159"/>
                <a:gd name="T13" fmla="*/ 27 h 207"/>
                <a:gd name="T14" fmla="*/ 10 w 159"/>
                <a:gd name="T15" fmla="*/ 77 h 207"/>
                <a:gd name="T16" fmla="*/ 62 w 159"/>
                <a:gd name="T17" fmla="*/ 96 h 207"/>
                <a:gd name="T18" fmla="*/ 130 w 159"/>
                <a:gd name="T19" fmla="*/ 202 h 207"/>
                <a:gd name="T20" fmla="*/ 143 w 159"/>
                <a:gd name="T21" fmla="*/ 205 h 207"/>
                <a:gd name="T22" fmla="*/ 154 w 159"/>
                <a:gd name="T23" fmla="*/ 197 h 207"/>
                <a:gd name="T24" fmla="*/ 157 w 159"/>
                <a:gd name="T25" fmla="*/ 185 h 207"/>
                <a:gd name="T26" fmla="*/ 144 w 159"/>
                <a:gd name="T27" fmla="*/ 193 h 207"/>
                <a:gd name="T28" fmla="*/ 134 w 159"/>
                <a:gd name="T29" fmla="*/ 191 h 207"/>
                <a:gd name="T30" fmla="*/ 137 w 159"/>
                <a:gd name="T31" fmla="*/ 182 h 207"/>
                <a:gd name="T32" fmla="*/ 146 w 159"/>
                <a:gd name="T33" fmla="*/ 184 h 207"/>
                <a:gd name="T34" fmla="*/ 144 w 159"/>
                <a:gd name="T35" fmla="*/ 193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9" h="207">
                  <a:moveTo>
                    <a:pt x="157" y="185"/>
                  </a:moveTo>
                  <a:cubicBezTo>
                    <a:pt x="89" y="79"/>
                    <a:pt x="89" y="79"/>
                    <a:pt x="89" y="79"/>
                  </a:cubicBezTo>
                  <a:cubicBezTo>
                    <a:pt x="101" y="63"/>
                    <a:pt x="103" y="42"/>
                    <a:pt x="92" y="24"/>
                  </a:cubicBezTo>
                  <a:cubicBezTo>
                    <a:pt x="81" y="8"/>
                    <a:pt x="61" y="0"/>
                    <a:pt x="42" y="4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" y="42"/>
                    <a:pt x="0" y="61"/>
                    <a:pt x="10" y="77"/>
                  </a:cubicBezTo>
                  <a:cubicBezTo>
                    <a:pt x="21" y="95"/>
                    <a:pt x="43" y="102"/>
                    <a:pt x="62" y="96"/>
                  </a:cubicBezTo>
                  <a:cubicBezTo>
                    <a:pt x="130" y="202"/>
                    <a:pt x="130" y="202"/>
                    <a:pt x="130" y="202"/>
                  </a:cubicBezTo>
                  <a:cubicBezTo>
                    <a:pt x="133" y="206"/>
                    <a:pt x="138" y="207"/>
                    <a:pt x="143" y="205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8" y="195"/>
                    <a:pt x="159" y="189"/>
                    <a:pt x="157" y="185"/>
                  </a:cubicBezTo>
                  <a:close/>
                  <a:moveTo>
                    <a:pt x="144" y="193"/>
                  </a:moveTo>
                  <a:cubicBezTo>
                    <a:pt x="141" y="195"/>
                    <a:pt x="136" y="195"/>
                    <a:pt x="134" y="191"/>
                  </a:cubicBezTo>
                  <a:cubicBezTo>
                    <a:pt x="132" y="188"/>
                    <a:pt x="133" y="184"/>
                    <a:pt x="137" y="182"/>
                  </a:cubicBezTo>
                  <a:cubicBezTo>
                    <a:pt x="140" y="180"/>
                    <a:pt x="144" y="181"/>
                    <a:pt x="146" y="184"/>
                  </a:cubicBezTo>
                  <a:cubicBezTo>
                    <a:pt x="148" y="187"/>
                    <a:pt x="147" y="191"/>
                    <a:pt x="144" y="1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68" name="Freeform 149"/>
            <p:cNvSpPr>
              <a:spLocks noEditPoints="1"/>
            </p:cNvSpPr>
            <p:nvPr/>
          </p:nvSpPr>
          <p:spPr bwMode="auto">
            <a:xfrm>
              <a:off x="4994016" y="5104243"/>
              <a:ext cx="231691" cy="227954"/>
            </a:xfrm>
            <a:custGeom>
              <a:avLst/>
              <a:gdLst>
                <a:gd name="T0" fmla="*/ 91 w 105"/>
                <a:gd name="T1" fmla="*/ 26 h 103"/>
                <a:gd name="T2" fmla="*/ 97 w 105"/>
                <a:gd name="T3" fmla="*/ 20 h 103"/>
                <a:gd name="T4" fmla="*/ 84 w 105"/>
                <a:gd name="T5" fmla="*/ 7 h 103"/>
                <a:gd name="T6" fmla="*/ 78 w 105"/>
                <a:gd name="T7" fmla="*/ 13 h 103"/>
                <a:gd name="T8" fmla="*/ 62 w 105"/>
                <a:gd name="T9" fmla="*/ 7 h 103"/>
                <a:gd name="T10" fmla="*/ 62 w 105"/>
                <a:gd name="T11" fmla="*/ 0 h 103"/>
                <a:gd name="T12" fmla="*/ 43 w 105"/>
                <a:gd name="T13" fmla="*/ 0 h 103"/>
                <a:gd name="T14" fmla="*/ 43 w 105"/>
                <a:gd name="T15" fmla="*/ 7 h 103"/>
                <a:gd name="T16" fmla="*/ 28 w 105"/>
                <a:gd name="T17" fmla="*/ 13 h 103"/>
                <a:gd name="T18" fmla="*/ 22 w 105"/>
                <a:gd name="T19" fmla="*/ 7 h 103"/>
                <a:gd name="T20" fmla="*/ 8 w 105"/>
                <a:gd name="T21" fmla="*/ 20 h 103"/>
                <a:gd name="T22" fmla="*/ 15 w 105"/>
                <a:gd name="T23" fmla="*/ 27 h 103"/>
                <a:gd name="T24" fmla="*/ 8 w 105"/>
                <a:gd name="T25" fmla="*/ 42 h 103"/>
                <a:gd name="T26" fmla="*/ 0 w 105"/>
                <a:gd name="T27" fmla="*/ 42 h 103"/>
                <a:gd name="T28" fmla="*/ 0 w 105"/>
                <a:gd name="T29" fmla="*/ 61 h 103"/>
                <a:gd name="T30" fmla="*/ 9 w 105"/>
                <a:gd name="T31" fmla="*/ 61 h 103"/>
                <a:gd name="T32" fmla="*/ 15 w 105"/>
                <a:gd name="T33" fmla="*/ 76 h 103"/>
                <a:gd name="T34" fmla="*/ 9 w 105"/>
                <a:gd name="T35" fmla="*/ 82 h 103"/>
                <a:gd name="T36" fmla="*/ 22 w 105"/>
                <a:gd name="T37" fmla="*/ 95 h 103"/>
                <a:gd name="T38" fmla="*/ 28 w 105"/>
                <a:gd name="T39" fmla="*/ 89 h 103"/>
                <a:gd name="T40" fmla="*/ 43 w 105"/>
                <a:gd name="T41" fmla="*/ 95 h 103"/>
                <a:gd name="T42" fmla="*/ 43 w 105"/>
                <a:gd name="T43" fmla="*/ 103 h 103"/>
                <a:gd name="T44" fmla="*/ 62 w 105"/>
                <a:gd name="T45" fmla="*/ 103 h 103"/>
                <a:gd name="T46" fmla="*/ 62 w 105"/>
                <a:gd name="T47" fmla="*/ 95 h 103"/>
                <a:gd name="T48" fmla="*/ 77 w 105"/>
                <a:gd name="T49" fmla="*/ 89 h 103"/>
                <a:gd name="T50" fmla="*/ 83 w 105"/>
                <a:gd name="T51" fmla="*/ 95 h 103"/>
                <a:gd name="T52" fmla="*/ 96 w 105"/>
                <a:gd name="T53" fmla="*/ 82 h 103"/>
                <a:gd name="T54" fmla="*/ 91 w 105"/>
                <a:gd name="T55" fmla="*/ 76 h 103"/>
                <a:gd name="T56" fmla="*/ 97 w 105"/>
                <a:gd name="T57" fmla="*/ 61 h 103"/>
                <a:gd name="T58" fmla="*/ 105 w 105"/>
                <a:gd name="T59" fmla="*/ 61 h 103"/>
                <a:gd name="T60" fmla="*/ 105 w 105"/>
                <a:gd name="T61" fmla="*/ 42 h 103"/>
                <a:gd name="T62" fmla="*/ 97 w 105"/>
                <a:gd name="T63" fmla="*/ 42 h 103"/>
                <a:gd name="T64" fmla="*/ 91 w 105"/>
                <a:gd name="T65" fmla="*/ 26 h 103"/>
                <a:gd name="T66" fmla="*/ 53 w 105"/>
                <a:gd name="T67" fmla="*/ 83 h 103"/>
                <a:gd name="T68" fmla="*/ 21 w 105"/>
                <a:gd name="T69" fmla="*/ 51 h 103"/>
                <a:gd name="T70" fmla="*/ 53 w 105"/>
                <a:gd name="T71" fmla="*/ 19 h 103"/>
                <a:gd name="T72" fmla="*/ 85 w 105"/>
                <a:gd name="T73" fmla="*/ 51 h 103"/>
                <a:gd name="T74" fmla="*/ 53 w 105"/>
                <a:gd name="T75" fmla="*/ 8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5" h="103">
                  <a:moveTo>
                    <a:pt x="91" y="26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3" y="10"/>
                    <a:pt x="67" y="8"/>
                    <a:pt x="62" y="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38" y="8"/>
                    <a:pt x="33" y="10"/>
                    <a:pt x="28" y="13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31"/>
                    <a:pt x="10" y="36"/>
                    <a:pt x="8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0" y="66"/>
                    <a:pt x="12" y="71"/>
                    <a:pt x="15" y="76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3" y="92"/>
                    <a:pt x="38" y="94"/>
                    <a:pt x="43" y="95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7" y="94"/>
                    <a:pt x="73" y="92"/>
                    <a:pt x="77" y="89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1"/>
                    <a:pt x="96" y="66"/>
                    <a:pt x="97" y="61"/>
                  </a:cubicBezTo>
                  <a:cubicBezTo>
                    <a:pt x="105" y="61"/>
                    <a:pt x="105" y="61"/>
                    <a:pt x="105" y="61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6" y="36"/>
                    <a:pt x="94" y="31"/>
                    <a:pt x="91" y="26"/>
                  </a:cubicBezTo>
                  <a:close/>
                  <a:moveTo>
                    <a:pt x="53" y="83"/>
                  </a:moveTo>
                  <a:cubicBezTo>
                    <a:pt x="35" y="83"/>
                    <a:pt x="21" y="69"/>
                    <a:pt x="21" y="51"/>
                  </a:cubicBezTo>
                  <a:cubicBezTo>
                    <a:pt x="21" y="33"/>
                    <a:pt x="35" y="19"/>
                    <a:pt x="53" y="19"/>
                  </a:cubicBezTo>
                  <a:cubicBezTo>
                    <a:pt x="71" y="19"/>
                    <a:pt x="85" y="33"/>
                    <a:pt x="85" y="51"/>
                  </a:cubicBezTo>
                  <a:cubicBezTo>
                    <a:pt x="85" y="69"/>
                    <a:pt x="71" y="83"/>
                    <a:pt x="53" y="8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69" name="Oval 150"/>
            <p:cNvSpPr>
              <a:spLocks noChangeArrowheads="1"/>
            </p:cNvSpPr>
            <p:nvPr/>
          </p:nvSpPr>
          <p:spPr bwMode="auto">
            <a:xfrm>
              <a:off x="5091176" y="5199535"/>
              <a:ext cx="37370" cy="37370"/>
            </a:xfrm>
            <a:prstGeom prst="ellipse"/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9" name="组合 36"/>
          <p:cNvGrpSpPr>
            <a:grpSpLocks noChangeAspect="1"/>
          </p:cNvGrpSpPr>
          <p:nvPr/>
        </p:nvGrpSpPr>
        <p:grpSpPr>
          <a:xfrm>
            <a:off x="9243090" y="1188378"/>
            <a:ext cx="410297" cy="458848"/>
            <a:chOff x="5999255" y="3275006"/>
            <a:chExt cx="402656" cy="450303"/>
          </a:xfrm>
          <a:solidFill>
            <a:srgbClr val="344F66"/>
          </a:solidFill>
          <a:effectLst/>
        </p:grpSpPr>
        <p:sp>
          <p:nvSpPr>
            <p:cNvPr id="1048870" name="Freeform 108"/>
            <p:cNvSpPr>
              <a:spLocks noEditPoints="1"/>
            </p:cNvSpPr>
            <p:nvPr/>
          </p:nvSpPr>
          <p:spPr bwMode="auto">
            <a:xfrm>
              <a:off x="6068389" y="3442234"/>
              <a:ext cx="56988" cy="57923"/>
            </a:xfrm>
            <a:custGeom>
              <a:avLst/>
              <a:gdLst>
                <a:gd name="T0" fmla="*/ 13 w 26"/>
                <a:gd name="T1" fmla="*/ 0 h 26"/>
                <a:gd name="T2" fmla="*/ 0 w 26"/>
                <a:gd name="T3" fmla="*/ 13 h 26"/>
                <a:gd name="T4" fmla="*/ 13 w 26"/>
                <a:gd name="T5" fmla="*/ 26 h 26"/>
                <a:gd name="T6" fmla="*/ 26 w 26"/>
                <a:gd name="T7" fmla="*/ 13 h 26"/>
                <a:gd name="T8" fmla="*/ 13 w 26"/>
                <a:gd name="T9" fmla="*/ 0 h 26"/>
                <a:gd name="T10" fmla="*/ 13 w 26"/>
                <a:gd name="T11" fmla="*/ 23 h 26"/>
                <a:gd name="T12" fmla="*/ 3 w 26"/>
                <a:gd name="T13" fmla="*/ 13 h 26"/>
                <a:gd name="T14" fmla="*/ 13 w 26"/>
                <a:gd name="T15" fmla="*/ 3 h 26"/>
                <a:gd name="T16" fmla="*/ 23 w 26"/>
                <a:gd name="T17" fmla="*/ 13 h 26"/>
                <a:gd name="T18" fmla="*/ 13 w 26"/>
                <a:gd name="T19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6" y="20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3"/>
                  </a:moveTo>
                  <a:cubicBezTo>
                    <a:pt x="8" y="23"/>
                    <a:pt x="3" y="18"/>
                    <a:pt x="3" y="13"/>
                  </a:cubicBezTo>
                  <a:cubicBezTo>
                    <a:pt x="3" y="7"/>
                    <a:pt x="8" y="3"/>
                    <a:pt x="13" y="3"/>
                  </a:cubicBezTo>
                  <a:cubicBezTo>
                    <a:pt x="19" y="3"/>
                    <a:pt x="23" y="7"/>
                    <a:pt x="23" y="13"/>
                  </a:cubicBezTo>
                  <a:cubicBezTo>
                    <a:pt x="23" y="18"/>
                    <a:pt x="19" y="23"/>
                    <a:pt x="13" y="2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71" name="Freeform 109"/>
            <p:cNvSpPr>
              <a:spLocks noEditPoints="1"/>
            </p:cNvSpPr>
            <p:nvPr/>
          </p:nvSpPr>
          <p:spPr bwMode="auto">
            <a:xfrm>
              <a:off x="6196380" y="3404865"/>
              <a:ext cx="48580" cy="48580"/>
            </a:xfrm>
            <a:custGeom>
              <a:avLst/>
              <a:gdLst>
                <a:gd name="T0" fmla="*/ 11 w 22"/>
                <a:gd name="T1" fmla="*/ 0 h 22"/>
                <a:gd name="T2" fmla="*/ 0 w 22"/>
                <a:gd name="T3" fmla="*/ 11 h 22"/>
                <a:gd name="T4" fmla="*/ 11 w 22"/>
                <a:gd name="T5" fmla="*/ 22 h 22"/>
                <a:gd name="T6" fmla="*/ 22 w 22"/>
                <a:gd name="T7" fmla="*/ 11 h 22"/>
                <a:gd name="T8" fmla="*/ 11 w 22"/>
                <a:gd name="T9" fmla="*/ 0 h 22"/>
                <a:gd name="T10" fmla="*/ 11 w 22"/>
                <a:gd name="T11" fmla="*/ 17 h 22"/>
                <a:gd name="T12" fmla="*/ 5 w 22"/>
                <a:gd name="T13" fmla="*/ 11 h 22"/>
                <a:gd name="T14" fmla="*/ 11 w 22"/>
                <a:gd name="T15" fmla="*/ 5 h 22"/>
                <a:gd name="T16" fmla="*/ 17 w 22"/>
                <a:gd name="T17" fmla="*/ 11 h 22"/>
                <a:gd name="T18" fmla="*/ 11 w 22"/>
                <a:gd name="T1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lose/>
                  <a:moveTo>
                    <a:pt x="11" y="17"/>
                  </a:moveTo>
                  <a:cubicBezTo>
                    <a:pt x="8" y="17"/>
                    <a:pt x="5" y="14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4" y="5"/>
                    <a:pt x="17" y="8"/>
                    <a:pt x="17" y="11"/>
                  </a:cubicBezTo>
                  <a:cubicBezTo>
                    <a:pt x="17" y="14"/>
                    <a:pt x="14" y="17"/>
                    <a:pt x="11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72" name="Freeform 110"/>
            <p:cNvSpPr>
              <a:spLocks noEditPoints="1"/>
            </p:cNvSpPr>
            <p:nvPr/>
          </p:nvSpPr>
          <p:spPr bwMode="auto">
            <a:xfrm>
              <a:off x="6081468" y="3456248"/>
              <a:ext cx="30830" cy="30830"/>
            </a:xfrm>
            <a:custGeom>
              <a:avLst/>
              <a:gdLst>
                <a:gd name="T0" fmla="*/ 7 w 14"/>
                <a:gd name="T1" fmla="*/ 0 h 14"/>
                <a:gd name="T2" fmla="*/ 0 w 14"/>
                <a:gd name="T3" fmla="*/ 7 h 14"/>
                <a:gd name="T4" fmla="*/ 7 w 14"/>
                <a:gd name="T5" fmla="*/ 14 h 14"/>
                <a:gd name="T6" fmla="*/ 14 w 14"/>
                <a:gd name="T7" fmla="*/ 7 h 14"/>
                <a:gd name="T8" fmla="*/ 7 w 14"/>
                <a:gd name="T9" fmla="*/ 0 h 14"/>
                <a:gd name="T10" fmla="*/ 7 w 14"/>
                <a:gd name="T11" fmla="*/ 10 h 14"/>
                <a:gd name="T12" fmla="*/ 4 w 14"/>
                <a:gd name="T13" fmla="*/ 7 h 14"/>
                <a:gd name="T14" fmla="*/ 7 w 14"/>
                <a:gd name="T15" fmla="*/ 3 h 14"/>
                <a:gd name="T16" fmla="*/ 11 w 14"/>
                <a:gd name="T17" fmla="*/ 7 h 14"/>
                <a:gd name="T18" fmla="*/ 7 w 14"/>
                <a:gd name="T1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1" y="14"/>
                    <a:pt x="14" y="11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5"/>
                    <a:pt x="5" y="3"/>
                    <a:pt x="7" y="3"/>
                  </a:cubicBezTo>
                  <a:cubicBezTo>
                    <a:pt x="9" y="3"/>
                    <a:pt x="11" y="5"/>
                    <a:pt x="11" y="7"/>
                  </a:cubicBezTo>
                  <a:cubicBezTo>
                    <a:pt x="11" y="9"/>
                    <a:pt x="9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73" name="Freeform 111"/>
            <p:cNvSpPr>
              <a:spLocks noEditPoints="1"/>
            </p:cNvSpPr>
            <p:nvPr/>
          </p:nvSpPr>
          <p:spPr bwMode="auto">
            <a:xfrm>
              <a:off x="6172089" y="3380574"/>
              <a:ext cx="97161" cy="97161"/>
            </a:xfrm>
            <a:custGeom>
              <a:avLst/>
              <a:gdLst>
                <a:gd name="T0" fmla="*/ 22 w 44"/>
                <a:gd name="T1" fmla="*/ 0 h 44"/>
                <a:gd name="T2" fmla="*/ 0 w 44"/>
                <a:gd name="T3" fmla="*/ 22 h 44"/>
                <a:gd name="T4" fmla="*/ 22 w 44"/>
                <a:gd name="T5" fmla="*/ 44 h 44"/>
                <a:gd name="T6" fmla="*/ 44 w 44"/>
                <a:gd name="T7" fmla="*/ 22 h 44"/>
                <a:gd name="T8" fmla="*/ 22 w 44"/>
                <a:gd name="T9" fmla="*/ 0 h 44"/>
                <a:gd name="T10" fmla="*/ 22 w 44"/>
                <a:gd name="T11" fmla="*/ 39 h 44"/>
                <a:gd name="T12" fmla="*/ 5 w 44"/>
                <a:gd name="T13" fmla="*/ 22 h 44"/>
                <a:gd name="T14" fmla="*/ 22 w 44"/>
                <a:gd name="T15" fmla="*/ 6 h 44"/>
                <a:gd name="T16" fmla="*/ 39 w 44"/>
                <a:gd name="T17" fmla="*/ 22 h 44"/>
                <a:gd name="T18" fmla="*/ 22 w 44"/>
                <a:gd name="T19" fmla="*/ 3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9"/>
                  </a:moveTo>
                  <a:cubicBezTo>
                    <a:pt x="13" y="39"/>
                    <a:pt x="5" y="31"/>
                    <a:pt x="5" y="22"/>
                  </a:cubicBezTo>
                  <a:cubicBezTo>
                    <a:pt x="5" y="13"/>
                    <a:pt x="13" y="6"/>
                    <a:pt x="22" y="6"/>
                  </a:cubicBezTo>
                  <a:cubicBezTo>
                    <a:pt x="31" y="6"/>
                    <a:pt x="39" y="13"/>
                    <a:pt x="39" y="22"/>
                  </a:cubicBezTo>
                  <a:cubicBezTo>
                    <a:pt x="39" y="31"/>
                    <a:pt x="31" y="39"/>
                    <a:pt x="22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8874" name="Freeform 112"/>
            <p:cNvSpPr>
              <a:spLocks noEditPoints="1"/>
            </p:cNvSpPr>
            <p:nvPr/>
          </p:nvSpPr>
          <p:spPr bwMode="auto">
            <a:xfrm>
              <a:off x="5999255" y="3275006"/>
              <a:ext cx="402656" cy="450303"/>
            </a:xfrm>
            <a:custGeom>
              <a:avLst/>
              <a:gdLst>
                <a:gd name="T0" fmla="*/ 157 w 182"/>
                <a:gd name="T1" fmla="*/ 96 h 204"/>
                <a:gd name="T2" fmla="*/ 153 w 182"/>
                <a:gd name="T3" fmla="*/ 48 h 204"/>
                <a:gd name="T4" fmla="*/ 78 w 182"/>
                <a:gd name="T5" fmla="*/ 0 h 204"/>
                <a:gd name="T6" fmla="*/ 1 w 182"/>
                <a:gd name="T7" fmla="*/ 79 h 204"/>
                <a:gd name="T8" fmla="*/ 0 w 182"/>
                <a:gd name="T9" fmla="*/ 204 h 204"/>
                <a:gd name="T10" fmla="*/ 113 w 182"/>
                <a:gd name="T11" fmla="*/ 176 h 204"/>
                <a:gd name="T12" fmla="*/ 147 w 182"/>
                <a:gd name="T13" fmla="*/ 176 h 204"/>
                <a:gd name="T14" fmla="*/ 147 w 182"/>
                <a:gd name="T15" fmla="*/ 176 h 204"/>
                <a:gd name="T16" fmla="*/ 156 w 182"/>
                <a:gd name="T17" fmla="*/ 151 h 204"/>
                <a:gd name="T18" fmla="*/ 146 w 182"/>
                <a:gd name="T19" fmla="*/ 145 h 204"/>
                <a:gd name="T20" fmla="*/ 156 w 182"/>
                <a:gd name="T21" fmla="*/ 140 h 204"/>
                <a:gd name="T22" fmla="*/ 155 w 182"/>
                <a:gd name="T23" fmla="*/ 138 h 204"/>
                <a:gd name="T24" fmla="*/ 170 w 182"/>
                <a:gd name="T25" fmla="*/ 111 h 204"/>
                <a:gd name="T26" fmla="*/ 62 w 182"/>
                <a:gd name="T27" fmla="*/ 93 h 204"/>
                <a:gd name="T28" fmla="*/ 62 w 182"/>
                <a:gd name="T29" fmla="*/ 102 h 204"/>
                <a:gd name="T30" fmla="*/ 54 w 182"/>
                <a:gd name="T31" fmla="*/ 105 h 204"/>
                <a:gd name="T32" fmla="*/ 48 w 182"/>
                <a:gd name="T33" fmla="*/ 110 h 204"/>
                <a:gd name="T34" fmla="*/ 40 w 182"/>
                <a:gd name="T35" fmla="*/ 107 h 204"/>
                <a:gd name="T36" fmla="*/ 32 w 182"/>
                <a:gd name="T37" fmla="*/ 107 h 204"/>
                <a:gd name="T38" fmla="*/ 28 w 182"/>
                <a:gd name="T39" fmla="*/ 99 h 204"/>
                <a:gd name="T40" fmla="*/ 22 w 182"/>
                <a:gd name="T41" fmla="*/ 93 h 204"/>
                <a:gd name="T42" fmla="*/ 26 w 182"/>
                <a:gd name="T43" fmla="*/ 85 h 204"/>
                <a:gd name="T44" fmla="*/ 26 w 182"/>
                <a:gd name="T45" fmla="*/ 76 h 204"/>
                <a:gd name="T46" fmla="*/ 34 w 182"/>
                <a:gd name="T47" fmla="*/ 73 h 204"/>
                <a:gd name="T48" fmla="*/ 40 w 182"/>
                <a:gd name="T49" fmla="*/ 68 h 204"/>
                <a:gd name="T50" fmla="*/ 48 w 182"/>
                <a:gd name="T51" fmla="*/ 71 h 204"/>
                <a:gd name="T52" fmla="*/ 57 w 182"/>
                <a:gd name="T53" fmla="*/ 71 h 204"/>
                <a:gd name="T54" fmla="*/ 60 w 182"/>
                <a:gd name="T55" fmla="*/ 79 h 204"/>
                <a:gd name="T56" fmla="*/ 66 w 182"/>
                <a:gd name="T57" fmla="*/ 85 h 204"/>
                <a:gd name="T58" fmla="*/ 136 w 182"/>
                <a:gd name="T59" fmla="*/ 77 h 204"/>
                <a:gd name="T60" fmla="*/ 126 w 182"/>
                <a:gd name="T61" fmla="*/ 87 h 204"/>
                <a:gd name="T62" fmla="*/ 121 w 182"/>
                <a:gd name="T63" fmla="*/ 100 h 204"/>
                <a:gd name="T64" fmla="*/ 107 w 182"/>
                <a:gd name="T65" fmla="*/ 100 h 204"/>
                <a:gd name="T66" fmla="*/ 94 w 182"/>
                <a:gd name="T67" fmla="*/ 105 h 204"/>
                <a:gd name="T68" fmla="*/ 83 w 182"/>
                <a:gd name="T69" fmla="*/ 96 h 204"/>
                <a:gd name="T70" fmla="*/ 70 w 182"/>
                <a:gd name="T71" fmla="*/ 91 h 204"/>
                <a:gd name="T72" fmla="*/ 70 w 182"/>
                <a:gd name="T73" fmla="*/ 77 h 204"/>
                <a:gd name="T74" fmla="*/ 64 w 182"/>
                <a:gd name="T75" fmla="*/ 64 h 204"/>
                <a:gd name="T76" fmla="*/ 74 w 182"/>
                <a:gd name="T77" fmla="*/ 53 h 204"/>
                <a:gd name="T78" fmla="*/ 79 w 182"/>
                <a:gd name="T79" fmla="*/ 40 h 204"/>
                <a:gd name="T80" fmla="*/ 94 w 182"/>
                <a:gd name="T81" fmla="*/ 40 h 204"/>
                <a:gd name="T82" fmla="*/ 107 w 182"/>
                <a:gd name="T83" fmla="*/ 35 h 204"/>
                <a:gd name="T84" fmla="*/ 117 w 182"/>
                <a:gd name="T85" fmla="*/ 44 h 204"/>
                <a:gd name="T86" fmla="*/ 130 w 182"/>
                <a:gd name="T87" fmla="*/ 49 h 204"/>
                <a:gd name="T88" fmla="*/ 130 w 182"/>
                <a:gd name="T89" fmla="*/ 64 h 204"/>
                <a:gd name="T90" fmla="*/ 136 w 182"/>
                <a:gd name="T91" fmla="*/ 77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204">
                  <a:moveTo>
                    <a:pt x="170" y="111"/>
                  </a:moveTo>
                  <a:cubicBezTo>
                    <a:pt x="166" y="107"/>
                    <a:pt x="160" y="102"/>
                    <a:pt x="157" y="96"/>
                  </a:cubicBezTo>
                  <a:cubicBezTo>
                    <a:pt x="153" y="87"/>
                    <a:pt x="158" y="79"/>
                    <a:pt x="157" y="70"/>
                  </a:cubicBezTo>
                  <a:cubicBezTo>
                    <a:pt x="157" y="63"/>
                    <a:pt x="155" y="54"/>
                    <a:pt x="153" y="48"/>
                  </a:cubicBezTo>
                  <a:cubicBezTo>
                    <a:pt x="149" y="37"/>
                    <a:pt x="142" y="28"/>
                    <a:pt x="133" y="21"/>
                  </a:cubicBezTo>
                  <a:cubicBezTo>
                    <a:pt x="119" y="8"/>
                    <a:pt x="100" y="0"/>
                    <a:pt x="78" y="0"/>
                  </a:cubicBezTo>
                  <a:cubicBezTo>
                    <a:pt x="35" y="0"/>
                    <a:pt x="0" y="32"/>
                    <a:pt x="0" y="71"/>
                  </a:cubicBezTo>
                  <a:cubicBezTo>
                    <a:pt x="0" y="74"/>
                    <a:pt x="0" y="77"/>
                    <a:pt x="1" y="79"/>
                  </a:cubicBezTo>
                  <a:cubicBezTo>
                    <a:pt x="1" y="96"/>
                    <a:pt x="6" y="117"/>
                    <a:pt x="22" y="139"/>
                  </a:cubicBezTo>
                  <a:cubicBezTo>
                    <a:pt x="22" y="139"/>
                    <a:pt x="43" y="182"/>
                    <a:pt x="0" y="204"/>
                  </a:cubicBezTo>
                  <a:cubicBezTo>
                    <a:pt x="95" y="204"/>
                    <a:pt x="95" y="204"/>
                    <a:pt x="95" y="204"/>
                  </a:cubicBezTo>
                  <a:cubicBezTo>
                    <a:pt x="95" y="204"/>
                    <a:pt x="102" y="176"/>
                    <a:pt x="113" y="176"/>
                  </a:cubicBezTo>
                  <a:cubicBezTo>
                    <a:pt x="123" y="176"/>
                    <a:pt x="133" y="177"/>
                    <a:pt x="142" y="176"/>
                  </a:cubicBezTo>
                  <a:cubicBezTo>
                    <a:pt x="144" y="177"/>
                    <a:pt x="146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154" y="173"/>
                    <a:pt x="149" y="157"/>
                    <a:pt x="149" y="157"/>
                  </a:cubicBezTo>
                  <a:cubicBezTo>
                    <a:pt x="153" y="155"/>
                    <a:pt x="156" y="153"/>
                    <a:pt x="156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8"/>
                    <a:pt x="152" y="146"/>
                    <a:pt x="146" y="145"/>
                  </a:cubicBezTo>
                  <a:cubicBezTo>
                    <a:pt x="149" y="145"/>
                    <a:pt x="149" y="145"/>
                    <a:pt x="149" y="145"/>
                  </a:cubicBezTo>
                  <a:cubicBezTo>
                    <a:pt x="153" y="145"/>
                    <a:pt x="156" y="143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39"/>
                    <a:pt x="156" y="138"/>
                    <a:pt x="155" y="138"/>
                  </a:cubicBezTo>
                  <a:cubicBezTo>
                    <a:pt x="156" y="135"/>
                    <a:pt x="159" y="121"/>
                    <a:pt x="160" y="121"/>
                  </a:cubicBezTo>
                  <a:cubicBezTo>
                    <a:pt x="182" y="119"/>
                    <a:pt x="170" y="111"/>
                    <a:pt x="170" y="111"/>
                  </a:cubicBezTo>
                  <a:close/>
                  <a:moveTo>
                    <a:pt x="66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2" y="95"/>
                    <a:pt x="61" y="97"/>
                    <a:pt x="60" y="99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2" y="106"/>
                    <a:pt x="50" y="107"/>
                    <a:pt x="48" y="107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7"/>
                    <a:pt x="40" y="107"/>
                    <a:pt x="40" y="107"/>
                  </a:cubicBezTo>
                  <a:cubicBezTo>
                    <a:pt x="38" y="107"/>
                    <a:pt x="36" y="106"/>
                    <a:pt x="34" y="105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97"/>
                    <a:pt x="26" y="95"/>
                    <a:pt x="26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3"/>
                    <a:pt x="27" y="81"/>
                    <a:pt x="28" y="79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6" y="72"/>
                    <a:pt x="38" y="71"/>
                    <a:pt x="40" y="71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50" y="71"/>
                    <a:pt x="52" y="72"/>
                    <a:pt x="54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1" y="81"/>
                    <a:pt x="62" y="83"/>
                    <a:pt x="63" y="85"/>
                  </a:cubicBezTo>
                  <a:cubicBezTo>
                    <a:pt x="66" y="85"/>
                    <a:pt x="66" y="85"/>
                    <a:pt x="66" y="85"/>
                  </a:cubicBezTo>
                  <a:lnTo>
                    <a:pt x="66" y="93"/>
                  </a:lnTo>
                  <a:close/>
                  <a:moveTo>
                    <a:pt x="136" y="77"/>
                  </a:moveTo>
                  <a:cubicBezTo>
                    <a:pt x="130" y="77"/>
                    <a:pt x="130" y="77"/>
                    <a:pt x="130" y="77"/>
                  </a:cubicBezTo>
                  <a:cubicBezTo>
                    <a:pt x="129" y="80"/>
                    <a:pt x="128" y="84"/>
                    <a:pt x="126" y="87"/>
                  </a:cubicBezTo>
                  <a:cubicBezTo>
                    <a:pt x="130" y="91"/>
                    <a:pt x="130" y="91"/>
                    <a:pt x="130" y="91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17" y="96"/>
                    <a:pt x="117" y="96"/>
                    <a:pt x="117" y="96"/>
                  </a:cubicBezTo>
                  <a:cubicBezTo>
                    <a:pt x="114" y="98"/>
                    <a:pt x="110" y="99"/>
                    <a:pt x="107" y="100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0" y="100"/>
                    <a:pt x="86" y="98"/>
                    <a:pt x="83" y="9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72" y="84"/>
                    <a:pt x="71" y="81"/>
                    <a:pt x="70" y="77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70" y="60"/>
                    <a:pt x="72" y="56"/>
                    <a:pt x="74" y="53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6" y="42"/>
                    <a:pt x="90" y="41"/>
                    <a:pt x="94" y="4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10" y="41"/>
                    <a:pt x="114" y="42"/>
                    <a:pt x="117" y="44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6" y="53"/>
                    <a:pt x="126" y="53"/>
                    <a:pt x="126" y="53"/>
                  </a:cubicBezTo>
                  <a:cubicBezTo>
                    <a:pt x="128" y="57"/>
                    <a:pt x="130" y="60"/>
                    <a:pt x="130" y="64"/>
                  </a:cubicBezTo>
                  <a:cubicBezTo>
                    <a:pt x="136" y="64"/>
                    <a:pt x="136" y="64"/>
                    <a:pt x="136" y="64"/>
                  </a:cubicBezTo>
                  <a:lnTo>
                    <a:pt x="136" y="7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fontAlgn="auto"/>
              <a:endParaRPr altLang="en-US" lang="zh-CN" noProof="1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48875" name="文本框 52"/>
          <p:cNvSpPr txBox="1">
            <a:spLocks noChangeArrowheads="1"/>
          </p:cNvSpPr>
          <p:nvPr/>
        </p:nvSpPr>
        <p:spPr bwMode="auto">
          <a:xfrm>
            <a:off x="1712565" y="2059368"/>
            <a:ext cx="1403246" cy="2059940"/>
          </a:xfrm>
          <a:prstGeom prst="rect"/>
          <a:noFill/>
          <a:ln>
            <a:noFill/>
          </a:ln>
        </p:spPr>
        <p:txBody>
          <a:bodyPr wrap="square">
            <a:spAutoFit/>
          </a:bodyPr>
          <a:p>
            <a:r>
              <a:rPr altLang="zh-CN" b="1" dirty="0" sz="1600" lang="en-US">
                <a:solidFill>
                  <a:srgbClr val="344F66"/>
                </a:solidFill>
                <a:cs typeface="+mn-ea"/>
              </a:rPr>
              <a:t>1.</a:t>
            </a:r>
            <a:r>
              <a:rPr altLang="en-US" b="1" dirty="0" sz="1600" lang="zh-CN">
                <a:solidFill>
                  <a:srgbClr val="344F66"/>
                </a:solidFill>
                <a:cs typeface="+mn-ea"/>
              </a:rPr>
              <a:t>游戏整体架构设计</a:t>
            </a:r>
            <a:endParaRPr altLang="zh-CN" b="1" dirty="0" sz="1600" lang="en-US">
              <a:solidFill>
                <a:srgbClr val="344F66"/>
              </a:solidFill>
              <a:cs typeface="+mn-ea"/>
            </a:endParaRPr>
          </a:p>
          <a:p>
            <a:endParaRPr altLang="zh-CN" b="1" dirty="0" sz="1600" lang="en-US">
              <a:solidFill>
                <a:srgbClr val="344F66"/>
              </a:solidFill>
              <a:cs typeface="+mn-ea"/>
              <a:sym typeface="+mn-lt"/>
            </a:endParaRPr>
          </a:p>
          <a:p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负责项目架构搭建、脚本组织方式、资源文件管理与模块划分，建立清晰的游戏系统结构，为后续功能扩展提供良好基础</a:t>
            </a:r>
            <a:endParaRPr altLang="zh-CN" dirty="0" sz="1200" lang="en-US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876" name="文本框 53"/>
          <p:cNvSpPr txBox="1">
            <a:spLocks noChangeArrowheads="1"/>
          </p:cNvSpPr>
          <p:nvPr/>
        </p:nvSpPr>
        <p:spPr bwMode="auto">
          <a:xfrm>
            <a:off x="3454356" y="2053951"/>
            <a:ext cx="1472022" cy="2059941"/>
          </a:xfrm>
          <a:prstGeom prst="rect"/>
          <a:noFill/>
          <a:ln>
            <a:noFill/>
          </a:ln>
        </p:spPr>
        <p:txBody>
          <a:bodyPr wrap="square">
            <a:spAutoFit/>
          </a:bodyPr>
          <a:p>
            <a:r>
              <a:rPr altLang="zh-CN" b="1" dirty="0" sz="1600" lang="en-US">
                <a:solidFill>
                  <a:srgbClr val="344F66"/>
                </a:solidFill>
                <a:cs typeface="+mn-ea"/>
              </a:rPr>
              <a:t>2.</a:t>
            </a:r>
            <a:r>
              <a:rPr altLang="en-US" b="1" dirty="0" sz="1600" lang="zh-CN">
                <a:solidFill>
                  <a:srgbClr val="344F66"/>
                </a:solidFill>
                <a:cs typeface="+mn-ea"/>
              </a:rPr>
              <a:t>角色控制与动作系统</a:t>
            </a:r>
            <a:endParaRPr altLang="zh-CN" b="1" dirty="0" sz="1600" lang="en-US">
              <a:solidFill>
                <a:srgbClr val="344F66"/>
              </a:solidFill>
              <a:cs typeface="+mn-ea"/>
            </a:endParaRPr>
          </a:p>
          <a:p>
            <a:endParaRPr altLang="zh-CN" b="1" dirty="0" sz="1600" lang="en-US">
              <a:solidFill>
                <a:srgbClr val="344F66"/>
              </a:solidFill>
              <a:cs typeface="+mn-ea"/>
            </a:endParaRPr>
          </a:p>
          <a:p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实现角色移动、跳跃、冲刺、受击、技能释放等基础动作，通过状态机管理角色动作流转，保证操作流畅性与反馈及时性。</a:t>
            </a:r>
            <a:endParaRPr altLang="zh-CN" dirty="0" sz="1200" lang="en-US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877" name="文本框 54"/>
          <p:cNvSpPr txBox="1">
            <a:spLocks noChangeArrowheads="1"/>
          </p:cNvSpPr>
          <p:nvPr/>
        </p:nvSpPr>
        <p:spPr bwMode="auto">
          <a:xfrm>
            <a:off x="5175268" y="2063398"/>
            <a:ext cx="1510933" cy="2059941"/>
          </a:xfrm>
          <a:prstGeom prst="rect"/>
          <a:noFill/>
          <a:ln>
            <a:noFill/>
          </a:ln>
        </p:spPr>
        <p:txBody>
          <a:bodyPr wrap="square">
            <a:spAutoFit/>
          </a:bodyPr>
          <a:p>
            <a:r>
              <a:rPr altLang="zh-CN" b="1" dirty="0" sz="1600" lang="en-US">
                <a:solidFill>
                  <a:srgbClr val="344F66"/>
                </a:solidFill>
                <a:cs typeface="+mn-ea"/>
              </a:rPr>
              <a:t>3.</a:t>
            </a:r>
            <a:r>
              <a:rPr altLang="en-US" b="1" dirty="0" sz="1600" lang="zh-CN">
                <a:solidFill>
                  <a:srgbClr val="344F66"/>
                </a:solidFill>
                <a:cs typeface="+mn-ea"/>
              </a:rPr>
              <a:t>战斗系统构建</a:t>
            </a:r>
            <a:endParaRPr altLang="zh-CN" b="1" dirty="0" sz="1600" lang="en-US">
              <a:solidFill>
                <a:srgbClr val="344F66"/>
              </a:solidFill>
              <a:cs typeface="+mn-ea"/>
            </a:endParaRPr>
          </a:p>
          <a:p>
            <a:endParaRPr altLang="zh-CN" b="1" dirty="0" sz="1600" lang="en-US">
              <a:solidFill>
                <a:srgbClr val="344F66"/>
              </a:solidFill>
              <a:cs typeface="+mn-ea"/>
            </a:endParaRPr>
          </a:p>
          <a:p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包含攻击判定、伤害计算、受击反馈、武器与技能机制设计，支持普通攻击连段、近战攻击与远程技能等多类型战斗体验。</a:t>
            </a:r>
            <a:endParaRPr altLang="zh-CN" dirty="0" sz="1200" lang="en-US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878" name="文本框 55"/>
          <p:cNvSpPr txBox="1">
            <a:spLocks noChangeArrowheads="1"/>
          </p:cNvSpPr>
          <p:nvPr/>
        </p:nvSpPr>
        <p:spPr bwMode="auto">
          <a:xfrm>
            <a:off x="6864274" y="2063398"/>
            <a:ext cx="1420131" cy="2237741"/>
          </a:xfrm>
          <a:prstGeom prst="rect"/>
          <a:noFill/>
          <a:ln>
            <a:noFill/>
          </a:ln>
        </p:spPr>
        <p:txBody>
          <a:bodyPr wrap="square">
            <a:spAutoFit/>
          </a:bodyPr>
          <a:p>
            <a:r>
              <a:rPr altLang="zh-CN" b="1" dirty="0" sz="1600" lang="en-US">
                <a:solidFill>
                  <a:srgbClr val="344F66"/>
                </a:solidFill>
                <a:cs typeface="+mn-ea"/>
              </a:rPr>
              <a:t>4.</a:t>
            </a:r>
            <a:r>
              <a:rPr altLang="en-US" b="1" dirty="0" sz="1600" lang="zh-CN">
                <a:solidFill>
                  <a:srgbClr val="344F66"/>
                </a:solidFill>
                <a:cs typeface="+mn-ea"/>
              </a:rPr>
              <a:t>关卡设计与地图探索系统</a:t>
            </a:r>
            <a:endParaRPr altLang="zh-CN" b="1" dirty="0" sz="1600" lang="en-US">
              <a:solidFill>
                <a:srgbClr val="344F66"/>
              </a:solidFill>
              <a:cs typeface="+mn-ea"/>
            </a:endParaRPr>
          </a:p>
          <a:p>
            <a:endParaRPr altLang="zh-CN" b="1" dirty="0" sz="1600" lang="en-US">
              <a:solidFill>
                <a:srgbClr val="344F66"/>
              </a:solidFill>
              <a:cs typeface="+mn-ea"/>
              <a:sym typeface="+mn-lt"/>
            </a:endParaRPr>
          </a:p>
          <a:p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构建多层级场景关卡，设计可探索路径、隐藏区域、平台跳跃机制及地图解锁逻辑，体现银河恶魔城的“非线性探索</a:t>
            </a:r>
            <a:r>
              <a:rPr altLang="zh-CN" dirty="0" sz="1200" lang="en-US">
                <a:solidFill>
                  <a:srgbClr val="555555"/>
                </a:solidFill>
                <a:cs typeface="+mn-ea"/>
              </a:rPr>
              <a:t>+</a:t>
            </a:r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回溯式开图”特点。</a:t>
            </a:r>
            <a:endParaRPr altLang="zh-CN" dirty="0" sz="1200" lang="en-US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879" name="文本框 56"/>
          <p:cNvSpPr txBox="1">
            <a:spLocks noChangeArrowheads="1"/>
          </p:cNvSpPr>
          <p:nvPr/>
        </p:nvSpPr>
        <p:spPr bwMode="auto">
          <a:xfrm>
            <a:off x="8649062" y="2053950"/>
            <a:ext cx="1513922" cy="2059940"/>
          </a:xfrm>
          <a:prstGeom prst="rect"/>
          <a:noFill/>
          <a:ln>
            <a:noFill/>
          </a:ln>
        </p:spPr>
        <p:txBody>
          <a:bodyPr wrap="square">
            <a:spAutoFit/>
          </a:bodyPr>
          <a:p>
            <a:r>
              <a:rPr altLang="zh-CN" b="1" dirty="0" sz="1600" lang="en-US">
                <a:solidFill>
                  <a:srgbClr val="344F66"/>
                </a:solidFill>
                <a:cs typeface="+mn-ea"/>
              </a:rPr>
              <a:t>5.</a:t>
            </a:r>
            <a:r>
              <a:rPr altLang="en-US" b="1" dirty="0" sz="1600" lang="zh-CN">
                <a:solidFill>
                  <a:srgbClr val="344F66"/>
                </a:solidFill>
                <a:cs typeface="+mn-ea"/>
              </a:rPr>
              <a:t>成长与装备养成系统</a:t>
            </a:r>
            <a:endParaRPr altLang="zh-CN" b="1" dirty="0" sz="1600" lang="en-US">
              <a:solidFill>
                <a:srgbClr val="344F66"/>
              </a:solidFill>
              <a:cs typeface="+mn-ea"/>
            </a:endParaRPr>
          </a:p>
          <a:p>
            <a:endParaRPr altLang="zh-CN" b="1" dirty="0" sz="1600" lang="en-US">
              <a:solidFill>
                <a:srgbClr val="344F66"/>
              </a:solidFill>
              <a:cs typeface="+mn-ea"/>
            </a:endParaRPr>
          </a:p>
          <a:p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设计角色成长曲线、经验获取机制、技能树解锁、装备收集升级系统，引导玩家通过探索</a:t>
            </a:r>
            <a:r>
              <a:rPr altLang="zh-CN" dirty="0" sz="1200" lang="en-US">
                <a:solidFill>
                  <a:srgbClr val="555555"/>
                </a:solidFill>
                <a:cs typeface="+mn-ea"/>
              </a:rPr>
              <a:t>—</a:t>
            </a:r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战斗</a:t>
            </a:r>
            <a:r>
              <a:rPr altLang="zh-CN" dirty="0" sz="1200" lang="en-US">
                <a:solidFill>
                  <a:srgbClr val="555555"/>
                </a:solidFill>
                <a:cs typeface="+mn-ea"/>
              </a:rPr>
              <a:t>—</a:t>
            </a:r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成长形成循环提升体验。</a:t>
            </a:r>
            <a:endParaRPr altLang="zh-CN" dirty="0" sz="1200" lang="en-US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880" name="TextBox 42"/>
          <p:cNvSpPr txBox="1"/>
          <p:nvPr/>
        </p:nvSpPr>
        <p:spPr>
          <a:xfrm>
            <a:off x="1311470" y="315858"/>
            <a:ext cx="3649369" cy="430887"/>
          </a:xfrm>
          <a:prstGeom prst="rect"/>
          <a:noFill/>
          <a:ln>
            <a:noFill/>
          </a:ln>
        </p:spPr>
        <p:txBody>
          <a:bodyPr anchor="t" anchorCtr="0" bIns="0" compatLnSpc="1" lIns="0" numCol="1" rIns="0" tIns="0" vert="horz" wrap="square">
            <a:spAutoFit/>
          </a:bodyPr>
          <a:lstStyle>
            <a:defPPr>
              <a:defRPr lang="zh-CN"/>
            </a:defPPr>
            <a:lvl1pPr defTabSz="914400" eaLnBrk="1" hangingPunct="1" indent="0" latinLnBrk="0" lvl="0" marL="0" marR="0">
              <a:lnSpc>
                <a:spcPct val="100000"/>
              </a:lnSpc>
              <a:buClrTx/>
              <a:buSzTx/>
              <a:buFontTx/>
              <a:buNone/>
              <a:defRPr baseline="0" b="1" cap="none" sz="2800" i="0" kumimoji="0" normalizeH="0" strike="noStrike" u="none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3.2 </a:t>
            </a:r>
            <a:r>
              <a:rPr altLang="en-US" b="0" dirty="0" lang="zh-CN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研究内容</a:t>
            </a:r>
          </a:p>
        </p:txBody>
      </p:sp>
      <p:pic>
        <p:nvPicPr>
          <p:cNvPr id="2097192" name="图片 4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">
                            <p:stCondLst>
                              <p:cond delay="500"/>
                            </p:stCondLst>
                            <p:childTnLst>
                              <p:par>
                                <p:cTn fill="hold" id="12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4"/>
                                        <p:tgtEl>
                                          <p:spTgt spid="314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5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6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48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0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48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3"/>
                                        <p:tgtEl>
                                          <p:spTgt spid="1048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4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7"/>
                                        <p:tgtEl>
                                          <p:spTgt spid="1048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8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32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4"/>
                                        <p:tgtEl>
                                          <p:spTgt spid="1048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5"/>
                                        <p:tgtEl>
                                          <p:spTgt spid="1048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6">
                            <p:stCondLst>
                              <p:cond delay="1500"/>
                            </p:stCondLst>
                            <p:childTnLst>
                              <p:par>
                                <p:cTn fill="hold" id="37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39"/>
                                        <p:tgtEl>
                                          <p:spTgt spid="314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0" nodeType="with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42"/>
                                        <p:tgtEl>
                                          <p:spTgt spid="314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3" nodeType="with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45"/>
                                        <p:tgtEl>
                                          <p:spTgt spid="314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6" nodeType="with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48"/>
                                        <p:tgtEl>
                                          <p:spTgt spid="314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51"/>
                                        <p:tgtEl>
                                          <p:spTgt spid="314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2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53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5"/>
                                        <p:tgtEl>
                                          <p:spTgt spid="1048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57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9"/>
                                        <p:tgtEl>
                                          <p:spTgt spid="1048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0"/>
                                        <p:tgtEl>
                                          <p:spTgt spid="1048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61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3"/>
                                        <p:tgtEl>
                                          <p:spTgt spid="1048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4"/>
                                        <p:tgtEl>
                                          <p:spTgt spid="1048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65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7"/>
                                        <p:tgtEl>
                                          <p:spTgt spid="1048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8"/>
                                        <p:tgtEl>
                                          <p:spTgt spid="1048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69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1"/>
                                        <p:tgtEl>
                                          <p:spTgt spid="1048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2"/>
                                        <p:tgtEl>
                                          <p:spTgt spid="1048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73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5"/>
                                        <p:tgtEl>
                                          <p:spTgt spid="1048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6"/>
                                        <p:tgtEl>
                                          <p:spTgt spid="1048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77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9"/>
                                        <p:tgtEl>
                                          <p:spTgt spid="1048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0"/>
                                        <p:tgtEl>
                                          <p:spTgt spid="1048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81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3"/>
                                        <p:tgtEl>
                                          <p:spTgt spid="1048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4"/>
                                        <p:tgtEl>
                                          <p:spTgt spid="1048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85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7"/>
                                        <p:tgtEl>
                                          <p:spTgt spid="1048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8"/>
                                        <p:tgtEl>
                                          <p:spTgt spid="1048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89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91"/>
                                        <p:tgtEl>
                                          <p:spTgt spid="1048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2"/>
                                        <p:tgtEl>
                                          <p:spTgt spid="1048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3">
                            <p:stCondLst>
                              <p:cond delay="2500"/>
                            </p:stCondLst>
                            <p:childTnLst>
                              <p:par>
                                <p:cTn fill="hold" id="94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96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7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8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01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2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04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05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6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08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09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0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2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13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4">
                            <p:stCondLst>
                              <p:cond delay="3000"/>
                            </p:stCondLst>
                            <p:childTnLst>
                              <p:par>
                                <p:cTn fill="hold" grpId="0" id="115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17"/>
                                        <p:tgtEl>
                                          <p:spTgt spid="104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18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20"/>
                                        <p:tgtEl>
                                          <p:spTgt spid="104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21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23"/>
                                        <p:tgtEl>
                                          <p:spTgt spid="104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24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26"/>
                                        <p:tgtEl>
                                          <p:spTgt spid="10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27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29"/>
                                        <p:tgtEl>
                                          <p:spTgt spid="104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45" grpId="0" animBg="1"/>
      <p:bldP spid="1048846" grpId="0" animBg="1"/>
      <p:bldP spid="1048847" grpId="0" animBg="1"/>
      <p:bldP spid="1048848" grpId="0" animBg="1"/>
      <p:bldP spid="1048849" grpId="0" animBg="1"/>
      <p:bldP spid="1048850" grpId="0" animBg="1"/>
      <p:bldP spid="1048851" grpId="0" animBg="1"/>
      <p:bldP spid="1048852" grpId="0" animBg="1"/>
      <p:bldP spid="1048853" grpId="0" animBg="1"/>
      <p:bldP spid="1048854" grpId="0" animBg="1"/>
      <p:bldP spid="1048855" grpId="0"/>
      <p:bldP spid="1048856" grpId="0"/>
      <p:bldP spid="1048857" grpId="0"/>
      <p:bldP spid="1048858" grpId="0"/>
      <p:bldP spid="1048859" grpId="0"/>
      <p:bldP spid="1048875" grpId="0"/>
      <p:bldP spid="1048876" grpId="0"/>
      <p:bldP spid="1048877" grpId="0"/>
      <p:bldP spid="1048878" grpId="0"/>
      <p:bldP spid="1048879" grpId="0"/>
      <p:bldP spid="10488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1" name="Freeform 5"/>
          <p:cNvSpPr/>
          <p:nvPr/>
        </p:nvSpPr>
        <p:spPr bwMode="auto">
          <a:xfrm>
            <a:off x="3479800" y="1716088"/>
            <a:ext cx="2571750" cy="4121150"/>
          </a:xfrm>
          <a:custGeom>
            <a:avLst/>
            <a:gdLst>
              <a:gd name="T0" fmla="*/ 102118 w 3148"/>
              <a:gd name="T1" fmla="*/ 0 h 5005"/>
              <a:gd name="T2" fmla="*/ 2469632 w 3148"/>
              <a:gd name="T3" fmla="*/ 0 h 5005"/>
              <a:gd name="T4" fmla="*/ 2571750 w 3148"/>
              <a:gd name="T5" fmla="*/ 102926 h 5005"/>
              <a:gd name="T6" fmla="*/ 2571750 w 3148"/>
              <a:gd name="T7" fmla="*/ 4018224 h 5005"/>
              <a:gd name="T8" fmla="*/ 2469632 w 3148"/>
              <a:gd name="T9" fmla="*/ 4121150 h 5005"/>
              <a:gd name="T10" fmla="*/ 102118 w 3148"/>
              <a:gd name="T11" fmla="*/ 4121150 h 5005"/>
              <a:gd name="T12" fmla="*/ 0 w 3148"/>
              <a:gd name="T13" fmla="*/ 4018224 h 5005"/>
              <a:gd name="T14" fmla="*/ 0 w 3148"/>
              <a:gd name="T15" fmla="*/ 102926 h 5005"/>
              <a:gd name="T16" fmla="*/ 102118 w 3148"/>
              <a:gd name="T17" fmla="*/ 0 h 500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48" h="5005">
                <a:moveTo>
                  <a:pt x="125" y="0"/>
                </a:moveTo>
                <a:lnTo>
                  <a:pt x="3023" y="0"/>
                </a:lnTo>
                <a:cubicBezTo>
                  <a:pt x="3092" y="0"/>
                  <a:pt x="3148" y="56"/>
                  <a:pt x="3148" y="125"/>
                </a:cubicBezTo>
                <a:lnTo>
                  <a:pt x="3148" y="4880"/>
                </a:lnTo>
                <a:cubicBezTo>
                  <a:pt x="3148" y="4949"/>
                  <a:pt x="3092" y="5005"/>
                  <a:pt x="3023" y="5005"/>
                </a:cubicBezTo>
                <a:lnTo>
                  <a:pt x="125" y="5005"/>
                </a:lnTo>
                <a:cubicBezTo>
                  <a:pt x="56" y="5005"/>
                  <a:pt x="0" y="4949"/>
                  <a:pt x="0" y="4880"/>
                </a:cubicBezTo>
                <a:lnTo>
                  <a:pt x="0" y="125"/>
                </a:lnTo>
                <a:cubicBezTo>
                  <a:pt x="0" y="56"/>
                  <a:pt x="56" y="0"/>
                  <a:pt x="125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0" cap="flat" cmpd="sng">
            <a:solidFill>
              <a:srgbClr val="D9D9D9"/>
            </a:solidFill>
            <a:round/>
            <a:headEnd/>
            <a:tailEnd/>
          </a:ln>
        </p:spPr>
        <p:txBody>
          <a:bodyPr/>
          <a:p>
            <a:endParaRPr altLang="en-US" lang="zh-CN">
              <a:cs typeface="+mn-ea"/>
              <a:sym typeface="+mn-lt"/>
            </a:endParaRPr>
          </a:p>
        </p:txBody>
      </p:sp>
      <p:sp>
        <p:nvSpPr>
          <p:cNvPr id="1048882" name="Freeform 6"/>
          <p:cNvSpPr/>
          <p:nvPr/>
        </p:nvSpPr>
        <p:spPr bwMode="auto">
          <a:xfrm>
            <a:off x="633413" y="1716088"/>
            <a:ext cx="2573337" cy="4121150"/>
          </a:xfrm>
          <a:custGeom>
            <a:avLst/>
            <a:gdLst>
              <a:gd name="T0" fmla="*/ 102149 w 3149"/>
              <a:gd name="T1" fmla="*/ 0 h 5005"/>
              <a:gd name="T2" fmla="*/ 2471188 w 3149"/>
              <a:gd name="T3" fmla="*/ 0 h 5005"/>
              <a:gd name="T4" fmla="*/ 2573337 w 3149"/>
              <a:gd name="T5" fmla="*/ 102926 h 5005"/>
              <a:gd name="T6" fmla="*/ 2573337 w 3149"/>
              <a:gd name="T7" fmla="*/ 4018224 h 5005"/>
              <a:gd name="T8" fmla="*/ 2471188 w 3149"/>
              <a:gd name="T9" fmla="*/ 4121150 h 5005"/>
              <a:gd name="T10" fmla="*/ 102149 w 3149"/>
              <a:gd name="T11" fmla="*/ 4121150 h 5005"/>
              <a:gd name="T12" fmla="*/ 0 w 3149"/>
              <a:gd name="T13" fmla="*/ 4018224 h 5005"/>
              <a:gd name="T14" fmla="*/ 0 w 3149"/>
              <a:gd name="T15" fmla="*/ 102926 h 5005"/>
              <a:gd name="T16" fmla="*/ 102149 w 3149"/>
              <a:gd name="T17" fmla="*/ 0 h 500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49" h="5005">
                <a:moveTo>
                  <a:pt x="125" y="0"/>
                </a:moveTo>
                <a:lnTo>
                  <a:pt x="3024" y="0"/>
                </a:lnTo>
                <a:cubicBezTo>
                  <a:pt x="3092" y="0"/>
                  <a:pt x="3149" y="56"/>
                  <a:pt x="3149" y="125"/>
                </a:cubicBezTo>
                <a:lnTo>
                  <a:pt x="3149" y="4880"/>
                </a:lnTo>
                <a:cubicBezTo>
                  <a:pt x="3149" y="4949"/>
                  <a:pt x="3092" y="5005"/>
                  <a:pt x="3024" y="5005"/>
                </a:cubicBezTo>
                <a:lnTo>
                  <a:pt x="125" y="5005"/>
                </a:lnTo>
                <a:cubicBezTo>
                  <a:pt x="56" y="5005"/>
                  <a:pt x="0" y="4949"/>
                  <a:pt x="0" y="4880"/>
                </a:cubicBezTo>
                <a:lnTo>
                  <a:pt x="0" y="125"/>
                </a:lnTo>
                <a:cubicBezTo>
                  <a:pt x="0" y="56"/>
                  <a:pt x="56" y="0"/>
                  <a:pt x="125" y="0"/>
                </a:cubicBezTo>
                <a:close/>
              </a:path>
            </a:pathLst>
          </a:custGeom>
          <a:solidFill>
            <a:srgbClr val="344F66"/>
          </a:solidFill>
          <a:ln w="10" cap="flat" cmpd="sng">
            <a:solidFill>
              <a:srgbClr val="D9D9D9"/>
            </a:solidFill>
            <a:round/>
            <a:headEnd/>
            <a:tailEnd/>
          </a:ln>
        </p:spPr>
        <p:txBody>
          <a:bodyPr/>
          <a:p>
            <a:endParaRPr altLang="en-US" lang="zh-CN">
              <a:cs typeface="+mn-ea"/>
              <a:sym typeface="+mn-lt"/>
            </a:endParaRPr>
          </a:p>
        </p:txBody>
      </p:sp>
      <p:sp>
        <p:nvSpPr>
          <p:cNvPr id="1048883" name="Freeform 7"/>
          <p:cNvSpPr/>
          <p:nvPr/>
        </p:nvSpPr>
        <p:spPr bwMode="auto">
          <a:xfrm>
            <a:off x="9170988" y="1716088"/>
            <a:ext cx="2571750" cy="4121150"/>
          </a:xfrm>
          <a:custGeom>
            <a:avLst/>
            <a:gdLst>
              <a:gd name="T0" fmla="*/ 102118 w 3148"/>
              <a:gd name="T1" fmla="*/ 0 h 5005"/>
              <a:gd name="T2" fmla="*/ 2469632 w 3148"/>
              <a:gd name="T3" fmla="*/ 0 h 5005"/>
              <a:gd name="T4" fmla="*/ 2571750 w 3148"/>
              <a:gd name="T5" fmla="*/ 102926 h 5005"/>
              <a:gd name="T6" fmla="*/ 2571750 w 3148"/>
              <a:gd name="T7" fmla="*/ 4018224 h 5005"/>
              <a:gd name="T8" fmla="*/ 2469632 w 3148"/>
              <a:gd name="T9" fmla="*/ 4121150 h 5005"/>
              <a:gd name="T10" fmla="*/ 102118 w 3148"/>
              <a:gd name="T11" fmla="*/ 4121150 h 5005"/>
              <a:gd name="T12" fmla="*/ 0 w 3148"/>
              <a:gd name="T13" fmla="*/ 4018224 h 5005"/>
              <a:gd name="T14" fmla="*/ 0 w 3148"/>
              <a:gd name="T15" fmla="*/ 102926 h 5005"/>
              <a:gd name="T16" fmla="*/ 102118 w 3148"/>
              <a:gd name="T17" fmla="*/ 0 h 500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48" h="5005">
                <a:moveTo>
                  <a:pt x="125" y="0"/>
                </a:moveTo>
                <a:lnTo>
                  <a:pt x="3023" y="0"/>
                </a:lnTo>
                <a:cubicBezTo>
                  <a:pt x="3092" y="0"/>
                  <a:pt x="3148" y="56"/>
                  <a:pt x="3148" y="125"/>
                </a:cubicBezTo>
                <a:lnTo>
                  <a:pt x="3148" y="4880"/>
                </a:lnTo>
                <a:cubicBezTo>
                  <a:pt x="3148" y="4949"/>
                  <a:pt x="3092" y="5005"/>
                  <a:pt x="3023" y="5005"/>
                </a:cubicBezTo>
                <a:lnTo>
                  <a:pt x="125" y="5005"/>
                </a:lnTo>
                <a:cubicBezTo>
                  <a:pt x="56" y="5005"/>
                  <a:pt x="0" y="4949"/>
                  <a:pt x="0" y="4880"/>
                </a:cubicBezTo>
                <a:lnTo>
                  <a:pt x="0" y="125"/>
                </a:lnTo>
                <a:cubicBezTo>
                  <a:pt x="0" y="56"/>
                  <a:pt x="56" y="0"/>
                  <a:pt x="125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0" cap="flat" cmpd="sng">
            <a:solidFill>
              <a:srgbClr val="D9D9D9"/>
            </a:solidFill>
            <a:round/>
            <a:headEnd/>
            <a:tailEnd/>
          </a:ln>
        </p:spPr>
        <p:txBody>
          <a:bodyPr/>
          <a:p>
            <a:endParaRPr altLang="en-US" lang="zh-CN">
              <a:cs typeface="+mn-ea"/>
              <a:sym typeface="+mn-lt"/>
            </a:endParaRPr>
          </a:p>
        </p:txBody>
      </p:sp>
      <p:sp>
        <p:nvSpPr>
          <p:cNvPr id="1048884" name="Freeform 8"/>
          <p:cNvSpPr/>
          <p:nvPr/>
        </p:nvSpPr>
        <p:spPr bwMode="auto">
          <a:xfrm>
            <a:off x="6326188" y="1716088"/>
            <a:ext cx="2570162" cy="4121150"/>
          </a:xfrm>
          <a:custGeom>
            <a:avLst/>
            <a:gdLst>
              <a:gd name="T0" fmla="*/ 102055 w 3148"/>
              <a:gd name="T1" fmla="*/ 0 h 5005"/>
              <a:gd name="T2" fmla="*/ 2468107 w 3148"/>
              <a:gd name="T3" fmla="*/ 0 h 5005"/>
              <a:gd name="T4" fmla="*/ 2570162 w 3148"/>
              <a:gd name="T5" fmla="*/ 102926 h 5005"/>
              <a:gd name="T6" fmla="*/ 2570162 w 3148"/>
              <a:gd name="T7" fmla="*/ 4018224 h 5005"/>
              <a:gd name="T8" fmla="*/ 2468107 w 3148"/>
              <a:gd name="T9" fmla="*/ 4121150 h 5005"/>
              <a:gd name="T10" fmla="*/ 102055 w 3148"/>
              <a:gd name="T11" fmla="*/ 4121150 h 5005"/>
              <a:gd name="T12" fmla="*/ 0 w 3148"/>
              <a:gd name="T13" fmla="*/ 4018224 h 5005"/>
              <a:gd name="T14" fmla="*/ 0 w 3148"/>
              <a:gd name="T15" fmla="*/ 102926 h 5005"/>
              <a:gd name="T16" fmla="*/ 102055 w 3148"/>
              <a:gd name="T17" fmla="*/ 0 h 500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48" h="5005">
                <a:moveTo>
                  <a:pt x="125" y="0"/>
                </a:moveTo>
                <a:lnTo>
                  <a:pt x="3023" y="0"/>
                </a:lnTo>
                <a:cubicBezTo>
                  <a:pt x="3092" y="0"/>
                  <a:pt x="3148" y="56"/>
                  <a:pt x="3148" y="125"/>
                </a:cubicBezTo>
                <a:lnTo>
                  <a:pt x="3148" y="4880"/>
                </a:lnTo>
                <a:cubicBezTo>
                  <a:pt x="3148" y="4949"/>
                  <a:pt x="3092" y="5005"/>
                  <a:pt x="3023" y="5005"/>
                </a:cubicBezTo>
                <a:lnTo>
                  <a:pt x="125" y="5005"/>
                </a:lnTo>
                <a:cubicBezTo>
                  <a:pt x="56" y="5005"/>
                  <a:pt x="0" y="4949"/>
                  <a:pt x="0" y="4880"/>
                </a:cubicBezTo>
                <a:lnTo>
                  <a:pt x="0" y="125"/>
                </a:lnTo>
                <a:cubicBezTo>
                  <a:pt x="0" y="56"/>
                  <a:pt x="56" y="0"/>
                  <a:pt x="125" y="0"/>
                </a:cubicBezTo>
                <a:close/>
              </a:path>
            </a:pathLst>
          </a:custGeom>
          <a:solidFill>
            <a:srgbClr val="344F66"/>
          </a:solidFill>
          <a:ln w="10" cap="flat" cmpd="sng">
            <a:solidFill>
              <a:srgbClr val="D9D9D9"/>
            </a:solidFill>
            <a:round/>
            <a:headEnd/>
            <a:tailEnd/>
          </a:ln>
        </p:spPr>
        <p:txBody>
          <a:bodyPr/>
          <a:p>
            <a:endParaRPr altLang="en-US" lang="zh-CN">
              <a:cs typeface="+mn-ea"/>
              <a:sym typeface="+mn-lt"/>
            </a:endParaRPr>
          </a:p>
        </p:txBody>
      </p:sp>
      <p:grpSp>
        <p:nvGrpSpPr>
          <p:cNvPr id="121" name="组合 11"/>
          <p:cNvGrpSpPr/>
          <p:nvPr/>
        </p:nvGrpSpPr>
        <p:grpSpPr bwMode="auto">
          <a:xfrm>
            <a:off x="3041650" y="3325813"/>
            <a:ext cx="631825" cy="638175"/>
            <a:chOff x="0" y="0"/>
            <a:chExt cx="631825" cy="636588"/>
          </a:xfrm>
        </p:grpSpPr>
        <p:sp>
          <p:nvSpPr>
            <p:cNvPr id="1048885" name="Oval 9"/>
            <p:cNvSpPr>
              <a:spLocks noChangeArrowheads="1"/>
            </p:cNvSpPr>
            <p:nvPr/>
          </p:nvSpPr>
          <p:spPr bwMode="auto">
            <a:xfrm>
              <a:off x="0" y="0"/>
              <a:ext cx="631825" cy="636588"/>
            </a:xfrm>
            <a:prstGeom prst="ellipse"/>
            <a:solidFill>
              <a:srgbClr val="344F66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altLang="en-US" sz="18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886" name="Freeform 10"/>
            <p:cNvSpPr/>
            <p:nvPr/>
          </p:nvSpPr>
          <p:spPr bwMode="auto">
            <a:xfrm>
              <a:off x="336550" y="142875"/>
              <a:ext cx="206375" cy="342900"/>
            </a:xfrm>
            <a:custGeom>
              <a:avLst/>
              <a:gdLst>
                <a:gd name="T0" fmla="*/ 176893 w 252"/>
                <a:gd name="T1" fmla="*/ 206724 h 418"/>
                <a:gd name="T2" fmla="*/ 111377 w 252"/>
                <a:gd name="T3" fmla="*/ 263328 h 418"/>
                <a:gd name="T4" fmla="*/ 47499 w 252"/>
                <a:gd name="T5" fmla="*/ 318290 h 418"/>
                <a:gd name="T6" fmla="*/ 0 w 252"/>
                <a:gd name="T7" fmla="*/ 287117 h 418"/>
                <a:gd name="T8" fmla="*/ 27844 w 252"/>
                <a:gd name="T9" fmla="*/ 263328 h 418"/>
                <a:gd name="T10" fmla="*/ 94179 w 252"/>
                <a:gd name="T11" fmla="*/ 206724 h 418"/>
                <a:gd name="T12" fmla="*/ 91722 w 252"/>
                <a:gd name="T13" fmla="*/ 126332 h 418"/>
                <a:gd name="T14" fmla="*/ 27844 w 252"/>
                <a:gd name="T15" fmla="*/ 72189 h 418"/>
                <a:gd name="T16" fmla="*/ 0 w 252"/>
                <a:gd name="T17" fmla="*/ 47579 h 418"/>
                <a:gd name="T18" fmla="*/ 45042 w 252"/>
                <a:gd name="T19" fmla="*/ 15586 h 418"/>
                <a:gd name="T20" fmla="*/ 111377 w 252"/>
                <a:gd name="T21" fmla="*/ 72189 h 418"/>
                <a:gd name="T22" fmla="*/ 174436 w 252"/>
                <a:gd name="T23" fmla="*/ 126332 h 418"/>
                <a:gd name="T24" fmla="*/ 176893 w 252"/>
                <a:gd name="T25" fmla="*/ 206724 h 4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2" h="418">
                  <a:moveTo>
                    <a:pt x="216" y="252"/>
                  </a:moveTo>
                  <a:lnTo>
                    <a:pt x="136" y="321"/>
                  </a:lnTo>
                  <a:cubicBezTo>
                    <a:pt x="110" y="343"/>
                    <a:pt x="84" y="365"/>
                    <a:pt x="58" y="388"/>
                  </a:cubicBezTo>
                  <a:cubicBezTo>
                    <a:pt x="21" y="418"/>
                    <a:pt x="5" y="397"/>
                    <a:pt x="0" y="350"/>
                  </a:cubicBezTo>
                  <a:lnTo>
                    <a:pt x="34" y="321"/>
                  </a:lnTo>
                  <a:lnTo>
                    <a:pt x="115" y="252"/>
                  </a:lnTo>
                  <a:cubicBezTo>
                    <a:pt x="143" y="221"/>
                    <a:pt x="150" y="189"/>
                    <a:pt x="112" y="154"/>
                  </a:cubicBezTo>
                  <a:cubicBezTo>
                    <a:pt x="86" y="132"/>
                    <a:pt x="60" y="110"/>
                    <a:pt x="34" y="88"/>
                  </a:cubicBezTo>
                  <a:lnTo>
                    <a:pt x="0" y="58"/>
                  </a:lnTo>
                  <a:cubicBezTo>
                    <a:pt x="4" y="4"/>
                    <a:pt x="25" y="0"/>
                    <a:pt x="55" y="19"/>
                  </a:cubicBezTo>
                  <a:lnTo>
                    <a:pt x="136" y="88"/>
                  </a:lnTo>
                  <a:cubicBezTo>
                    <a:pt x="162" y="110"/>
                    <a:pt x="188" y="132"/>
                    <a:pt x="213" y="154"/>
                  </a:cubicBezTo>
                  <a:cubicBezTo>
                    <a:pt x="252" y="189"/>
                    <a:pt x="244" y="221"/>
                    <a:pt x="216" y="25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p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887" name="Freeform 11"/>
            <p:cNvSpPr/>
            <p:nvPr/>
          </p:nvSpPr>
          <p:spPr bwMode="auto">
            <a:xfrm>
              <a:off x="141287" y="142875"/>
              <a:ext cx="206375" cy="342900"/>
            </a:xfrm>
            <a:custGeom>
              <a:avLst/>
              <a:gdLst>
                <a:gd name="T0" fmla="*/ 177712 w 252"/>
                <a:gd name="T1" fmla="*/ 206724 h 418"/>
                <a:gd name="T2" fmla="*/ 111377 w 252"/>
                <a:gd name="T3" fmla="*/ 263328 h 418"/>
                <a:gd name="T4" fmla="*/ 48318 w 252"/>
                <a:gd name="T5" fmla="*/ 318290 h 418"/>
                <a:gd name="T6" fmla="*/ 0 w 252"/>
                <a:gd name="T7" fmla="*/ 287117 h 418"/>
                <a:gd name="T8" fmla="*/ 28663 w 252"/>
                <a:gd name="T9" fmla="*/ 263328 h 418"/>
                <a:gd name="T10" fmla="*/ 94179 w 252"/>
                <a:gd name="T11" fmla="*/ 206724 h 418"/>
                <a:gd name="T12" fmla="*/ 91722 w 252"/>
                <a:gd name="T13" fmla="*/ 126332 h 418"/>
                <a:gd name="T14" fmla="*/ 28663 w 252"/>
                <a:gd name="T15" fmla="*/ 72189 h 418"/>
                <a:gd name="T16" fmla="*/ 0 w 252"/>
                <a:gd name="T17" fmla="*/ 47579 h 418"/>
                <a:gd name="T18" fmla="*/ 45861 w 252"/>
                <a:gd name="T19" fmla="*/ 15586 h 418"/>
                <a:gd name="T20" fmla="*/ 111377 w 252"/>
                <a:gd name="T21" fmla="*/ 72189 h 418"/>
                <a:gd name="T22" fmla="*/ 175255 w 252"/>
                <a:gd name="T23" fmla="*/ 126332 h 418"/>
                <a:gd name="T24" fmla="*/ 177712 w 252"/>
                <a:gd name="T25" fmla="*/ 206724 h 4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2" h="418">
                  <a:moveTo>
                    <a:pt x="217" y="252"/>
                  </a:moveTo>
                  <a:lnTo>
                    <a:pt x="136" y="321"/>
                  </a:lnTo>
                  <a:cubicBezTo>
                    <a:pt x="110" y="343"/>
                    <a:pt x="84" y="365"/>
                    <a:pt x="59" y="388"/>
                  </a:cubicBezTo>
                  <a:cubicBezTo>
                    <a:pt x="21" y="418"/>
                    <a:pt x="6" y="397"/>
                    <a:pt x="0" y="350"/>
                  </a:cubicBezTo>
                  <a:lnTo>
                    <a:pt x="35" y="321"/>
                  </a:lnTo>
                  <a:lnTo>
                    <a:pt x="115" y="252"/>
                  </a:lnTo>
                  <a:cubicBezTo>
                    <a:pt x="143" y="221"/>
                    <a:pt x="150" y="189"/>
                    <a:pt x="112" y="154"/>
                  </a:cubicBezTo>
                  <a:cubicBezTo>
                    <a:pt x="86" y="132"/>
                    <a:pt x="60" y="110"/>
                    <a:pt x="35" y="88"/>
                  </a:cubicBezTo>
                  <a:lnTo>
                    <a:pt x="0" y="58"/>
                  </a:lnTo>
                  <a:cubicBezTo>
                    <a:pt x="4" y="4"/>
                    <a:pt x="26" y="0"/>
                    <a:pt x="56" y="19"/>
                  </a:cubicBezTo>
                  <a:lnTo>
                    <a:pt x="136" y="88"/>
                  </a:lnTo>
                  <a:cubicBezTo>
                    <a:pt x="162" y="110"/>
                    <a:pt x="188" y="132"/>
                    <a:pt x="214" y="154"/>
                  </a:cubicBezTo>
                  <a:cubicBezTo>
                    <a:pt x="252" y="189"/>
                    <a:pt x="245" y="221"/>
                    <a:pt x="217" y="25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p>
              <a:endParaRPr altLang="en-US" lang="zh-CN">
                <a:cs typeface="+mn-ea"/>
                <a:sym typeface="+mn-lt"/>
              </a:endParaRPr>
            </a:p>
          </p:txBody>
        </p:sp>
      </p:grpSp>
      <p:grpSp>
        <p:nvGrpSpPr>
          <p:cNvPr id="122" name="组合 15"/>
          <p:cNvGrpSpPr/>
          <p:nvPr/>
        </p:nvGrpSpPr>
        <p:grpSpPr bwMode="auto">
          <a:xfrm>
            <a:off x="5867400" y="3325813"/>
            <a:ext cx="633413" cy="638175"/>
            <a:chOff x="0" y="0"/>
            <a:chExt cx="633413" cy="636588"/>
          </a:xfrm>
        </p:grpSpPr>
        <p:sp>
          <p:nvSpPr>
            <p:cNvPr id="1048888" name="Oval 12"/>
            <p:cNvSpPr>
              <a:spLocks noChangeArrowheads="1"/>
            </p:cNvSpPr>
            <p:nvPr/>
          </p:nvSpPr>
          <p:spPr bwMode="auto">
            <a:xfrm>
              <a:off x="0" y="0"/>
              <a:ext cx="633413" cy="636588"/>
            </a:xfrm>
            <a:prstGeom prst="ellipse"/>
            <a:solidFill>
              <a:srgbClr val="344F66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altLang="en-US" sz="18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889" name="Freeform 13"/>
            <p:cNvSpPr/>
            <p:nvPr/>
          </p:nvSpPr>
          <p:spPr bwMode="auto">
            <a:xfrm>
              <a:off x="338138" y="142875"/>
              <a:ext cx="206375" cy="342900"/>
            </a:xfrm>
            <a:custGeom>
              <a:avLst/>
              <a:gdLst>
                <a:gd name="T0" fmla="*/ 177712 w 252"/>
                <a:gd name="T1" fmla="*/ 206724 h 418"/>
                <a:gd name="T2" fmla="*/ 111377 w 252"/>
                <a:gd name="T3" fmla="*/ 263328 h 418"/>
                <a:gd name="T4" fmla="*/ 48318 w 252"/>
                <a:gd name="T5" fmla="*/ 318290 h 418"/>
                <a:gd name="T6" fmla="*/ 0 w 252"/>
                <a:gd name="T7" fmla="*/ 287117 h 418"/>
                <a:gd name="T8" fmla="*/ 28663 w 252"/>
                <a:gd name="T9" fmla="*/ 263328 h 418"/>
                <a:gd name="T10" fmla="*/ 94179 w 252"/>
                <a:gd name="T11" fmla="*/ 206724 h 418"/>
                <a:gd name="T12" fmla="*/ 91722 w 252"/>
                <a:gd name="T13" fmla="*/ 126332 h 418"/>
                <a:gd name="T14" fmla="*/ 28663 w 252"/>
                <a:gd name="T15" fmla="*/ 72189 h 418"/>
                <a:gd name="T16" fmla="*/ 0 w 252"/>
                <a:gd name="T17" fmla="*/ 47579 h 418"/>
                <a:gd name="T18" fmla="*/ 45861 w 252"/>
                <a:gd name="T19" fmla="*/ 15586 h 418"/>
                <a:gd name="T20" fmla="*/ 111377 w 252"/>
                <a:gd name="T21" fmla="*/ 72189 h 418"/>
                <a:gd name="T22" fmla="*/ 175255 w 252"/>
                <a:gd name="T23" fmla="*/ 126332 h 418"/>
                <a:gd name="T24" fmla="*/ 177712 w 252"/>
                <a:gd name="T25" fmla="*/ 206724 h 4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2" h="418">
                  <a:moveTo>
                    <a:pt x="217" y="252"/>
                  </a:moveTo>
                  <a:lnTo>
                    <a:pt x="136" y="321"/>
                  </a:lnTo>
                  <a:cubicBezTo>
                    <a:pt x="110" y="343"/>
                    <a:pt x="84" y="365"/>
                    <a:pt x="59" y="388"/>
                  </a:cubicBezTo>
                  <a:cubicBezTo>
                    <a:pt x="21" y="418"/>
                    <a:pt x="6" y="397"/>
                    <a:pt x="0" y="350"/>
                  </a:cubicBezTo>
                  <a:lnTo>
                    <a:pt x="35" y="321"/>
                  </a:lnTo>
                  <a:lnTo>
                    <a:pt x="115" y="252"/>
                  </a:lnTo>
                  <a:cubicBezTo>
                    <a:pt x="143" y="221"/>
                    <a:pt x="150" y="189"/>
                    <a:pt x="112" y="154"/>
                  </a:cubicBezTo>
                  <a:cubicBezTo>
                    <a:pt x="86" y="132"/>
                    <a:pt x="60" y="110"/>
                    <a:pt x="35" y="88"/>
                  </a:cubicBezTo>
                  <a:lnTo>
                    <a:pt x="0" y="58"/>
                  </a:lnTo>
                  <a:cubicBezTo>
                    <a:pt x="4" y="4"/>
                    <a:pt x="26" y="0"/>
                    <a:pt x="56" y="19"/>
                  </a:cubicBezTo>
                  <a:lnTo>
                    <a:pt x="136" y="88"/>
                  </a:lnTo>
                  <a:cubicBezTo>
                    <a:pt x="162" y="110"/>
                    <a:pt x="188" y="132"/>
                    <a:pt x="214" y="154"/>
                  </a:cubicBezTo>
                  <a:cubicBezTo>
                    <a:pt x="252" y="189"/>
                    <a:pt x="245" y="221"/>
                    <a:pt x="217" y="25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p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890" name="Freeform 14"/>
            <p:cNvSpPr/>
            <p:nvPr/>
          </p:nvSpPr>
          <p:spPr bwMode="auto">
            <a:xfrm>
              <a:off x="142875" y="142875"/>
              <a:ext cx="206375" cy="342900"/>
            </a:xfrm>
            <a:custGeom>
              <a:avLst/>
              <a:gdLst>
                <a:gd name="T0" fmla="*/ 177712 w 252"/>
                <a:gd name="T1" fmla="*/ 206724 h 418"/>
                <a:gd name="T2" fmla="*/ 111377 w 252"/>
                <a:gd name="T3" fmla="*/ 263328 h 418"/>
                <a:gd name="T4" fmla="*/ 48318 w 252"/>
                <a:gd name="T5" fmla="*/ 318290 h 418"/>
                <a:gd name="T6" fmla="*/ 819 w 252"/>
                <a:gd name="T7" fmla="*/ 287117 h 418"/>
                <a:gd name="T8" fmla="*/ 28663 w 252"/>
                <a:gd name="T9" fmla="*/ 263328 h 418"/>
                <a:gd name="T10" fmla="*/ 94179 w 252"/>
                <a:gd name="T11" fmla="*/ 206724 h 418"/>
                <a:gd name="T12" fmla="*/ 91722 w 252"/>
                <a:gd name="T13" fmla="*/ 126332 h 418"/>
                <a:gd name="T14" fmla="*/ 28663 w 252"/>
                <a:gd name="T15" fmla="*/ 72189 h 418"/>
                <a:gd name="T16" fmla="*/ 0 w 252"/>
                <a:gd name="T17" fmla="*/ 47579 h 418"/>
                <a:gd name="T18" fmla="*/ 45861 w 252"/>
                <a:gd name="T19" fmla="*/ 15586 h 418"/>
                <a:gd name="T20" fmla="*/ 111377 w 252"/>
                <a:gd name="T21" fmla="*/ 72189 h 418"/>
                <a:gd name="T22" fmla="*/ 175255 w 252"/>
                <a:gd name="T23" fmla="*/ 126332 h 418"/>
                <a:gd name="T24" fmla="*/ 177712 w 252"/>
                <a:gd name="T25" fmla="*/ 206724 h 4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2" h="418">
                  <a:moveTo>
                    <a:pt x="217" y="252"/>
                  </a:moveTo>
                  <a:lnTo>
                    <a:pt x="136" y="321"/>
                  </a:lnTo>
                  <a:cubicBezTo>
                    <a:pt x="111" y="343"/>
                    <a:pt x="85" y="365"/>
                    <a:pt x="59" y="388"/>
                  </a:cubicBezTo>
                  <a:cubicBezTo>
                    <a:pt x="22" y="418"/>
                    <a:pt x="6" y="397"/>
                    <a:pt x="1" y="350"/>
                  </a:cubicBezTo>
                  <a:lnTo>
                    <a:pt x="35" y="321"/>
                  </a:lnTo>
                  <a:lnTo>
                    <a:pt x="115" y="252"/>
                  </a:lnTo>
                  <a:cubicBezTo>
                    <a:pt x="143" y="221"/>
                    <a:pt x="151" y="189"/>
                    <a:pt x="112" y="154"/>
                  </a:cubicBezTo>
                  <a:cubicBezTo>
                    <a:pt x="86" y="132"/>
                    <a:pt x="61" y="110"/>
                    <a:pt x="35" y="88"/>
                  </a:cubicBezTo>
                  <a:lnTo>
                    <a:pt x="0" y="58"/>
                  </a:lnTo>
                  <a:cubicBezTo>
                    <a:pt x="4" y="4"/>
                    <a:pt x="26" y="0"/>
                    <a:pt x="56" y="19"/>
                  </a:cubicBezTo>
                  <a:lnTo>
                    <a:pt x="136" y="88"/>
                  </a:lnTo>
                  <a:cubicBezTo>
                    <a:pt x="162" y="110"/>
                    <a:pt x="188" y="132"/>
                    <a:pt x="214" y="154"/>
                  </a:cubicBezTo>
                  <a:cubicBezTo>
                    <a:pt x="252" y="189"/>
                    <a:pt x="245" y="221"/>
                    <a:pt x="217" y="25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p>
              <a:endParaRPr altLang="en-US" lang="zh-CN">
                <a:cs typeface="+mn-ea"/>
                <a:sym typeface="+mn-lt"/>
              </a:endParaRPr>
            </a:p>
          </p:txBody>
        </p:sp>
      </p:grpSp>
      <p:grpSp>
        <p:nvGrpSpPr>
          <p:cNvPr id="123" name="组合 19"/>
          <p:cNvGrpSpPr/>
          <p:nvPr/>
        </p:nvGrpSpPr>
        <p:grpSpPr bwMode="auto">
          <a:xfrm>
            <a:off x="8728075" y="3325813"/>
            <a:ext cx="633413" cy="638175"/>
            <a:chOff x="0" y="0"/>
            <a:chExt cx="633413" cy="636588"/>
          </a:xfrm>
        </p:grpSpPr>
        <p:sp>
          <p:nvSpPr>
            <p:cNvPr id="1048891" name="Oval 15"/>
            <p:cNvSpPr>
              <a:spLocks noChangeArrowheads="1"/>
            </p:cNvSpPr>
            <p:nvPr/>
          </p:nvSpPr>
          <p:spPr bwMode="auto">
            <a:xfrm>
              <a:off x="0" y="0"/>
              <a:ext cx="633413" cy="636588"/>
            </a:xfrm>
            <a:prstGeom prst="ellipse"/>
            <a:solidFill>
              <a:srgbClr val="344F66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altLang="en-US" sz="18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892" name="Freeform 16"/>
            <p:cNvSpPr/>
            <p:nvPr/>
          </p:nvSpPr>
          <p:spPr bwMode="auto">
            <a:xfrm>
              <a:off x="338138" y="142875"/>
              <a:ext cx="206375" cy="342900"/>
            </a:xfrm>
            <a:custGeom>
              <a:avLst/>
              <a:gdLst>
                <a:gd name="T0" fmla="*/ 177712 w 252"/>
                <a:gd name="T1" fmla="*/ 206724 h 418"/>
                <a:gd name="T2" fmla="*/ 111377 w 252"/>
                <a:gd name="T3" fmla="*/ 263328 h 418"/>
                <a:gd name="T4" fmla="*/ 48318 w 252"/>
                <a:gd name="T5" fmla="*/ 318290 h 418"/>
                <a:gd name="T6" fmla="*/ 0 w 252"/>
                <a:gd name="T7" fmla="*/ 287117 h 418"/>
                <a:gd name="T8" fmla="*/ 27844 w 252"/>
                <a:gd name="T9" fmla="*/ 263328 h 418"/>
                <a:gd name="T10" fmla="*/ 94179 w 252"/>
                <a:gd name="T11" fmla="*/ 206724 h 418"/>
                <a:gd name="T12" fmla="*/ 91722 w 252"/>
                <a:gd name="T13" fmla="*/ 126332 h 418"/>
                <a:gd name="T14" fmla="*/ 27844 w 252"/>
                <a:gd name="T15" fmla="*/ 72189 h 418"/>
                <a:gd name="T16" fmla="*/ 0 w 252"/>
                <a:gd name="T17" fmla="*/ 47579 h 418"/>
                <a:gd name="T18" fmla="*/ 45861 w 252"/>
                <a:gd name="T19" fmla="*/ 15586 h 418"/>
                <a:gd name="T20" fmla="*/ 111377 w 252"/>
                <a:gd name="T21" fmla="*/ 72189 h 418"/>
                <a:gd name="T22" fmla="*/ 174436 w 252"/>
                <a:gd name="T23" fmla="*/ 126332 h 418"/>
                <a:gd name="T24" fmla="*/ 177712 w 252"/>
                <a:gd name="T25" fmla="*/ 206724 h 4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2" h="418">
                  <a:moveTo>
                    <a:pt x="217" y="252"/>
                  </a:moveTo>
                  <a:lnTo>
                    <a:pt x="136" y="321"/>
                  </a:lnTo>
                  <a:cubicBezTo>
                    <a:pt x="110" y="343"/>
                    <a:pt x="84" y="365"/>
                    <a:pt x="59" y="388"/>
                  </a:cubicBezTo>
                  <a:cubicBezTo>
                    <a:pt x="21" y="418"/>
                    <a:pt x="6" y="397"/>
                    <a:pt x="0" y="350"/>
                  </a:cubicBezTo>
                  <a:lnTo>
                    <a:pt x="34" y="321"/>
                  </a:lnTo>
                  <a:lnTo>
                    <a:pt x="115" y="252"/>
                  </a:lnTo>
                  <a:cubicBezTo>
                    <a:pt x="143" y="221"/>
                    <a:pt x="150" y="189"/>
                    <a:pt x="112" y="154"/>
                  </a:cubicBezTo>
                  <a:cubicBezTo>
                    <a:pt x="86" y="132"/>
                    <a:pt x="60" y="110"/>
                    <a:pt x="34" y="88"/>
                  </a:cubicBezTo>
                  <a:lnTo>
                    <a:pt x="0" y="58"/>
                  </a:lnTo>
                  <a:cubicBezTo>
                    <a:pt x="4" y="4"/>
                    <a:pt x="25" y="0"/>
                    <a:pt x="56" y="19"/>
                  </a:cubicBezTo>
                  <a:lnTo>
                    <a:pt x="136" y="88"/>
                  </a:lnTo>
                  <a:cubicBezTo>
                    <a:pt x="162" y="110"/>
                    <a:pt x="188" y="132"/>
                    <a:pt x="213" y="154"/>
                  </a:cubicBezTo>
                  <a:cubicBezTo>
                    <a:pt x="252" y="189"/>
                    <a:pt x="245" y="221"/>
                    <a:pt x="217" y="25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p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893" name="Freeform 17"/>
            <p:cNvSpPr/>
            <p:nvPr/>
          </p:nvSpPr>
          <p:spPr bwMode="auto">
            <a:xfrm>
              <a:off x="142875" y="142875"/>
              <a:ext cx="206375" cy="342900"/>
            </a:xfrm>
            <a:custGeom>
              <a:avLst/>
              <a:gdLst>
                <a:gd name="T0" fmla="*/ 177712 w 252"/>
                <a:gd name="T1" fmla="*/ 206724 h 418"/>
                <a:gd name="T2" fmla="*/ 111377 w 252"/>
                <a:gd name="T3" fmla="*/ 263328 h 418"/>
                <a:gd name="T4" fmla="*/ 48318 w 252"/>
                <a:gd name="T5" fmla="*/ 318290 h 418"/>
                <a:gd name="T6" fmla="*/ 819 w 252"/>
                <a:gd name="T7" fmla="*/ 287117 h 418"/>
                <a:gd name="T8" fmla="*/ 28663 w 252"/>
                <a:gd name="T9" fmla="*/ 263328 h 418"/>
                <a:gd name="T10" fmla="*/ 94179 w 252"/>
                <a:gd name="T11" fmla="*/ 206724 h 418"/>
                <a:gd name="T12" fmla="*/ 91722 w 252"/>
                <a:gd name="T13" fmla="*/ 126332 h 418"/>
                <a:gd name="T14" fmla="*/ 28663 w 252"/>
                <a:gd name="T15" fmla="*/ 72189 h 418"/>
                <a:gd name="T16" fmla="*/ 0 w 252"/>
                <a:gd name="T17" fmla="*/ 47579 h 418"/>
                <a:gd name="T18" fmla="*/ 45861 w 252"/>
                <a:gd name="T19" fmla="*/ 15586 h 418"/>
                <a:gd name="T20" fmla="*/ 111377 w 252"/>
                <a:gd name="T21" fmla="*/ 72189 h 418"/>
                <a:gd name="T22" fmla="*/ 175255 w 252"/>
                <a:gd name="T23" fmla="*/ 126332 h 418"/>
                <a:gd name="T24" fmla="*/ 177712 w 252"/>
                <a:gd name="T25" fmla="*/ 206724 h 4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2" h="418">
                  <a:moveTo>
                    <a:pt x="217" y="252"/>
                  </a:moveTo>
                  <a:lnTo>
                    <a:pt x="136" y="321"/>
                  </a:lnTo>
                  <a:cubicBezTo>
                    <a:pt x="110" y="343"/>
                    <a:pt x="85" y="365"/>
                    <a:pt x="59" y="388"/>
                  </a:cubicBezTo>
                  <a:cubicBezTo>
                    <a:pt x="21" y="418"/>
                    <a:pt x="6" y="397"/>
                    <a:pt x="1" y="350"/>
                  </a:cubicBezTo>
                  <a:lnTo>
                    <a:pt x="35" y="321"/>
                  </a:lnTo>
                  <a:lnTo>
                    <a:pt x="115" y="252"/>
                  </a:lnTo>
                  <a:cubicBezTo>
                    <a:pt x="143" y="221"/>
                    <a:pt x="151" y="189"/>
                    <a:pt x="112" y="154"/>
                  </a:cubicBezTo>
                  <a:cubicBezTo>
                    <a:pt x="86" y="132"/>
                    <a:pt x="60" y="110"/>
                    <a:pt x="35" y="88"/>
                  </a:cubicBezTo>
                  <a:lnTo>
                    <a:pt x="0" y="58"/>
                  </a:lnTo>
                  <a:cubicBezTo>
                    <a:pt x="4" y="4"/>
                    <a:pt x="26" y="0"/>
                    <a:pt x="56" y="19"/>
                  </a:cubicBezTo>
                  <a:lnTo>
                    <a:pt x="136" y="88"/>
                  </a:lnTo>
                  <a:cubicBezTo>
                    <a:pt x="162" y="110"/>
                    <a:pt x="188" y="132"/>
                    <a:pt x="214" y="154"/>
                  </a:cubicBezTo>
                  <a:cubicBezTo>
                    <a:pt x="252" y="189"/>
                    <a:pt x="245" y="221"/>
                    <a:pt x="217" y="25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p>
              <a:endParaRPr altLang="en-US" lang="zh-CN">
                <a:cs typeface="+mn-ea"/>
                <a:sym typeface="+mn-lt"/>
              </a:endParaRPr>
            </a:p>
          </p:txBody>
        </p:sp>
      </p:grpSp>
      <p:grpSp>
        <p:nvGrpSpPr>
          <p:cNvPr id="124" name="组合 23"/>
          <p:cNvGrpSpPr/>
          <p:nvPr/>
        </p:nvGrpSpPr>
        <p:grpSpPr bwMode="auto">
          <a:xfrm>
            <a:off x="1454150" y="1938338"/>
            <a:ext cx="930275" cy="939799"/>
            <a:chOff x="0" y="0"/>
            <a:chExt cx="930275" cy="938213"/>
          </a:xfrm>
        </p:grpSpPr>
        <p:sp>
          <p:nvSpPr>
            <p:cNvPr id="1048894" name="Oval 18"/>
            <p:cNvSpPr>
              <a:spLocks noChangeArrowheads="1"/>
            </p:cNvSpPr>
            <p:nvPr/>
          </p:nvSpPr>
          <p:spPr bwMode="auto">
            <a:xfrm>
              <a:off x="0" y="0"/>
              <a:ext cx="930275" cy="938213"/>
            </a:xfrm>
            <a:prstGeom prst="ellipse"/>
            <a:solidFill>
              <a:schemeClr val="bg1"/>
            </a:solidFill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altLang="en-US" sz="18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895" name="TextBox 25"/>
            <p:cNvSpPr txBox="1">
              <a:spLocks noChangeArrowheads="1"/>
            </p:cNvSpPr>
            <p:nvPr/>
          </p:nvSpPr>
          <p:spPr bwMode="auto">
            <a:xfrm>
              <a:off x="132353" y="176718"/>
              <a:ext cx="640080" cy="573072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altLang="zh-CN" b="1" dirty="0" sz="3200" lang="en-US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06</a:t>
              </a:r>
              <a:endParaRPr altLang="en-US" b="1" dirty="0" sz="32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48896" name="矩形 26"/>
          <p:cNvSpPr>
            <a:spLocks noChangeArrowheads="1"/>
          </p:cNvSpPr>
          <p:nvPr/>
        </p:nvSpPr>
        <p:spPr bwMode="auto">
          <a:xfrm>
            <a:off x="862013" y="2919413"/>
            <a:ext cx="2090737" cy="2313941"/>
          </a:xfrm>
          <a:prstGeom prst="rect"/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-285750" marL="7429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indent="-228600" marL="1143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indent="-228600" marL="1600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indent="-228600" marL="20574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altLang="en-US" b="1" dirty="0" sz="1800" lang="zh-CN">
                <a:solidFill>
                  <a:srgbClr val="00B0F0"/>
                </a:solidFill>
                <a:latin typeface="+mn-lt"/>
                <a:ea typeface="+mn-ea"/>
                <a:cs typeface="+mn-ea"/>
              </a:rPr>
              <a:t>敌人</a:t>
            </a:r>
            <a:r>
              <a:rPr altLang="zh-CN" b="1" dirty="0" sz="1800" lang="en-US">
                <a:solidFill>
                  <a:srgbClr val="00B0F0"/>
                </a:solidFill>
                <a:latin typeface="+mn-lt"/>
                <a:ea typeface="+mn-ea"/>
                <a:cs typeface="+mn-ea"/>
              </a:rPr>
              <a:t>AI</a:t>
            </a:r>
            <a:r>
              <a:rPr altLang="en-US" b="1" dirty="0" sz="1800" lang="zh-CN">
                <a:solidFill>
                  <a:srgbClr val="00B0F0"/>
                </a:solidFill>
                <a:latin typeface="+mn-lt"/>
                <a:ea typeface="+mn-ea"/>
                <a:cs typeface="+mn-ea"/>
              </a:rPr>
              <a:t>与交互行为系统</a:t>
            </a:r>
            <a:endParaRPr altLang="zh-CN" b="1" dirty="0" sz="1800" lang="en-US">
              <a:solidFill>
                <a:srgbClr val="00B0F0"/>
              </a:solidFill>
              <a:latin typeface="+mn-lt"/>
              <a:ea typeface="+mn-ea"/>
              <a:cs typeface="+mn-ea"/>
            </a:endParaRPr>
          </a:p>
          <a:p>
            <a:pPr>
              <a:spcBef>
                <a:spcPct val="0"/>
              </a:spcBef>
              <a:buNone/>
            </a:pPr>
            <a:endParaRPr altLang="zh-CN" b="1" dirty="0" sz="1600" lang="en-US">
              <a:solidFill>
                <a:srgbClr val="00B0F0"/>
              </a:solidFill>
              <a:latin typeface="+mn-lt"/>
              <a:ea typeface="+mn-ea"/>
              <a:cs typeface="+mn-ea"/>
            </a:endParaRPr>
          </a:p>
          <a:p>
            <a:pPr algn="just">
              <a:spcBef>
                <a:spcPct val="0"/>
              </a:spcBef>
              <a:buNone/>
            </a:pPr>
            <a:r>
              <a:rPr altLang="en-US" dirty="0" sz="1600" lang="zh-CN">
                <a:solidFill>
                  <a:schemeClr val="bg1">
                    <a:lumMod val="95000"/>
                  </a:schemeClr>
                </a:solidFill>
              </a:rPr>
              <a:t>构建多类型敌人，设计不同攻击方式与巡逻逻辑，实现基础感知、追击、攻击、撤退等</a:t>
            </a:r>
            <a:r>
              <a:rPr altLang="zh-CN" dirty="0" sz="1600" lang="en-US">
                <a:solidFill>
                  <a:schemeClr val="bg1">
                    <a:lumMod val="95000"/>
                  </a:schemeClr>
                </a:solidFill>
              </a:rPr>
              <a:t>AI</a:t>
            </a:r>
            <a:r>
              <a:rPr altLang="en-US" dirty="0" sz="1600" lang="zh-CN">
                <a:solidFill>
                  <a:schemeClr val="bg1">
                    <a:lumMod val="95000"/>
                  </a:schemeClr>
                </a:solidFill>
              </a:rPr>
              <a:t>行为，提升战斗策略性与挑战度</a:t>
            </a:r>
            <a:endParaRPr altLang="en-US" dirty="0" sz="1600" lang="zh-CN">
              <a:solidFill>
                <a:schemeClr val="bg1">
                  <a:lumMod val="9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897" name="矩形 27"/>
          <p:cNvSpPr>
            <a:spLocks noChangeArrowheads="1"/>
          </p:cNvSpPr>
          <p:nvPr/>
        </p:nvSpPr>
        <p:spPr bwMode="auto">
          <a:xfrm>
            <a:off x="3702050" y="2919413"/>
            <a:ext cx="2089150" cy="2339341"/>
          </a:xfrm>
          <a:prstGeom prst="rect"/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-285750" marL="7429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indent="-228600" marL="1143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indent="-228600" marL="1600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indent="-228600" marL="20574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altLang="zh-CN" b="1" dirty="0" sz="1800" lang="en-US">
                <a:solidFill>
                  <a:srgbClr val="00B0F0"/>
                </a:solidFill>
                <a:latin typeface="+mn-lt"/>
                <a:ea typeface="+mn-ea"/>
                <a:cs typeface="+mn-ea"/>
              </a:rPr>
              <a:t>UI</a:t>
            </a:r>
            <a:r>
              <a:rPr altLang="en-US" b="1" dirty="0" sz="1800" lang="zh-CN">
                <a:solidFill>
                  <a:srgbClr val="00B0F0"/>
                </a:solidFill>
                <a:latin typeface="+mn-lt"/>
                <a:ea typeface="+mn-ea"/>
                <a:cs typeface="+mn-ea"/>
              </a:rPr>
              <a:t>界面与交互反馈系统</a:t>
            </a:r>
            <a:endParaRPr altLang="zh-CN" b="1" dirty="0" sz="1800" lang="en-US">
              <a:solidFill>
                <a:srgbClr val="00B0F0"/>
              </a:solidFill>
              <a:latin typeface="+mn-lt"/>
              <a:ea typeface="+mn-ea"/>
              <a:cs typeface="+mn-ea"/>
            </a:endParaRPr>
          </a:p>
          <a:p>
            <a:pPr>
              <a:spcBef>
                <a:spcPct val="0"/>
              </a:spcBef>
              <a:buNone/>
            </a:pPr>
            <a:endParaRPr altLang="zh-CN" b="1" dirty="0" sz="1800" lang="en-US">
              <a:solidFill>
                <a:srgbClr val="00B0F0"/>
              </a:solidFill>
              <a:latin typeface="+mn-lt"/>
              <a:ea typeface="+mn-ea"/>
              <a:cs typeface="+mn-ea"/>
            </a:endParaRPr>
          </a:p>
          <a:p>
            <a:pPr algn="just">
              <a:spcBef>
                <a:spcPct val="0"/>
              </a:spcBef>
              <a:buNone/>
            </a:pPr>
            <a:r>
              <a:rPr altLang="en-US" dirty="0" sz="1600" lang="zh-CN">
                <a:solidFill>
                  <a:schemeClr val="tx1"/>
                </a:solidFill>
              </a:rPr>
              <a:t>设计血量、魔力、背包、任务面板等界面；实现伤害数字飘字、技能冷却提示、</a:t>
            </a:r>
            <a:r>
              <a:rPr altLang="zh-CN" dirty="0" sz="1600" lang="en-US">
                <a:solidFill>
                  <a:schemeClr val="tx1"/>
                </a:solidFill>
              </a:rPr>
              <a:t>UI</a:t>
            </a:r>
            <a:r>
              <a:rPr altLang="en-US" dirty="0" sz="1600" lang="zh-CN">
                <a:solidFill>
                  <a:schemeClr val="tx1"/>
                </a:solidFill>
              </a:rPr>
              <a:t>动画等反馈机制，提高沉浸感与可用性。</a:t>
            </a:r>
            <a:endParaRPr altLang="en-US" dirty="0" sz="1600" lang="zh-CN">
              <a:solidFill>
                <a:schemeClr val="tx1"/>
              </a:solidFill>
              <a:sym typeface="+mn-lt"/>
            </a:endParaRPr>
          </a:p>
        </p:txBody>
      </p:sp>
      <p:sp>
        <p:nvSpPr>
          <p:cNvPr id="1048898" name="矩形 28"/>
          <p:cNvSpPr>
            <a:spLocks noChangeArrowheads="1"/>
          </p:cNvSpPr>
          <p:nvPr/>
        </p:nvSpPr>
        <p:spPr bwMode="auto">
          <a:xfrm>
            <a:off x="6580188" y="2919413"/>
            <a:ext cx="2117725" cy="2339341"/>
          </a:xfrm>
          <a:prstGeom prst="rect"/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-285750" marL="7429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indent="-228600" marL="1143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indent="-228600" marL="1600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indent="-228600" marL="20574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altLang="en-US" b="1" dirty="0" sz="1800" lang="zh-CN">
                <a:solidFill>
                  <a:srgbClr val="00B0F0"/>
                </a:solidFill>
                <a:latin typeface="+mn-lt"/>
                <a:ea typeface="+mn-ea"/>
                <a:cs typeface="+mn-ea"/>
              </a:rPr>
              <a:t>音效与视觉表现系统</a:t>
            </a:r>
            <a:endParaRPr altLang="zh-CN" b="1" dirty="0" sz="1800" lang="en-US">
              <a:solidFill>
                <a:srgbClr val="00B0F0"/>
              </a:solidFill>
              <a:latin typeface="+mn-lt"/>
              <a:ea typeface="+mn-ea"/>
              <a:cs typeface="+mn-ea"/>
            </a:endParaRPr>
          </a:p>
          <a:p>
            <a:pPr>
              <a:spcBef>
                <a:spcPct val="0"/>
              </a:spcBef>
              <a:buNone/>
            </a:pPr>
            <a:endParaRPr altLang="zh-CN" b="1" dirty="0" sz="1800" lang="en-US">
              <a:solidFill>
                <a:srgbClr val="00B0F0"/>
              </a:solidFill>
              <a:latin typeface="+mn-lt"/>
              <a:ea typeface="+mn-ea"/>
              <a:cs typeface="+mn-ea"/>
            </a:endParaRPr>
          </a:p>
          <a:p>
            <a:pPr algn="just">
              <a:spcBef>
                <a:spcPct val="0"/>
              </a:spcBef>
              <a:buNone/>
            </a:pPr>
            <a:r>
              <a:rPr altLang="en-US" dirty="0" sz="1600" lang="zh-CN">
                <a:solidFill>
                  <a:schemeClr val="bg1">
                    <a:lumMod val="95000"/>
                  </a:schemeClr>
                </a:solidFill>
              </a:rPr>
              <a:t>为角色动作、攻击命中、场景环境等配置音效和特效；进行灯光、粒子、材质优化，提升美术表现力与战斗刺激感。</a:t>
            </a:r>
            <a:endParaRPr altLang="en-US" dirty="0" sz="1600" lang="zh-CN">
              <a:solidFill>
                <a:schemeClr val="bg1">
                  <a:lumMod val="95000"/>
                </a:schemeClr>
              </a:solidFill>
              <a:sym typeface="+mn-lt"/>
            </a:endParaRPr>
          </a:p>
        </p:txBody>
      </p:sp>
      <p:sp>
        <p:nvSpPr>
          <p:cNvPr id="1048899" name="矩形 29"/>
          <p:cNvSpPr>
            <a:spLocks noChangeArrowheads="1"/>
          </p:cNvSpPr>
          <p:nvPr/>
        </p:nvSpPr>
        <p:spPr bwMode="auto">
          <a:xfrm>
            <a:off x="9488488" y="2919413"/>
            <a:ext cx="2089150" cy="2098041"/>
          </a:xfrm>
          <a:prstGeom prst="rect"/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-285750" marL="7429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indent="-228600" marL="1143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indent="-228600" marL="1600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indent="-228600" marL="20574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altLang="en-US" b="1" dirty="0" sz="1800" lang="zh-CN">
                <a:solidFill>
                  <a:srgbClr val="00B0F0"/>
                </a:solidFill>
                <a:latin typeface="+mn-lt"/>
                <a:ea typeface="+mn-ea"/>
                <a:cs typeface="+mn-ea"/>
              </a:rPr>
              <a:t>存档与进度管理模块</a:t>
            </a:r>
            <a:endParaRPr altLang="zh-CN" b="1" dirty="0" sz="1800" lang="en-US">
              <a:solidFill>
                <a:srgbClr val="00B0F0"/>
              </a:solidFill>
              <a:latin typeface="+mn-lt"/>
              <a:ea typeface="+mn-ea"/>
              <a:cs typeface="+mn-ea"/>
            </a:endParaRPr>
          </a:p>
          <a:p>
            <a:pPr>
              <a:spcBef>
                <a:spcPct val="0"/>
              </a:spcBef>
              <a:buNone/>
            </a:pPr>
            <a:endParaRPr altLang="zh-CN" b="1" dirty="0" sz="1800" lang="en-US">
              <a:solidFill>
                <a:srgbClr val="00B0F0"/>
              </a:solidFill>
              <a:latin typeface="+mn-lt"/>
              <a:ea typeface="+mn-ea"/>
              <a:cs typeface="+mn-ea"/>
            </a:endParaRPr>
          </a:p>
          <a:p>
            <a:pPr algn="just">
              <a:spcBef>
                <a:spcPct val="0"/>
              </a:spcBef>
              <a:buNone/>
            </a:pPr>
            <a:r>
              <a:rPr altLang="en-US" dirty="0" sz="1600" lang="zh-CN">
                <a:solidFill>
                  <a:schemeClr val="tx1"/>
                </a:solidFill>
              </a:rPr>
              <a:t>实现游戏存档</a:t>
            </a:r>
            <a:r>
              <a:rPr altLang="zh-CN" dirty="0" sz="1600" lang="en-US">
                <a:solidFill>
                  <a:schemeClr val="tx1"/>
                </a:solidFill>
              </a:rPr>
              <a:t>/</a:t>
            </a:r>
            <a:r>
              <a:rPr altLang="en-US" dirty="0" sz="1600" lang="zh-CN">
                <a:solidFill>
                  <a:schemeClr val="tx1"/>
                </a:solidFill>
              </a:rPr>
              <a:t>读档、关卡解锁、玩家状态记录与回溯，为长期游戏体验与可回玩性提供支持</a:t>
            </a:r>
            <a:endParaRPr altLang="en-US" dirty="0" sz="1600" lang="zh-CN">
              <a:solidFill>
                <a:schemeClr val="tx1"/>
              </a:solidFill>
              <a:sym typeface="+mn-lt"/>
            </a:endParaRPr>
          </a:p>
        </p:txBody>
      </p:sp>
      <p:grpSp>
        <p:nvGrpSpPr>
          <p:cNvPr id="125" name="组合 30"/>
          <p:cNvGrpSpPr/>
          <p:nvPr/>
        </p:nvGrpSpPr>
        <p:grpSpPr bwMode="auto">
          <a:xfrm>
            <a:off x="4300538" y="1938338"/>
            <a:ext cx="930275" cy="939799"/>
            <a:chOff x="0" y="0"/>
            <a:chExt cx="930275" cy="938213"/>
          </a:xfrm>
        </p:grpSpPr>
        <p:sp>
          <p:nvSpPr>
            <p:cNvPr id="1048900" name="Oval 19"/>
            <p:cNvSpPr>
              <a:spLocks noChangeArrowheads="1"/>
            </p:cNvSpPr>
            <p:nvPr/>
          </p:nvSpPr>
          <p:spPr bwMode="auto">
            <a:xfrm>
              <a:off x="0" y="0"/>
              <a:ext cx="930275" cy="938213"/>
            </a:xfrm>
            <a:prstGeom prst="ellipse"/>
            <a:solidFill>
              <a:schemeClr val="bg1"/>
            </a:solidFill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altLang="en-US" sz="18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901" name="TextBox 32"/>
            <p:cNvSpPr txBox="1">
              <a:spLocks noChangeArrowheads="1"/>
            </p:cNvSpPr>
            <p:nvPr/>
          </p:nvSpPr>
          <p:spPr bwMode="auto">
            <a:xfrm>
              <a:off x="124700" y="176718"/>
              <a:ext cx="640080" cy="573072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altLang="zh-CN" b="1" dirty="0" sz="3200" lang="en-US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07</a:t>
              </a:r>
              <a:endParaRPr altLang="en-US" b="1" dirty="0" sz="32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6" name="组合 33"/>
          <p:cNvGrpSpPr/>
          <p:nvPr/>
        </p:nvGrpSpPr>
        <p:grpSpPr bwMode="auto">
          <a:xfrm>
            <a:off x="7145338" y="1938338"/>
            <a:ext cx="931862" cy="939799"/>
            <a:chOff x="0" y="0"/>
            <a:chExt cx="931863" cy="938213"/>
          </a:xfrm>
        </p:grpSpPr>
        <p:sp>
          <p:nvSpPr>
            <p:cNvPr id="1048902" name="Oval 20"/>
            <p:cNvSpPr>
              <a:spLocks noChangeArrowheads="1"/>
            </p:cNvSpPr>
            <p:nvPr/>
          </p:nvSpPr>
          <p:spPr bwMode="auto">
            <a:xfrm>
              <a:off x="0" y="0"/>
              <a:ext cx="931863" cy="938213"/>
            </a:xfrm>
            <a:prstGeom prst="ellipse"/>
            <a:solidFill>
              <a:schemeClr val="bg1"/>
            </a:solidFill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altLang="en-US" dirty="0" sz="18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903" name="TextBox 35"/>
            <p:cNvSpPr txBox="1">
              <a:spLocks noChangeArrowheads="1"/>
            </p:cNvSpPr>
            <p:nvPr/>
          </p:nvSpPr>
          <p:spPr bwMode="auto">
            <a:xfrm>
              <a:off x="118633" y="176718"/>
              <a:ext cx="640081" cy="573072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altLang="zh-CN" b="1" dirty="0" sz="3200" lang="en-US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08</a:t>
              </a:r>
              <a:endParaRPr altLang="en-US" b="1" dirty="0" sz="32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7" name="组合 36"/>
          <p:cNvGrpSpPr/>
          <p:nvPr/>
        </p:nvGrpSpPr>
        <p:grpSpPr bwMode="auto">
          <a:xfrm>
            <a:off x="9991725" y="1938338"/>
            <a:ext cx="931863" cy="939799"/>
            <a:chOff x="0" y="0"/>
            <a:chExt cx="931863" cy="938213"/>
          </a:xfrm>
        </p:grpSpPr>
        <p:sp>
          <p:nvSpPr>
            <p:cNvPr id="1048904" name="Oval 21"/>
            <p:cNvSpPr>
              <a:spLocks noChangeArrowheads="1"/>
            </p:cNvSpPr>
            <p:nvPr/>
          </p:nvSpPr>
          <p:spPr bwMode="auto">
            <a:xfrm>
              <a:off x="0" y="0"/>
              <a:ext cx="931863" cy="938213"/>
            </a:xfrm>
            <a:prstGeom prst="ellipse"/>
            <a:solidFill>
              <a:schemeClr val="bg1"/>
            </a:solidFill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altLang="en-US" dirty="0" sz="18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905" name="TextBox 38"/>
            <p:cNvSpPr txBox="1">
              <a:spLocks noChangeArrowheads="1"/>
            </p:cNvSpPr>
            <p:nvPr/>
          </p:nvSpPr>
          <p:spPr bwMode="auto">
            <a:xfrm>
              <a:off x="138276" y="176718"/>
              <a:ext cx="640080" cy="573072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indent="-285750" marL="7429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indent="-228600" marL="1143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altLang="zh-CN" b="1" dirty="0" sz="3200" lang="en-US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09</a:t>
              </a:r>
              <a:endParaRPr altLang="en-US" b="1" dirty="0" sz="3200" lang="zh-CN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48906" name="TextBox 42"/>
          <p:cNvSpPr txBox="1"/>
          <p:nvPr/>
        </p:nvSpPr>
        <p:spPr>
          <a:xfrm>
            <a:off x="1311470" y="315858"/>
            <a:ext cx="3649369" cy="430887"/>
          </a:xfrm>
          <a:prstGeom prst="rect"/>
          <a:noFill/>
          <a:ln>
            <a:noFill/>
          </a:ln>
        </p:spPr>
        <p:txBody>
          <a:bodyPr anchor="t" anchorCtr="0" bIns="0" compatLnSpc="1" lIns="0" numCol="1" rIns="0" tIns="0" vert="horz" wrap="square">
            <a:spAutoFit/>
          </a:bodyPr>
          <a:lstStyle>
            <a:defPPr>
              <a:defRPr lang="zh-CN"/>
            </a:defPPr>
            <a:lvl1pPr defTabSz="914400" eaLnBrk="1" hangingPunct="1" indent="0" latinLnBrk="0" lvl="0" marL="0" marR="0">
              <a:lnSpc>
                <a:spcPct val="100000"/>
              </a:lnSpc>
              <a:buClrTx/>
              <a:buSzTx/>
              <a:buFontTx/>
              <a:buNone/>
              <a:defRPr baseline="0" b="1" cap="none" sz="2800" i="0" kumimoji="0" normalizeH="0" strike="noStrike" u="none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3.2 </a:t>
            </a:r>
            <a:r>
              <a:rPr altLang="en-US" b="0" dirty="0" lang="zh-CN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研究内容</a:t>
            </a:r>
          </a:p>
        </p:txBody>
      </p:sp>
      <p:pic>
        <p:nvPicPr>
          <p:cNvPr id="2097193" name="图片 3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1" nodeType="withEffect" presetClass="entr" presetID="47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8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6" nodeType="withEffect" presetClass="entr" presetID="47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8"/>
                                        <p:tgtEl>
                                          <p:spTgt spid="10488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1" nodeType="withEffect" presetClass="entr" presetID="47" presetSubtype="0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3"/>
                                        <p:tgtEl>
                                          <p:spTgt spid="10488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24"/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6" nodeType="withEffect" presetClass="entr" presetID="47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8"/>
                                        <p:tgtEl>
                                          <p:spTgt spid="10488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1">
                            <p:stCondLst>
                              <p:cond delay="1100"/>
                            </p:stCondLst>
                            <p:childTnLst>
                              <p:par>
                                <p:cTn fill="hold" id="32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300" fill="hold" id="34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300" fill="hold" id="35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300" id="36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7">
                            <p:stCondLst>
                              <p:cond delay="1400"/>
                            </p:stCondLst>
                            <p:childTnLst>
                              <p:par>
                                <p:cTn fill="hold" grpId="0" id="38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40"/>
                                        <p:tgtEl>
                                          <p:spTgt spid="104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1">
                            <p:stCondLst>
                              <p:cond delay="1900"/>
                            </p:stCondLst>
                            <p:childTnLst>
                              <p:par>
                                <p:cTn fill="hold" id="42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5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6">
                            <p:stCondLst>
                              <p:cond delay="2400"/>
                            </p:stCondLst>
                            <p:childTnLst>
                              <p:par>
                                <p:cTn fill="hold" id="4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300" fill="hold" id="49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300" fill="hold" id="5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300" id="51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2">
                            <p:stCondLst>
                              <p:cond delay="2700"/>
                            </p:stCondLst>
                            <p:childTnLst>
                              <p:par>
                                <p:cTn fill="hold" grpId="0" id="53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55"/>
                                        <p:tgtEl>
                                          <p:spTgt spid="1048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6">
                            <p:stCondLst>
                              <p:cond delay="3200"/>
                            </p:stCondLst>
                            <p:childTnLst>
                              <p:par>
                                <p:cTn fill="hold" id="57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9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1">
                            <p:stCondLst>
                              <p:cond delay="3700"/>
                            </p:stCondLst>
                            <p:childTnLst>
                              <p:par>
                                <p:cTn fill="hold" id="62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300" fill="hold" id="64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300" fill="hold" id="65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300" id="66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7">
                            <p:stCondLst>
                              <p:cond delay="4000"/>
                            </p:stCondLst>
                            <p:childTnLst>
                              <p:par>
                                <p:cTn fill="hold" grpId="0" id="68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70"/>
                                        <p:tgtEl>
                                          <p:spTgt spid="104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1">
                            <p:stCondLst>
                              <p:cond delay="4500"/>
                            </p:stCondLst>
                            <p:childTnLst>
                              <p:par>
                                <p:cTn fill="hold" id="72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4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5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6">
                            <p:stCondLst>
                              <p:cond delay="5000"/>
                            </p:stCondLst>
                            <p:childTnLst>
                              <p:par>
                                <p:cTn fill="hold" id="7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300" fill="hold" id="79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300" fill="hold" id="8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300" id="81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2">
                            <p:stCondLst>
                              <p:cond delay="5300"/>
                            </p:stCondLst>
                            <p:childTnLst>
                              <p:par>
                                <p:cTn fill="hold" grpId="0" id="83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85"/>
                                        <p:tgtEl>
                                          <p:spTgt spid="104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81" grpId="0" animBg="1"/>
      <p:bldP spid="1048882" grpId="0" animBg="1"/>
      <p:bldP spid="1048883" grpId="0" animBg="1"/>
      <p:bldP spid="1048884" grpId="0" animBg="1"/>
      <p:bldP spid="1048896" grpId="0" autoUpdateAnimBg="0"/>
      <p:bldP spid="1048897" grpId="0" autoUpdateAnimBg="0"/>
      <p:bldP spid="1048898" grpId="0" autoUpdateAnimBg="0"/>
      <p:bldP spid="1048899" grpId="0" autoUpdateAnimBg="0"/>
      <p:bldP spid="104890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4" name="图片 5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l="6659" t="6677" r="6720" b="6693"/>
          <a:stretch>
            <a:fillRect/>
          </a:stretch>
        </p:blipFill>
        <p:spPr>
          <a:xfrm>
            <a:off x="-1" y="0"/>
            <a:ext cx="12192001" cy="6858000"/>
          </a:xfrm>
          <a:prstGeom prst="rect"/>
        </p:spPr>
      </p:pic>
      <p:pic>
        <p:nvPicPr>
          <p:cNvPr id="2097195" name="图片 4"/>
          <p:cNvPicPr>
            <a:picLocks noChangeAspect="1"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9274592" y="6060713"/>
            <a:ext cx="2734062" cy="539497"/>
          </a:xfrm>
          <a:prstGeom prst="rect"/>
        </p:spPr>
      </p:pic>
      <p:pic>
        <p:nvPicPr>
          <p:cNvPr id="2097196" name="图片 5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3" cstate="print"/>
          <a:srcRect l="36510" t="24114" r="34678" b="22737"/>
          <a:stretch>
            <a:fillRect/>
          </a:stretch>
        </p:blipFill>
        <p:spPr>
          <a:xfrm>
            <a:off x="1651394" y="1134208"/>
            <a:ext cx="2094129" cy="2172731"/>
          </a:xfrm>
          <a:prstGeom prst="rect"/>
        </p:spPr>
      </p:pic>
      <p:sp>
        <p:nvSpPr>
          <p:cNvPr id="1048907" name="TextBox 12"/>
          <p:cNvSpPr txBox="1"/>
          <p:nvPr/>
        </p:nvSpPr>
        <p:spPr>
          <a:xfrm>
            <a:off x="2472996" y="1849942"/>
            <a:ext cx="8067610" cy="106934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ctr">
              <a:defRPr b="1"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66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第四部分</a:t>
            </a:r>
          </a:p>
        </p:txBody>
      </p:sp>
      <p:grpSp>
        <p:nvGrpSpPr>
          <p:cNvPr id="129" name="组合 17"/>
          <p:cNvGrpSpPr/>
          <p:nvPr/>
        </p:nvGrpSpPr>
        <p:grpSpPr>
          <a:xfrm>
            <a:off x="-4151" y="0"/>
            <a:ext cx="12196151" cy="6858000"/>
            <a:chOff x="-4151" y="0"/>
            <a:chExt cx="12196151" cy="6858000"/>
          </a:xfrm>
        </p:grpSpPr>
        <p:grpSp>
          <p:nvGrpSpPr>
            <p:cNvPr id="130" name="组合 18"/>
            <p:cNvGrpSpPr/>
            <p:nvPr/>
          </p:nvGrpSpPr>
          <p:grpSpPr>
            <a:xfrm>
              <a:off x="0" y="0"/>
              <a:ext cx="3001030" cy="109728"/>
              <a:chOff x="0" y="0"/>
              <a:chExt cx="3001030" cy="109728"/>
            </a:xfrm>
          </p:grpSpPr>
          <p:sp>
            <p:nvSpPr>
              <p:cNvPr id="1048908" name="矩形 5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09" name="矩形 5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31" name="组合 19"/>
            <p:cNvGrpSpPr/>
            <p:nvPr/>
          </p:nvGrpSpPr>
          <p:grpSpPr>
            <a:xfrm>
              <a:off x="8994788" y="0"/>
              <a:ext cx="3197212" cy="109728"/>
              <a:chOff x="0" y="0"/>
              <a:chExt cx="3001030" cy="109728"/>
            </a:xfrm>
          </p:grpSpPr>
          <p:sp>
            <p:nvSpPr>
              <p:cNvPr id="1048910" name="矩形 5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11" name="矩形 5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32" name="组合 20"/>
            <p:cNvGrpSpPr/>
            <p:nvPr/>
          </p:nvGrpSpPr>
          <p:grpSpPr>
            <a:xfrm>
              <a:off x="5997909" y="0"/>
              <a:ext cx="3001030" cy="109728"/>
              <a:chOff x="0" y="0"/>
              <a:chExt cx="3001030" cy="109728"/>
            </a:xfrm>
          </p:grpSpPr>
          <p:sp>
            <p:nvSpPr>
              <p:cNvPr id="1048912" name="矩形 4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13" name="矩形 4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33" name="组合 21"/>
            <p:cNvGrpSpPr/>
            <p:nvPr/>
          </p:nvGrpSpPr>
          <p:grpSpPr>
            <a:xfrm>
              <a:off x="2996879" y="0"/>
              <a:ext cx="3001030" cy="109728"/>
              <a:chOff x="0" y="0"/>
              <a:chExt cx="3001030" cy="109728"/>
            </a:xfrm>
          </p:grpSpPr>
          <p:sp>
            <p:nvSpPr>
              <p:cNvPr id="1048914" name="矩形 4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15" name="矩形 4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34" name="组合 22"/>
            <p:cNvGrpSpPr/>
            <p:nvPr/>
          </p:nvGrpSpPr>
          <p:grpSpPr>
            <a:xfrm>
              <a:off x="-4151" y="6748272"/>
              <a:ext cx="3001030" cy="109728"/>
              <a:chOff x="0" y="0"/>
              <a:chExt cx="3001030" cy="109728"/>
            </a:xfrm>
          </p:grpSpPr>
          <p:sp>
            <p:nvSpPr>
              <p:cNvPr id="1048916" name="矩形 4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17" name="矩形 4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35" name="组合 23"/>
            <p:cNvGrpSpPr/>
            <p:nvPr/>
          </p:nvGrpSpPr>
          <p:grpSpPr>
            <a:xfrm>
              <a:off x="5993758" y="6748272"/>
              <a:ext cx="3001030" cy="109728"/>
              <a:chOff x="0" y="0"/>
              <a:chExt cx="3001030" cy="109728"/>
            </a:xfrm>
          </p:grpSpPr>
          <p:sp>
            <p:nvSpPr>
              <p:cNvPr id="1048918" name="矩形 4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19" name="矩形 4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36" name="组合 24"/>
            <p:cNvGrpSpPr/>
            <p:nvPr/>
          </p:nvGrpSpPr>
          <p:grpSpPr>
            <a:xfrm>
              <a:off x="2992728" y="6748272"/>
              <a:ext cx="3001030" cy="109728"/>
              <a:chOff x="0" y="0"/>
              <a:chExt cx="3001030" cy="109728"/>
            </a:xfrm>
          </p:grpSpPr>
          <p:sp>
            <p:nvSpPr>
              <p:cNvPr id="1048920" name="矩形 4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21" name="矩形 4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37" name="组合 25"/>
            <p:cNvGrpSpPr/>
            <p:nvPr/>
          </p:nvGrpSpPr>
          <p:grpSpPr>
            <a:xfrm>
              <a:off x="8994788" y="6748272"/>
              <a:ext cx="3197212" cy="109728"/>
              <a:chOff x="0" y="0"/>
              <a:chExt cx="3001030" cy="109728"/>
            </a:xfrm>
          </p:grpSpPr>
          <p:sp>
            <p:nvSpPr>
              <p:cNvPr id="1048922" name="矩形 38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23" name="矩形 39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38" name="组合 26"/>
            <p:cNvGrpSpPr/>
            <p:nvPr/>
          </p:nvGrpSpPr>
          <p:grpSpPr>
            <a:xfrm rot="16200000">
              <a:off x="-1543742" y="1653470"/>
              <a:ext cx="3197212" cy="109728"/>
              <a:chOff x="0" y="0"/>
              <a:chExt cx="3001030" cy="109728"/>
            </a:xfrm>
          </p:grpSpPr>
          <p:sp>
            <p:nvSpPr>
              <p:cNvPr id="1048924" name="矩形 36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25" name="矩形 37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39" name="组合 27"/>
            <p:cNvGrpSpPr/>
            <p:nvPr/>
          </p:nvGrpSpPr>
          <p:grpSpPr>
            <a:xfrm rot="16200000">
              <a:off x="-1667877" y="4970666"/>
              <a:ext cx="3441332" cy="113879"/>
              <a:chOff x="0" y="0"/>
              <a:chExt cx="3001030" cy="109728"/>
            </a:xfrm>
          </p:grpSpPr>
          <p:sp>
            <p:nvSpPr>
              <p:cNvPr id="1048926" name="矩形 34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27" name="矩形 35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40" name="组合 28"/>
            <p:cNvGrpSpPr/>
            <p:nvPr/>
          </p:nvGrpSpPr>
          <p:grpSpPr>
            <a:xfrm rot="16200000">
              <a:off x="10538530" y="1653470"/>
              <a:ext cx="3197212" cy="109728"/>
              <a:chOff x="0" y="0"/>
              <a:chExt cx="3001030" cy="109728"/>
            </a:xfrm>
          </p:grpSpPr>
          <p:sp>
            <p:nvSpPr>
              <p:cNvPr id="1048928" name="矩形 32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29" name="矩形 33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  <p:grpSp>
          <p:nvGrpSpPr>
            <p:cNvPr id="141" name="组合 29"/>
            <p:cNvGrpSpPr/>
            <p:nvPr/>
          </p:nvGrpSpPr>
          <p:grpSpPr>
            <a:xfrm rot="16200000">
              <a:off x="10414395" y="4970666"/>
              <a:ext cx="3441332" cy="113879"/>
              <a:chOff x="0" y="0"/>
              <a:chExt cx="3001030" cy="109728"/>
            </a:xfrm>
          </p:grpSpPr>
          <p:sp>
            <p:nvSpPr>
              <p:cNvPr id="1048930" name="矩形 30"/>
              <p:cNvSpPr/>
              <p:nvPr/>
            </p:nvSpPr>
            <p:spPr>
              <a:xfrm flipV="1">
                <a:off x="0" y="0"/>
                <a:ext cx="1367596" cy="109728"/>
              </a:xfrm>
              <a:prstGeom prst="rect"/>
              <a:solidFill>
                <a:srgbClr val="062845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  <p:sp>
            <p:nvSpPr>
              <p:cNvPr id="1048931" name="矩形 31"/>
              <p:cNvSpPr/>
              <p:nvPr/>
            </p:nvSpPr>
            <p:spPr>
              <a:xfrm flipV="1">
                <a:off x="1367596" y="0"/>
                <a:ext cx="1633434" cy="109728"/>
              </a:xfrm>
              <a:prstGeom prst="rect"/>
              <a:solidFill>
                <a:srgbClr val="C70E2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lang="zh-CN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097197" name="图片 54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>
            <a:duotone>
              <a:prstClr val="black"/>
              <a:srgbClr val="38536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856300" y="2960980"/>
            <a:ext cx="5301002" cy="145020"/>
          </a:xfrm>
          <a:prstGeom prst="rect"/>
        </p:spPr>
      </p:pic>
      <p:sp>
        <p:nvSpPr>
          <p:cNvPr id="1048932" name="TextBox 12"/>
          <p:cNvSpPr txBox="1"/>
          <p:nvPr/>
        </p:nvSpPr>
        <p:spPr>
          <a:xfrm>
            <a:off x="2232214" y="3346064"/>
            <a:ext cx="8067610" cy="1069340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ctr">
              <a:defRPr b="1" sz="5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altLang="en-US" dirty="0" sz="6600" lang="zh-CN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技术路线</a:t>
            </a:r>
            <a:r>
              <a:rPr altLang="en-US" dirty="0" sz="6600" lang="en-US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与</a:t>
            </a:r>
            <a:r>
              <a:rPr altLang="en-US" dirty="0" sz="6600" lang="en-US">
                <a:solidFill>
                  <a:srgbClr val="484848"/>
                </a:solidFill>
                <a:latin typeface="+mn-lt"/>
                <a:ea typeface="+mn-ea"/>
                <a:cs typeface="+mn-ea"/>
                <a:sym typeface="+mn-lt"/>
              </a:rPr>
              <a:t>进度安排</a:t>
            </a:r>
            <a:endParaRPr altLang="en-US" lang="zh-CN"/>
          </a:p>
        </p:txBody>
      </p:sp>
      <p:pic>
        <p:nvPicPr>
          <p:cNvPr id="2097198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2000"/>
                            </p:stCondLst>
                            <p:childTnLst>
                              <p:par>
                                <p:cTn fill="hold" id="9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2097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2097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209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15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9"/>
                                        <p:tgtEl>
                                          <p:spTgt spid="104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0">
                            <p:stCondLst>
                              <p:cond delay="3000"/>
                            </p:stCondLst>
                            <p:childTnLst>
                              <p:par>
                                <p:cTn fill="hold" id="21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3"/>
                                        <p:tgtEl>
                                          <p:spTgt spid="209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3500"/>
                            </p:stCondLst>
                            <p:childTnLst>
                              <p:par>
                                <p:cTn fill="hold" grpId="0" id="25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1" tmFilter="0,0; .5, 1; 1, 1"/>
                                        <p:tgtEl>
                                          <p:spTgt spid="104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2">
                            <p:stCondLst>
                              <p:cond delay="4150"/>
                            </p:stCondLst>
                            <p:childTnLst>
                              <p:par>
                                <p:cTn fill="hold" id="33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5"/>
                                        <p:tgtEl>
                                          <p:spTgt spid="209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07" grpId="0"/>
      <p:bldP spid="10489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3" name="圆角矩形 12"/>
          <p:cNvSpPr/>
          <p:nvPr/>
        </p:nvSpPr>
        <p:spPr>
          <a:xfrm>
            <a:off x="6649954" y="4642882"/>
            <a:ext cx="5313886" cy="916769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sz="2000" lang="zh-CN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8934" name="圆角矩形 13"/>
          <p:cNvSpPr/>
          <p:nvPr/>
        </p:nvSpPr>
        <p:spPr>
          <a:xfrm>
            <a:off x="4314165" y="2590029"/>
            <a:ext cx="6612915" cy="84600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sz="2000" lang="zh-CN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3" name="组合 3"/>
          <p:cNvGrpSpPr/>
          <p:nvPr/>
        </p:nvGrpSpPr>
        <p:grpSpPr>
          <a:xfrm>
            <a:off x="1138519" y="1406258"/>
            <a:ext cx="1436856" cy="1972078"/>
            <a:chOff x="1032992" y="2432634"/>
            <a:chExt cx="1230525" cy="1688231"/>
          </a:xfrm>
        </p:grpSpPr>
        <p:sp>
          <p:nvSpPr>
            <p:cNvPr id="1048935" name="任意多边形 15"/>
            <p:cNvSpPr/>
            <p:nvPr/>
          </p:nvSpPr>
          <p:spPr>
            <a:xfrm>
              <a:off x="1067786" y="2432634"/>
              <a:ext cx="1195731" cy="1688231"/>
            </a:xfrm>
            <a:custGeom>
              <a:avLst/>
              <a:gdLst>
                <a:gd name="connsiteX0" fmla="*/ 602108 w 1364578"/>
                <a:gd name="connsiteY0" fmla="*/ 0 h 1926623"/>
                <a:gd name="connsiteX1" fmla="*/ 1364578 w 1364578"/>
                <a:gd name="connsiteY1" fmla="*/ 0 h 1926623"/>
                <a:gd name="connsiteX2" fmla="*/ 1364578 w 1364578"/>
                <a:gd name="connsiteY2" fmla="*/ 1926623 h 1926623"/>
                <a:gd name="connsiteX3" fmla="*/ 0 w 1364578"/>
                <a:gd name="connsiteY3" fmla="*/ 1926623 h 1926623"/>
                <a:gd name="connsiteX4" fmla="*/ 0 w 1364578"/>
                <a:gd name="connsiteY4" fmla="*/ 602108 h 1926623"/>
                <a:gd name="connsiteX5" fmla="*/ 602108 w 1364578"/>
                <a:gd name="connsiteY5" fmla="*/ 0 h 192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64578" h="1926623">
                  <a:moveTo>
                    <a:pt x="602108" y="0"/>
                  </a:moveTo>
                  <a:lnTo>
                    <a:pt x="1364578" y="0"/>
                  </a:lnTo>
                  <a:lnTo>
                    <a:pt x="1364578" y="1926623"/>
                  </a:lnTo>
                  <a:lnTo>
                    <a:pt x="0" y="1926623"/>
                  </a:lnTo>
                  <a:lnTo>
                    <a:pt x="0" y="602108"/>
                  </a:lnTo>
                  <a:cubicBezTo>
                    <a:pt x="0" y="269573"/>
                    <a:pt x="269573" y="0"/>
                    <a:pt x="602108" y="0"/>
                  </a:cubicBezTo>
                  <a:close/>
                </a:path>
              </a:pathLst>
            </a:custGeom>
            <a:solidFill>
              <a:srgbClr val="344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936" name="KSO_Shape"/>
            <p:cNvSpPr/>
            <p:nvPr/>
          </p:nvSpPr>
          <p:spPr bwMode="auto">
            <a:xfrm>
              <a:off x="1450338" y="2837335"/>
              <a:ext cx="430626" cy="439414"/>
            </a:xfrm>
            <a:custGeom>
              <a:avLst/>
              <a:gdLst>
                <a:gd name="T0" fmla="*/ 1524318 w 3543300"/>
                <a:gd name="T1" fmla="*/ 1132523 h 3617913"/>
                <a:gd name="T2" fmla="*/ 1313498 w 3543300"/>
                <a:gd name="T3" fmla="*/ 1253173 h 3617913"/>
                <a:gd name="T4" fmla="*/ 1155382 w 3543300"/>
                <a:gd name="T5" fmla="*/ 1435418 h 3617913"/>
                <a:gd name="T6" fmla="*/ 1066122 w 3543300"/>
                <a:gd name="T7" fmla="*/ 1663327 h 3617913"/>
                <a:gd name="T8" fmla="*/ 1059774 w 3543300"/>
                <a:gd name="T9" fmla="*/ 1918696 h 3617913"/>
                <a:gd name="T10" fmla="*/ 1138484 w 3543300"/>
                <a:gd name="T11" fmla="*/ 2152467 h 3617913"/>
                <a:gd name="T12" fmla="*/ 1287651 w 3543300"/>
                <a:gd name="T13" fmla="*/ 2342088 h 3617913"/>
                <a:gd name="T14" fmla="*/ 1491724 w 3543300"/>
                <a:gd name="T15" fmla="*/ 2472632 h 3617913"/>
                <a:gd name="T16" fmla="*/ 1734517 w 3543300"/>
                <a:gd name="T17" fmla="*/ 2528533 h 3617913"/>
                <a:gd name="T18" fmla="*/ 1985879 w 3543300"/>
                <a:gd name="T19" fmla="*/ 2496771 h 3617913"/>
                <a:gd name="T20" fmla="*/ 2202647 w 3543300"/>
                <a:gd name="T21" fmla="*/ 2386238 h 3617913"/>
                <a:gd name="T22" fmla="*/ 2368635 w 3543300"/>
                <a:gd name="T23" fmla="*/ 2211863 h 3617913"/>
                <a:gd name="T24" fmla="*/ 2469244 w 3543300"/>
                <a:gd name="T25" fmla="*/ 1988891 h 3617913"/>
                <a:gd name="T26" fmla="*/ 2487969 w 3543300"/>
                <a:gd name="T27" fmla="*/ 1735110 h 3617913"/>
                <a:gd name="T28" fmla="*/ 2420685 w 3543300"/>
                <a:gd name="T29" fmla="*/ 1496257 h 3617913"/>
                <a:gd name="T30" fmla="*/ 2280920 w 3543300"/>
                <a:gd name="T31" fmla="*/ 1299528 h 3617913"/>
                <a:gd name="T32" fmla="*/ 2083752 w 3543300"/>
                <a:gd name="T33" fmla="*/ 1159510 h 3617913"/>
                <a:gd name="T34" fmla="*/ 1845310 w 3543300"/>
                <a:gd name="T35" fmla="*/ 1092518 h 3617913"/>
                <a:gd name="T36" fmla="*/ 1957705 w 3543300"/>
                <a:gd name="T37" fmla="*/ 6985 h 3617913"/>
                <a:gd name="T38" fmla="*/ 2011998 w 3543300"/>
                <a:gd name="T39" fmla="*/ 89217 h 3617913"/>
                <a:gd name="T40" fmla="*/ 2341562 w 3543300"/>
                <a:gd name="T41" fmla="*/ 485457 h 3617913"/>
                <a:gd name="T42" fmla="*/ 2646362 w 3543300"/>
                <a:gd name="T43" fmla="*/ 240665 h 3617913"/>
                <a:gd name="T44" fmla="*/ 2970848 w 3543300"/>
                <a:gd name="T45" fmla="*/ 446087 h 3617913"/>
                <a:gd name="T46" fmla="*/ 2979738 w 3543300"/>
                <a:gd name="T47" fmla="*/ 554990 h 3617913"/>
                <a:gd name="T48" fmla="*/ 2996248 w 3543300"/>
                <a:gd name="T49" fmla="*/ 1049655 h 3617913"/>
                <a:gd name="T50" fmla="*/ 3393440 w 3543300"/>
                <a:gd name="T51" fmla="*/ 1051243 h 3617913"/>
                <a:gd name="T52" fmla="*/ 3542030 w 3543300"/>
                <a:gd name="T53" fmla="*/ 1406843 h 3617913"/>
                <a:gd name="T54" fmla="*/ 3490278 w 3543300"/>
                <a:gd name="T55" fmla="*/ 1502728 h 3617913"/>
                <a:gd name="T56" fmla="*/ 3210242 w 3543300"/>
                <a:gd name="T57" fmla="*/ 1889125 h 3617913"/>
                <a:gd name="T58" fmla="*/ 3529330 w 3543300"/>
                <a:gd name="T59" fmla="*/ 2149158 h 3617913"/>
                <a:gd name="T60" fmla="*/ 3442335 w 3543300"/>
                <a:gd name="T61" fmla="*/ 2520315 h 3617913"/>
                <a:gd name="T62" fmla="*/ 3346450 w 3543300"/>
                <a:gd name="T63" fmla="*/ 2572068 h 3617913"/>
                <a:gd name="T64" fmla="*/ 2905125 w 3543300"/>
                <a:gd name="T65" fmla="*/ 2698115 h 3617913"/>
                <a:gd name="T66" fmla="*/ 2994025 w 3543300"/>
                <a:gd name="T67" fmla="*/ 3108643 h 3617913"/>
                <a:gd name="T68" fmla="*/ 2709228 w 3543300"/>
                <a:gd name="T69" fmla="*/ 3363913 h 3617913"/>
                <a:gd name="T70" fmla="*/ 2600325 w 3543300"/>
                <a:gd name="T71" fmla="*/ 3355023 h 3617913"/>
                <a:gd name="T72" fmla="*/ 2193608 w 3543300"/>
                <a:gd name="T73" fmla="*/ 3187066 h 3617913"/>
                <a:gd name="T74" fmla="*/ 2005012 w 3543300"/>
                <a:gd name="T75" fmla="*/ 3563621 h 3617913"/>
                <a:gd name="T76" fmla="*/ 1620520 w 3543300"/>
                <a:gd name="T77" fmla="*/ 3617913 h 3617913"/>
                <a:gd name="T78" fmla="*/ 1535430 w 3543300"/>
                <a:gd name="T79" fmla="*/ 3555366 h 3617913"/>
                <a:gd name="T80" fmla="*/ 1324928 w 3543300"/>
                <a:gd name="T81" fmla="*/ 3179128 h 3617913"/>
                <a:gd name="T82" fmla="*/ 935990 w 3543300"/>
                <a:gd name="T83" fmla="*/ 3361056 h 3617913"/>
                <a:gd name="T84" fmla="*/ 830262 w 3543300"/>
                <a:gd name="T85" fmla="*/ 3361056 h 3617913"/>
                <a:gd name="T86" fmla="*/ 550545 w 3543300"/>
                <a:gd name="T87" fmla="*/ 3100071 h 3617913"/>
                <a:gd name="T88" fmla="*/ 638492 w 3543300"/>
                <a:gd name="T89" fmla="*/ 2698115 h 3617913"/>
                <a:gd name="T90" fmla="*/ 196850 w 3543300"/>
                <a:gd name="T91" fmla="*/ 2572068 h 3617913"/>
                <a:gd name="T92" fmla="*/ 101282 w 3543300"/>
                <a:gd name="T93" fmla="*/ 2520315 h 3617913"/>
                <a:gd name="T94" fmla="*/ 13970 w 3543300"/>
                <a:gd name="T95" fmla="*/ 2149158 h 3617913"/>
                <a:gd name="T96" fmla="*/ 334962 w 3543300"/>
                <a:gd name="T97" fmla="*/ 1915478 h 3617913"/>
                <a:gd name="T98" fmla="*/ 57467 w 3543300"/>
                <a:gd name="T99" fmla="*/ 1504633 h 3617913"/>
                <a:gd name="T100" fmla="*/ 635 w 3543300"/>
                <a:gd name="T101" fmla="*/ 1411288 h 3617913"/>
                <a:gd name="T102" fmla="*/ 134620 w 3543300"/>
                <a:gd name="T103" fmla="*/ 1058863 h 3617913"/>
                <a:gd name="T104" fmla="*/ 520382 w 3543300"/>
                <a:gd name="T105" fmla="*/ 1095375 h 3617913"/>
                <a:gd name="T106" fmla="*/ 742632 w 3543300"/>
                <a:gd name="T107" fmla="*/ 801052 h 3617913"/>
                <a:gd name="T108" fmla="*/ 558482 w 3543300"/>
                <a:gd name="T109" fmla="*/ 467677 h 3617913"/>
                <a:gd name="T110" fmla="*/ 862648 w 3543300"/>
                <a:gd name="T111" fmla="*/ 242252 h 3617913"/>
                <a:gd name="T112" fmla="*/ 955040 w 3543300"/>
                <a:gd name="T113" fmla="*/ 276542 h 3617913"/>
                <a:gd name="T114" fmla="*/ 1452245 w 3543300"/>
                <a:gd name="T115" fmla="*/ 404177 h 3617913"/>
                <a:gd name="T116" fmla="*/ 1557655 w 3543300"/>
                <a:gd name="T117" fmla="*/ 26352 h 3617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543300" h="3617913">
                  <a:moveTo>
                    <a:pt x="1752918" y="1088708"/>
                  </a:moveTo>
                  <a:lnTo>
                    <a:pt x="1734502" y="1089660"/>
                  </a:lnTo>
                  <a:lnTo>
                    <a:pt x="1716088" y="1090613"/>
                  </a:lnTo>
                  <a:lnTo>
                    <a:pt x="1697990" y="1092518"/>
                  </a:lnTo>
                  <a:lnTo>
                    <a:pt x="1679892" y="1094423"/>
                  </a:lnTo>
                  <a:lnTo>
                    <a:pt x="1662112" y="1097280"/>
                  </a:lnTo>
                  <a:lnTo>
                    <a:pt x="1644332" y="1100138"/>
                  </a:lnTo>
                  <a:lnTo>
                    <a:pt x="1626552" y="1103630"/>
                  </a:lnTo>
                  <a:lnTo>
                    <a:pt x="1608772" y="1107440"/>
                  </a:lnTo>
                  <a:lnTo>
                    <a:pt x="1591628" y="1111568"/>
                  </a:lnTo>
                  <a:lnTo>
                    <a:pt x="1574800" y="1116013"/>
                  </a:lnTo>
                  <a:lnTo>
                    <a:pt x="1557338" y="1121093"/>
                  </a:lnTo>
                  <a:lnTo>
                    <a:pt x="1540828" y="1126490"/>
                  </a:lnTo>
                  <a:lnTo>
                    <a:pt x="1524318" y="1132523"/>
                  </a:lnTo>
                  <a:lnTo>
                    <a:pt x="1507808" y="1138555"/>
                  </a:lnTo>
                  <a:lnTo>
                    <a:pt x="1491615" y="1145223"/>
                  </a:lnTo>
                  <a:lnTo>
                    <a:pt x="1475422" y="1152525"/>
                  </a:lnTo>
                  <a:lnTo>
                    <a:pt x="1459548" y="1159510"/>
                  </a:lnTo>
                  <a:lnTo>
                    <a:pt x="1443672" y="1167448"/>
                  </a:lnTo>
                  <a:lnTo>
                    <a:pt x="1428432" y="1175703"/>
                  </a:lnTo>
                  <a:lnTo>
                    <a:pt x="1413192" y="1183958"/>
                  </a:lnTo>
                  <a:lnTo>
                    <a:pt x="1398270" y="1193165"/>
                  </a:lnTo>
                  <a:lnTo>
                    <a:pt x="1383665" y="1202055"/>
                  </a:lnTo>
                  <a:lnTo>
                    <a:pt x="1368742" y="1211898"/>
                  </a:lnTo>
                  <a:lnTo>
                    <a:pt x="1354772" y="1221740"/>
                  </a:lnTo>
                  <a:lnTo>
                    <a:pt x="1340485" y="1231900"/>
                  </a:lnTo>
                  <a:lnTo>
                    <a:pt x="1327150" y="1242378"/>
                  </a:lnTo>
                  <a:lnTo>
                    <a:pt x="1313498" y="1253173"/>
                  </a:lnTo>
                  <a:lnTo>
                    <a:pt x="1300480" y="1264285"/>
                  </a:lnTo>
                  <a:lnTo>
                    <a:pt x="1287462" y="1275715"/>
                  </a:lnTo>
                  <a:lnTo>
                    <a:pt x="1274762" y="1287463"/>
                  </a:lnTo>
                  <a:lnTo>
                    <a:pt x="1262380" y="1299528"/>
                  </a:lnTo>
                  <a:lnTo>
                    <a:pt x="1250315" y="1311910"/>
                  </a:lnTo>
                  <a:lnTo>
                    <a:pt x="1238568" y="1324928"/>
                  </a:lnTo>
                  <a:lnTo>
                    <a:pt x="1227138" y="1337628"/>
                  </a:lnTo>
                  <a:lnTo>
                    <a:pt x="1215708" y="1350645"/>
                  </a:lnTo>
                  <a:lnTo>
                    <a:pt x="1205230" y="1364298"/>
                  </a:lnTo>
                  <a:lnTo>
                    <a:pt x="1194752" y="1377950"/>
                  </a:lnTo>
                  <a:lnTo>
                    <a:pt x="1183958" y="1392238"/>
                  </a:lnTo>
                  <a:lnTo>
                    <a:pt x="1174432" y="1406525"/>
                  </a:lnTo>
                  <a:lnTo>
                    <a:pt x="1164908" y="1420813"/>
                  </a:lnTo>
                  <a:lnTo>
                    <a:pt x="1155382" y="1435418"/>
                  </a:lnTo>
                  <a:lnTo>
                    <a:pt x="1146810" y="1450340"/>
                  </a:lnTo>
                  <a:lnTo>
                    <a:pt x="1138391" y="1465309"/>
                  </a:lnTo>
                  <a:lnTo>
                    <a:pt x="1130549" y="1480376"/>
                  </a:lnTo>
                  <a:lnTo>
                    <a:pt x="1122615" y="1496257"/>
                  </a:lnTo>
                  <a:lnTo>
                    <a:pt x="1114998" y="1512138"/>
                  </a:lnTo>
                  <a:lnTo>
                    <a:pt x="1108333" y="1528337"/>
                  </a:lnTo>
                  <a:lnTo>
                    <a:pt x="1101668" y="1544536"/>
                  </a:lnTo>
                  <a:lnTo>
                    <a:pt x="1095321" y="1561052"/>
                  </a:lnTo>
                  <a:lnTo>
                    <a:pt x="1089608" y="1577568"/>
                  </a:lnTo>
                  <a:lnTo>
                    <a:pt x="1083895" y="1594402"/>
                  </a:lnTo>
                  <a:lnTo>
                    <a:pt x="1079134" y="1611554"/>
                  </a:lnTo>
                  <a:lnTo>
                    <a:pt x="1074056" y="1628388"/>
                  </a:lnTo>
                  <a:lnTo>
                    <a:pt x="1069931" y="1646175"/>
                  </a:lnTo>
                  <a:lnTo>
                    <a:pt x="1066122" y="1663327"/>
                  </a:lnTo>
                  <a:lnTo>
                    <a:pt x="1062948" y="1681114"/>
                  </a:lnTo>
                  <a:lnTo>
                    <a:pt x="1059774" y="1698901"/>
                  </a:lnTo>
                  <a:lnTo>
                    <a:pt x="1057553" y="1717005"/>
                  </a:lnTo>
                  <a:lnTo>
                    <a:pt x="1055331" y="1735110"/>
                  </a:lnTo>
                  <a:lnTo>
                    <a:pt x="1053744" y="1753532"/>
                  </a:lnTo>
                  <a:lnTo>
                    <a:pt x="1052792" y="1771319"/>
                  </a:lnTo>
                  <a:lnTo>
                    <a:pt x="1051840" y="1790376"/>
                  </a:lnTo>
                  <a:lnTo>
                    <a:pt x="1051523" y="1808798"/>
                  </a:lnTo>
                  <a:lnTo>
                    <a:pt x="1051840" y="1827221"/>
                  </a:lnTo>
                  <a:lnTo>
                    <a:pt x="1052792" y="1845960"/>
                  </a:lnTo>
                  <a:lnTo>
                    <a:pt x="1053744" y="1864065"/>
                  </a:lnTo>
                  <a:lnTo>
                    <a:pt x="1055331" y="1882487"/>
                  </a:lnTo>
                  <a:lnTo>
                    <a:pt x="1057553" y="1900592"/>
                  </a:lnTo>
                  <a:lnTo>
                    <a:pt x="1059774" y="1918696"/>
                  </a:lnTo>
                  <a:lnTo>
                    <a:pt x="1062948" y="1936483"/>
                  </a:lnTo>
                  <a:lnTo>
                    <a:pt x="1066122" y="1953952"/>
                  </a:lnTo>
                  <a:lnTo>
                    <a:pt x="1069931" y="1971739"/>
                  </a:lnTo>
                  <a:lnTo>
                    <a:pt x="1074056" y="1988891"/>
                  </a:lnTo>
                  <a:lnTo>
                    <a:pt x="1079134" y="2006043"/>
                  </a:lnTo>
                  <a:lnTo>
                    <a:pt x="1083895" y="2022877"/>
                  </a:lnTo>
                  <a:lnTo>
                    <a:pt x="1089608" y="2039711"/>
                  </a:lnTo>
                  <a:lnTo>
                    <a:pt x="1095321" y="2056545"/>
                  </a:lnTo>
                  <a:lnTo>
                    <a:pt x="1101668" y="2073061"/>
                  </a:lnTo>
                  <a:lnTo>
                    <a:pt x="1108333" y="2089260"/>
                  </a:lnTo>
                  <a:lnTo>
                    <a:pt x="1114998" y="2105459"/>
                  </a:lnTo>
                  <a:lnTo>
                    <a:pt x="1122615" y="2121022"/>
                  </a:lnTo>
                  <a:lnTo>
                    <a:pt x="1130549" y="2136904"/>
                  </a:lnTo>
                  <a:lnTo>
                    <a:pt x="1138484" y="2152467"/>
                  </a:lnTo>
                  <a:lnTo>
                    <a:pt x="1147053" y="2167395"/>
                  </a:lnTo>
                  <a:lnTo>
                    <a:pt x="1155622" y="2182641"/>
                  </a:lnTo>
                  <a:lnTo>
                    <a:pt x="1165144" y="2197252"/>
                  </a:lnTo>
                  <a:lnTo>
                    <a:pt x="1174665" y="2211863"/>
                  </a:lnTo>
                  <a:lnTo>
                    <a:pt x="1184186" y="2225838"/>
                  </a:lnTo>
                  <a:lnTo>
                    <a:pt x="1194977" y="2240131"/>
                  </a:lnTo>
                  <a:lnTo>
                    <a:pt x="1205450" y="2253789"/>
                  </a:lnTo>
                  <a:lnTo>
                    <a:pt x="1215924" y="2267129"/>
                  </a:lnTo>
                  <a:lnTo>
                    <a:pt x="1227349" y="2280469"/>
                  </a:lnTo>
                  <a:lnTo>
                    <a:pt x="1238775" y="2293174"/>
                  </a:lnTo>
                  <a:lnTo>
                    <a:pt x="1250518" y="2305879"/>
                  </a:lnTo>
                  <a:lnTo>
                    <a:pt x="1262578" y="2318267"/>
                  </a:lnTo>
                  <a:lnTo>
                    <a:pt x="1274956" y="2330336"/>
                  </a:lnTo>
                  <a:lnTo>
                    <a:pt x="1287651" y="2342088"/>
                  </a:lnTo>
                  <a:lnTo>
                    <a:pt x="1300663" y="2353840"/>
                  </a:lnTo>
                  <a:lnTo>
                    <a:pt x="1313676" y="2364640"/>
                  </a:lnTo>
                  <a:lnTo>
                    <a:pt x="1327323" y="2375756"/>
                  </a:lnTo>
                  <a:lnTo>
                    <a:pt x="1340653" y="2386238"/>
                  </a:lnTo>
                  <a:lnTo>
                    <a:pt x="1354935" y="2396402"/>
                  </a:lnTo>
                  <a:lnTo>
                    <a:pt x="1368899" y="2406566"/>
                  </a:lnTo>
                  <a:lnTo>
                    <a:pt x="1383816" y="2415777"/>
                  </a:lnTo>
                  <a:lnTo>
                    <a:pt x="1398415" y="2424988"/>
                  </a:lnTo>
                  <a:lnTo>
                    <a:pt x="1413332" y="2433882"/>
                  </a:lnTo>
                  <a:lnTo>
                    <a:pt x="1428566" y="2442775"/>
                  </a:lnTo>
                  <a:lnTo>
                    <a:pt x="1443800" y="2450398"/>
                  </a:lnTo>
                  <a:lnTo>
                    <a:pt x="1459669" y="2458339"/>
                  </a:lnTo>
                  <a:lnTo>
                    <a:pt x="1475538" y="2465644"/>
                  </a:lnTo>
                  <a:lnTo>
                    <a:pt x="1491724" y="2472632"/>
                  </a:lnTo>
                  <a:lnTo>
                    <a:pt x="1507910" y="2479619"/>
                  </a:lnTo>
                  <a:lnTo>
                    <a:pt x="1524414" y="2485654"/>
                  </a:lnTo>
                  <a:lnTo>
                    <a:pt x="1540917" y="2491689"/>
                  </a:lnTo>
                  <a:lnTo>
                    <a:pt x="1557421" y="2496771"/>
                  </a:lnTo>
                  <a:lnTo>
                    <a:pt x="1574877" y="2502171"/>
                  </a:lnTo>
                  <a:lnTo>
                    <a:pt x="1591698" y="2506617"/>
                  </a:lnTo>
                  <a:lnTo>
                    <a:pt x="1608836" y="2510746"/>
                  </a:lnTo>
                  <a:lnTo>
                    <a:pt x="1626609" y="2514876"/>
                  </a:lnTo>
                  <a:lnTo>
                    <a:pt x="1644382" y="2518369"/>
                  </a:lnTo>
                  <a:lnTo>
                    <a:pt x="1662155" y="2520910"/>
                  </a:lnTo>
                  <a:lnTo>
                    <a:pt x="1679928" y="2523451"/>
                  </a:lnTo>
                  <a:lnTo>
                    <a:pt x="1698019" y="2525675"/>
                  </a:lnTo>
                  <a:lnTo>
                    <a:pt x="1716109" y="2527263"/>
                  </a:lnTo>
                  <a:lnTo>
                    <a:pt x="1734517" y="2528533"/>
                  </a:lnTo>
                  <a:lnTo>
                    <a:pt x="1752925" y="2529169"/>
                  </a:lnTo>
                  <a:lnTo>
                    <a:pt x="1771967" y="2529169"/>
                  </a:lnTo>
                  <a:lnTo>
                    <a:pt x="1790375" y="2529169"/>
                  </a:lnTo>
                  <a:lnTo>
                    <a:pt x="1808783" y="2528533"/>
                  </a:lnTo>
                  <a:lnTo>
                    <a:pt x="1827191" y="2527263"/>
                  </a:lnTo>
                  <a:lnTo>
                    <a:pt x="1845281" y="2525675"/>
                  </a:lnTo>
                  <a:lnTo>
                    <a:pt x="1863372" y="2523451"/>
                  </a:lnTo>
                  <a:lnTo>
                    <a:pt x="1881145" y="2520910"/>
                  </a:lnTo>
                  <a:lnTo>
                    <a:pt x="1898918" y="2518369"/>
                  </a:lnTo>
                  <a:lnTo>
                    <a:pt x="1916691" y="2514876"/>
                  </a:lnTo>
                  <a:lnTo>
                    <a:pt x="1934464" y="2510746"/>
                  </a:lnTo>
                  <a:lnTo>
                    <a:pt x="1951602" y="2506617"/>
                  </a:lnTo>
                  <a:lnTo>
                    <a:pt x="1969058" y="2502171"/>
                  </a:lnTo>
                  <a:lnTo>
                    <a:pt x="1985879" y="2496771"/>
                  </a:lnTo>
                  <a:lnTo>
                    <a:pt x="2002383" y="2491689"/>
                  </a:lnTo>
                  <a:lnTo>
                    <a:pt x="2019204" y="2485654"/>
                  </a:lnTo>
                  <a:lnTo>
                    <a:pt x="2035390" y="2479619"/>
                  </a:lnTo>
                  <a:lnTo>
                    <a:pt x="2051894" y="2472632"/>
                  </a:lnTo>
                  <a:lnTo>
                    <a:pt x="2067762" y="2465644"/>
                  </a:lnTo>
                  <a:lnTo>
                    <a:pt x="2083631" y="2458339"/>
                  </a:lnTo>
                  <a:lnTo>
                    <a:pt x="2099500" y="2450398"/>
                  </a:lnTo>
                  <a:lnTo>
                    <a:pt x="2114734" y="2442775"/>
                  </a:lnTo>
                  <a:lnTo>
                    <a:pt x="2129968" y="2433882"/>
                  </a:lnTo>
                  <a:lnTo>
                    <a:pt x="2144885" y="2424988"/>
                  </a:lnTo>
                  <a:lnTo>
                    <a:pt x="2159484" y="2415777"/>
                  </a:lnTo>
                  <a:lnTo>
                    <a:pt x="2174401" y="2406566"/>
                  </a:lnTo>
                  <a:lnTo>
                    <a:pt x="2188683" y="2396402"/>
                  </a:lnTo>
                  <a:lnTo>
                    <a:pt x="2202647" y="2386238"/>
                  </a:lnTo>
                  <a:lnTo>
                    <a:pt x="2215977" y="2375756"/>
                  </a:lnTo>
                  <a:lnTo>
                    <a:pt x="2229624" y="2364640"/>
                  </a:lnTo>
                  <a:lnTo>
                    <a:pt x="2242637" y="2353840"/>
                  </a:lnTo>
                  <a:lnTo>
                    <a:pt x="2255966" y="2342088"/>
                  </a:lnTo>
                  <a:lnTo>
                    <a:pt x="2268344" y="2330336"/>
                  </a:lnTo>
                  <a:lnTo>
                    <a:pt x="2280722" y="2318267"/>
                  </a:lnTo>
                  <a:lnTo>
                    <a:pt x="2292782" y="2305879"/>
                  </a:lnTo>
                  <a:lnTo>
                    <a:pt x="2304525" y="2293174"/>
                  </a:lnTo>
                  <a:lnTo>
                    <a:pt x="2315951" y="2280469"/>
                  </a:lnTo>
                  <a:lnTo>
                    <a:pt x="2327376" y="2267129"/>
                  </a:lnTo>
                  <a:lnTo>
                    <a:pt x="2338167" y="2253789"/>
                  </a:lnTo>
                  <a:lnTo>
                    <a:pt x="2348958" y="2240131"/>
                  </a:lnTo>
                  <a:lnTo>
                    <a:pt x="2359114" y="2225838"/>
                  </a:lnTo>
                  <a:lnTo>
                    <a:pt x="2368635" y="2211863"/>
                  </a:lnTo>
                  <a:lnTo>
                    <a:pt x="2378156" y="2197252"/>
                  </a:lnTo>
                  <a:lnTo>
                    <a:pt x="2387678" y="2182641"/>
                  </a:lnTo>
                  <a:lnTo>
                    <a:pt x="2396247" y="2167395"/>
                  </a:lnTo>
                  <a:lnTo>
                    <a:pt x="2404816" y="2152467"/>
                  </a:lnTo>
                  <a:lnTo>
                    <a:pt x="2412750" y="2136904"/>
                  </a:lnTo>
                  <a:lnTo>
                    <a:pt x="2420685" y="2121022"/>
                  </a:lnTo>
                  <a:lnTo>
                    <a:pt x="2428302" y="2105459"/>
                  </a:lnTo>
                  <a:lnTo>
                    <a:pt x="2434967" y="2089260"/>
                  </a:lnTo>
                  <a:lnTo>
                    <a:pt x="2441632" y="2073061"/>
                  </a:lnTo>
                  <a:lnTo>
                    <a:pt x="2447979" y="2056545"/>
                  </a:lnTo>
                  <a:lnTo>
                    <a:pt x="2453692" y="2039711"/>
                  </a:lnTo>
                  <a:lnTo>
                    <a:pt x="2459405" y="2022877"/>
                  </a:lnTo>
                  <a:lnTo>
                    <a:pt x="2464166" y="2006043"/>
                  </a:lnTo>
                  <a:lnTo>
                    <a:pt x="2469244" y="1988891"/>
                  </a:lnTo>
                  <a:lnTo>
                    <a:pt x="2473370" y="1971739"/>
                  </a:lnTo>
                  <a:lnTo>
                    <a:pt x="2477178" y="1953952"/>
                  </a:lnTo>
                  <a:lnTo>
                    <a:pt x="2480352" y="1936483"/>
                  </a:lnTo>
                  <a:lnTo>
                    <a:pt x="2483526" y="1918696"/>
                  </a:lnTo>
                  <a:lnTo>
                    <a:pt x="2486064" y="1900592"/>
                  </a:lnTo>
                  <a:lnTo>
                    <a:pt x="2487969" y="1882487"/>
                  </a:lnTo>
                  <a:lnTo>
                    <a:pt x="2489556" y="1864065"/>
                  </a:lnTo>
                  <a:lnTo>
                    <a:pt x="2490508" y="1845960"/>
                  </a:lnTo>
                  <a:lnTo>
                    <a:pt x="2491460" y="1827221"/>
                  </a:lnTo>
                  <a:lnTo>
                    <a:pt x="2491777" y="1808798"/>
                  </a:lnTo>
                  <a:lnTo>
                    <a:pt x="2491460" y="1790376"/>
                  </a:lnTo>
                  <a:lnTo>
                    <a:pt x="2490508" y="1771319"/>
                  </a:lnTo>
                  <a:lnTo>
                    <a:pt x="2489556" y="1753532"/>
                  </a:lnTo>
                  <a:lnTo>
                    <a:pt x="2487969" y="1735110"/>
                  </a:lnTo>
                  <a:lnTo>
                    <a:pt x="2486064" y="1717005"/>
                  </a:lnTo>
                  <a:lnTo>
                    <a:pt x="2483526" y="1698901"/>
                  </a:lnTo>
                  <a:lnTo>
                    <a:pt x="2480352" y="1681114"/>
                  </a:lnTo>
                  <a:lnTo>
                    <a:pt x="2477178" y="1663327"/>
                  </a:lnTo>
                  <a:lnTo>
                    <a:pt x="2473370" y="1646175"/>
                  </a:lnTo>
                  <a:lnTo>
                    <a:pt x="2469244" y="1628388"/>
                  </a:lnTo>
                  <a:lnTo>
                    <a:pt x="2464166" y="1611554"/>
                  </a:lnTo>
                  <a:lnTo>
                    <a:pt x="2459405" y="1594402"/>
                  </a:lnTo>
                  <a:lnTo>
                    <a:pt x="2453692" y="1577568"/>
                  </a:lnTo>
                  <a:lnTo>
                    <a:pt x="2447979" y="1561052"/>
                  </a:lnTo>
                  <a:lnTo>
                    <a:pt x="2441632" y="1544536"/>
                  </a:lnTo>
                  <a:lnTo>
                    <a:pt x="2434967" y="1528337"/>
                  </a:lnTo>
                  <a:lnTo>
                    <a:pt x="2428302" y="1512138"/>
                  </a:lnTo>
                  <a:lnTo>
                    <a:pt x="2420685" y="1496257"/>
                  </a:lnTo>
                  <a:lnTo>
                    <a:pt x="2412750" y="1480376"/>
                  </a:lnTo>
                  <a:lnTo>
                    <a:pt x="2404909" y="1465308"/>
                  </a:lnTo>
                  <a:lnTo>
                    <a:pt x="2396490" y="1450340"/>
                  </a:lnTo>
                  <a:lnTo>
                    <a:pt x="2387918" y="1435418"/>
                  </a:lnTo>
                  <a:lnTo>
                    <a:pt x="2378392" y="1420813"/>
                  </a:lnTo>
                  <a:lnTo>
                    <a:pt x="2368868" y="1406525"/>
                  </a:lnTo>
                  <a:lnTo>
                    <a:pt x="2359342" y="1392238"/>
                  </a:lnTo>
                  <a:lnTo>
                    <a:pt x="2349182" y="1377950"/>
                  </a:lnTo>
                  <a:lnTo>
                    <a:pt x="2338388" y="1364298"/>
                  </a:lnTo>
                  <a:lnTo>
                    <a:pt x="2327592" y="1350645"/>
                  </a:lnTo>
                  <a:lnTo>
                    <a:pt x="2316162" y="1337628"/>
                  </a:lnTo>
                  <a:lnTo>
                    <a:pt x="2304732" y="1324928"/>
                  </a:lnTo>
                  <a:lnTo>
                    <a:pt x="2292985" y="1311910"/>
                  </a:lnTo>
                  <a:lnTo>
                    <a:pt x="2280920" y="1299528"/>
                  </a:lnTo>
                  <a:lnTo>
                    <a:pt x="2268538" y="1287463"/>
                  </a:lnTo>
                  <a:lnTo>
                    <a:pt x="2256155" y="1275715"/>
                  </a:lnTo>
                  <a:lnTo>
                    <a:pt x="2242820" y="1264285"/>
                  </a:lnTo>
                  <a:lnTo>
                    <a:pt x="2229802" y="1253173"/>
                  </a:lnTo>
                  <a:lnTo>
                    <a:pt x="2216150" y="1242378"/>
                  </a:lnTo>
                  <a:lnTo>
                    <a:pt x="2202815" y="1231900"/>
                  </a:lnTo>
                  <a:lnTo>
                    <a:pt x="2188845" y="1221740"/>
                  </a:lnTo>
                  <a:lnTo>
                    <a:pt x="2174558" y="1211898"/>
                  </a:lnTo>
                  <a:lnTo>
                    <a:pt x="2159635" y="1202055"/>
                  </a:lnTo>
                  <a:lnTo>
                    <a:pt x="2145030" y="1193165"/>
                  </a:lnTo>
                  <a:lnTo>
                    <a:pt x="2130108" y="1183958"/>
                  </a:lnTo>
                  <a:lnTo>
                    <a:pt x="2114868" y="1175703"/>
                  </a:lnTo>
                  <a:lnTo>
                    <a:pt x="2099628" y="1167448"/>
                  </a:lnTo>
                  <a:lnTo>
                    <a:pt x="2083752" y="1159510"/>
                  </a:lnTo>
                  <a:lnTo>
                    <a:pt x="2067878" y="1152525"/>
                  </a:lnTo>
                  <a:lnTo>
                    <a:pt x="2052002" y="1145223"/>
                  </a:lnTo>
                  <a:lnTo>
                    <a:pt x="2035492" y="1138555"/>
                  </a:lnTo>
                  <a:lnTo>
                    <a:pt x="2019300" y="1132523"/>
                  </a:lnTo>
                  <a:lnTo>
                    <a:pt x="2002472" y="1126490"/>
                  </a:lnTo>
                  <a:lnTo>
                    <a:pt x="1985962" y="1121093"/>
                  </a:lnTo>
                  <a:lnTo>
                    <a:pt x="1969135" y="1116013"/>
                  </a:lnTo>
                  <a:lnTo>
                    <a:pt x="1951672" y="1111568"/>
                  </a:lnTo>
                  <a:lnTo>
                    <a:pt x="1934528" y="1107440"/>
                  </a:lnTo>
                  <a:lnTo>
                    <a:pt x="1916748" y="1103630"/>
                  </a:lnTo>
                  <a:lnTo>
                    <a:pt x="1898968" y="1100138"/>
                  </a:lnTo>
                  <a:lnTo>
                    <a:pt x="1881188" y="1097280"/>
                  </a:lnTo>
                  <a:lnTo>
                    <a:pt x="1863408" y="1094423"/>
                  </a:lnTo>
                  <a:lnTo>
                    <a:pt x="1845310" y="1092518"/>
                  </a:lnTo>
                  <a:lnTo>
                    <a:pt x="1827212" y="1090613"/>
                  </a:lnTo>
                  <a:lnTo>
                    <a:pt x="1808798" y="1089660"/>
                  </a:lnTo>
                  <a:lnTo>
                    <a:pt x="1790382" y="1088708"/>
                  </a:lnTo>
                  <a:lnTo>
                    <a:pt x="1771968" y="1088708"/>
                  </a:lnTo>
                  <a:lnTo>
                    <a:pt x="1752918" y="1088708"/>
                  </a:lnTo>
                  <a:close/>
                  <a:moveTo>
                    <a:pt x="1615758" y="0"/>
                  </a:moveTo>
                  <a:lnTo>
                    <a:pt x="1620520" y="0"/>
                  </a:lnTo>
                  <a:lnTo>
                    <a:pt x="1922780" y="0"/>
                  </a:lnTo>
                  <a:lnTo>
                    <a:pt x="1927225" y="0"/>
                  </a:lnTo>
                  <a:lnTo>
                    <a:pt x="1931670" y="317"/>
                  </a:lnTo>
                  <a:lnTo>
                    <a:pt x="1936115" y="952"/>
                  </a:lnTo>
                  <a:lnTo>
                    <a:pt x="1940878" y="1905"/>
                  </a:lnTo>
                  <a:lnTo>
                    <a:pt x="1949450" y="4127"/>
                  </a:lnTo>
                  <a:lnTo>
                    <a:pt x="1957705" y="6985"/>
                  </a:lnTo>
                  <a:lnTo>
                    <a:pt x="1965325" y="10795"/>
                  </a:lnTo>
                  <a:lnTo>
                    <a:pt x="1972628" y="14922"/>
                  </a:lnTo>
                  <a:lnTo>
                    <a:pt x="1979612" y="20320"/>
                  </a:lnTo>
                  <a:lnTo>
                    <a:pt x="1985962" y="26035"/>
                  </a:lnTo>
                  <a:lnTo>
                    <a:pt x="1991678" y="32385"/>
                  </a:lnTo>
                  <a:lnTo>
                    <a:pt x="1996758" y="39052"/>
                  </a:lnTo>
                  <a:lnTo>
                    <a:pt x="2001202" y="46672"/>
                  </a:lnTo>
                  <a:lnTo>
                    <a:pt x="2005012" y="54610"/>
                  </a:lnTo>
                  <a:lnTo>
                    <a:pt x="2007870" y="62230"/>
                  </a:lnTo>
                  <a:lnTo>
                    <a:pt x="2010092" y="71120"/>
                  </a:lnTo>
                  <a:lnTo>
                    <a:pt x="2010728" y="75565"/>
                  </a:lnTo>
                  <a:lnTo>
                    <a:pt x="2011362" y="80010"/>
                  </a:lnTo>
                  <a:lnTo>
                    <a:pt x="2011998" y="84455"/>
                  </a:lnTo>
                  <a:lnTo>
                    <a:pt x="2011998" y="89217"/>
                  </a:lnTo>
                  <a:lnTo>
                    <a:pt x="2011998" y="388620"/>
                  </a:lnTo>
                  <a:lnTo>
                    <a:pt x="2038350" y="393065"/>
                  </a:lnTo>
                  <a:lnTo>
                    <a:pt x="2064702" y="398462"/>
                  </a:lnTo>
                  <a:lnTo>
                    <a:pt x="2091055" y="404177"/>
                  </a:lnTo>
                  <a:lnTo>
                    <a:pt x="2116772" y="410210"/>
                  </a:lnTo>
                  <a:lnTo>
                    <a:pt x="2142490" y="416877"/>
                  </a:lnTo>
                  <a:lnTo>
                    <a:pt x="2167890" y="423545"/>
                  </a:lnTo>
                  <a:lnTo>
                    <a:pt x="2193608" y="431165"/>
                  </a:lnTo>
                  <a:lnTo>
                    <a:pt x="2218690" y="439102"/>
                  </a:lnTo>
                  <a:lnTo>
                    <a:pt x="2243772" y="447675"/>
                  </a:lnTo>
                  <a:lnTo>
                    <a:pt x="2268538" y="456247"/>
                  </a:lnTo>
                  <a:lnTo>
                    <a:pt x="2292985" y="465772"/>
                  </a:lnTo>
                  <a:lnTo>
                    <a:pt x="2317432" y="475615"/>
                  </a:lnTo>
                  <a:lnTo>
                    <a:pt x="2341562" y="485457"/>
                  </a:lnTo>
                  <a:lnTo>
                    <a:pt x="2365692" y="496252"/>
                  </a:lnTo>
                  <a:lnTo>
                    <a:pt x="2388870" y="507047"/>
                  </a:lnTo>
                  <a:lnTo>
                    <a:pt x="2412682" y="518477"/>
                  </a:lnTo>
                  <a:lnTo>
                    <a:pt x="2588260" y="276542"/>
                  </a:lnTo>
                  <a:lnTo>
                    <a:pt x="2591435" y="272732"/>
                  </a:lnTo>
                  <a:lnTo>
                    <a:pt x="2593975" y="269240"/>
                  </a:lnTo>
                  <a:lnTo>
                    <a:pt x="2597468" y="266065"/>
                  </a:lnTo>
                  <a:lnTo>
                    <a:pt x="2600325" y="262890"/>
                  </a:lnTo>
                  <a:lnTo>
                    <a:pt x="2606992" y="257175"/>
                  </a:lnTo>
                  <a:lnTo>
                    <a:pt x="2614295" y="252412"/>
                  </a:lnTo>
                  <a:lnTo>
                    <a:pt x="2621915" y="248602"/>
                  </a:lnTo>
                  <a:lnTo>
                    <a:pt x="2629852" y="245110"/>
                  </a:lnTo>
                  <a:lnTo>
                    <a:pt x="2638108" y="242570"/>
                  </a:lnTo>
                  <a:lnTo>
                    <a:pt x="2646362" y="240665"/>
                  </a:lnTo>
                  <a:lnTo>
                    <a:pt x="2654935" y="240030"/>
                  </a:lnTo>
                  <a:lnTo>
                    <a:pt x="2663508" y="240030"/>
                  </a:lnTo>
                  <a:lnTo>
                    <a:pt x="2671762" y="240665"/>
                  </a:lnTo>
                  <a:lnTo>
                    <a:pt x="2680652" y="242252"/>
                  </a:lnTo>
                  <a:lnTo>
                    <a:pt x="2688908" y="244475"/>
                  </a:lnTo>
                  <a:lnTo>
                    <a:pt x="2697162" y="247967"/>
                  </a:lnTo>
                  <a:lnTo>
                    <a:pt x="2705100" y="251777"/>
                  </a:lnTo>
                  <a:lnTo>
                    <a:pt x="2709228" y="254317"/>
                  </a:lnTo>
                  <a:lnTo>
                    <a:pt x="2712720" y="256857"/>
                  </a:lnTo>
                  <a:lnTo>
                    <a:pt x="2957512" y="434022"/>
                  </a:lnTo>
                  <a:lnTo>
                    <a:pt x="2960688" y="437197"/>
                  </a:lnTo>
                  <a:lnTo>
                    <a:pt x="2964498" y="439737"/>
                  </a:lnTo>
                  <a:lnTo>
                    <a:pt x="2967672" y="443230"/>
                  </a:lnTo>
                  <a:lnTo>
                    <a:pt x="2970848" y="446087"/>
                  </a:lnTo>
                  <a:lnTo>
                    <a:pt x="2976245" y="453072"/>
                  </a:lnTo>
                  <a:lnTo>
                    <a:pt x="2981008" y="460375"/>
                  </a:lnTo>
                  <a:lnTo>
                    <a:pt x="2985452" y="467995"/>
                  </a:lnTo>
                  <a:lnTo>
                    <a:pt x="2988628" y="475932"/>
                  </a:lnTo>
                  <a:lnTo>
                    <a:pt x="2991168" y="484187"/>
                  </a:lnTo>
                  <a:lnTo>
                    <a:pt x="2992755" y="492442"/>
                  </a:lnTo>
                  <a:lnTo>
                    <a:pt x="2994025" y="501015"/>
                  </a:lnTo>
                  <a:lnTo>
                    <a:pt x="2994025" y="509270"/>
                  </a:lnTo>
                  <a:lnTo>
                    <a:pt x="2993072" y="518160"/>
                  </a:lnTo>
                  <a:lnTo>
                    <a:pt x="2991802" y="526732"/>
                  </a:lnTo>
                  <a:lnTo>
                    <a:pt x="2988945" y="534987"/>
                  </a:lnTo>
                  <a:lnTo>
                    <a:pt x="2986088" y="543242"/>
                  </a:lnTo>
                  <a:lnTo>
                    <a:pt x="2981960" y="551180"/>
                  </a:lnTo>
                  <a:lnTo>
                    <a:pt x="2979738" y="554990"/>
                  </a:lnTo>
                  <a:lnTo>
                    <a:pt x="2976880" y="558800"/>
                  </a:lnTo>
                  <a:lnTo>
                    <a:pt x="2800985" y="801052"/>
                  </a:lnTo>
                  <a:lnTo>
                    <a:pt x="2819082" y="819785"/>
                  </a:lnTo>
                  <a:lnTo>
                    <a:pt x="2837180" y="839470"/>
                  </a:lnTo>
                  <a:lnTo>
                    <a:pt x="2854642" y="858837"/>
                  </a:lnTo>
                  <a:lnTo>
                    <a:pt x="2871788" y="878840"/>
                  </a:lnTo>
                  <a:lnTo>
                    <a:pt x="2888615" y="899160"/>
                  </a:lnTo>
                  <a:lnTo>
                    <a:pt x="2905125" y="919797"/>
                  </a:lnTo>
                  <a:lnTo>
                    <a:pt x="2921318" y="940752"/>
                  </a:lnTo>
                  <a:lnTo>
                    <a:pt x="2937192" y="962025"/>
                  </a:lnTo>
                  <a:lnTo>
                    <a:pt x="2952432" y="983615"/>
                  </a:lnTo>
                  <a:lnTo>
                    <a:pt x="2967672" y="1005205"/>
                  </a:lnTo>
                  <a:lnTo>
                    <a:pt x="2981960" y="1027113"/>
                  </a:lnTo>
                  <a:lnTo>
                    <a:pt x="2996248" y="1049655"/>
                  </a:lnTo>
                  <a:lnTo>
                    <a:pt x="3010218" y="1072198"/>
                  </a:lnTo>
                  <a:lnTo>
                    <a:pt x="3023235" y="1095375"/>
                  </a:lnTo>
                  <a:lnTo>
                    <a:pt x="3036570" y="1118553"/>
                  </a:lnTo>
                  <a:lnTo>
                    <a:pt x="3048952" y="1142048"/>
                  </a:lnTo>
                  <a:lnTo>
                    <a:pt x="3333115" y="1049338"/>
                  </a:lnTo>
                  <a:lnTo>
                    <a:pt x="3337560" y="1048068"/>
                  </a:lnTo>
                  <a:lnTo>
                    <a:pt x="3342005" y="1047115"/>
                  </a:lnTo>
                  <a:lnTo>
                    <a:pt x="3346450" y="1046480"/>
                  </a:lnTo>
                  <a:lnTo>
                    <a:pt x="3350578" y="1045528"/>
                  </a:lnTo>
                  <a:lnTo>
                    <a:pt x="3359785" y="1044893"/>
                  </a:lnTo>
                  <a:lnTo>
                    <a:pt x="3368358" y="1045210"/>
                  </a:lnTo>
                  <a:lnTo>
                    <a:pt x="3376930" y="1046480"/>
                  </a:lnTo>
                  <a:lnTo>
                    <a:pt x="3385185" y="1048068"/>
                  </a:lnTo>
                  <a:lnTo>
                    <a:pt x="3393440" y="1051243"/>
                  </a:lnTo>
                  <a:lnTo>
                    <a:pt x="3401060" y="1054735"/>
                  </a:lnTo>
                  <a:lnTo>
                    <a:pt x="3408680" y="1058863"/>
                  </a:lnTo>
                  <a:lnTo>
                    <a:pt x="3415665" y="1063625"/>
                  </a:lnTo>
                  <a:lnTo>
                    <a:pt x="3422017" y="1069340"/>
                  </a:lnTo>
                  <a:lnTo>
                    <a:pt x="3428048" y="1075690"/>
                  </a:lnTo>
                  <a:lnTo>
                    <a:pt x="3433445" y="1082358"/>
                  </a:lnTo>
                  <a:lnTo>
                    <a:pt x="3438208" y="1089978"/>
                  </a:lnTo>
                  <a:lnTo>
                    <a:pt x="3442335" y="1097915"/>
                  </a:lnTo>
                  <a:lnTo>
                    <a:pt x="3443922" y="1102043"/>
                  </a:lnTo>
                  <a:lnTo>
                    <a:pt x="3445510" y="1106488"/>
                  </a:lnTo>
                  <a:lnTo>
                    <a:pt x="3538855" y="1393508"/>
                  </a:lnTo>
                  <a:lnTo>
                    <a:pt x="3539808" y="1397635"/>
                  </a:lnTo>
                  <a:lnTo>
                    <a:pt x="3541078" y="1402398"/>
                  </a:lnTo>
                  <a:lnTo>
                    <a:pt x="3542030" y="1406843"/>
                  </a:lnTo>
                  <a:lnTo>
                    <a:pt x="3542665" y="1411288"/>
                  </a:lnTo>
                  <a:lnTo>
                    <a:pt x="3543300" y="1419860"/>
                  </a:lnTo>
                  <a:lnTo>
                    <a:pt x="3542982" y="1428750"/>
                  </a:lnTo>
                  <a:lnTo>
                    <a:pt x="3541712" y="1437323"/>
                  </a:lnTo>
                  <a:lnTo>
                    <a:pt x="3539808" y="1445578"/>
                  </a:lnTo>
                  <a:lnTo>
                    <a:pt x="3537268" y="1453833"/>
                  </a:lnTo>
                  <a:lnTo>
                    <a:pt x="3533458" y="1461453"/>
                  </a:lnTo>
                  <a:lnTo>
                    <a:pt x="3529330" y="1468755"/>
                  </a:lnTo>
                  <a:lnTo>
                    <a:pt x="3524568" y="1476058"/>
                  </a:lnTo>
                  <a:lnTo>
                    <a:pt x="3518852" y="1482408"/>
                  </a:lnTo>
                  <a:lnTo>
                    <a:pt x="3512502" y="1488440"/>
                  </a:lnTo>
                  <a:lnTo>
                    <a:pt x="3505518" y="1494155"/>
                  </a:lnTo>
                  <a:lnTo>
                    <a:pt x="3498215" y="1498600"/>
                  </a:lnTo>
                  <a:lnTo>
                    <a:pt x="3490278" y="1502728"/>
                  </a:lnTo>
                  <a:lnTo>
                    <a:pt x="3486150" y="1504633"/>
                  </a:lnTo>
                  <a:lnTo>
                    <a:pt x="3481705" y="1506220"/>
                  </a:lnTo>
                  <a:lnTo>
                    <a:pt x="3197225" y="1598295"/>
                  </a:lnTo>
                  <a:lnTo>
                    <a:pt x="3200400" y="1624330"/>
                  </a:lnTo>
                  <a:lnTo>
                    <a:pt x="3203892" y="1650365"/>
                  </a:lnTo>
                  <a:lnTo>
                    <a:pt x="3206115" y="1676718"/>
                  </a:lnTo>
                  <a:lnTo>
                    <a:pt x="3208338" y="1703070"/>
                  </a:lnTo>
                  <a:lnTo>
                    <a:pt x="3210242" y="1729423"/>
                  </a:lnTo>
                  <a:lnTo>
                    <a:pt x="3211512" y="1755775"/>
                  </a:lnTo>
                  <a:lnTo>
                    <a:pt x="3212148" y="1782445"/>
                  </a:lnTo>
                  <a:lnTo>
                    <a:pt x="3212465" y="1809115"/>
                  </a:lnTo>
                  <a:lnTo>
                    <a:pt x="3212148" y="1835785"/>
                  </a:lnTo>
                  <a:lnTo>
                    <a:pt x="3211512" y="1862455"/>
                  </a:lnTo>
                  <a:lnTo>
                    <a:pt x="3210242" y="1889125"/>
                  </a:lnTo>
                  <a:lnTo>
                    <a:pt x="3208338" y="1915478"/>
                  </a:lnTo>
                  <a:lnTo>
                    <a:pt x="3206115" y="1941830"/>
                  </a:lnTo>
                  <a:lnTo>
                    <a:pt x="3203892" y="1967865"/>
                  </a:lnTo>
                  <a:lnTo>
                    <a:pt x="3200400" y="1993900"/>
                  </a:lnTo>
                  <a:lnTo>
                    <a:pt x="3197225" y="2019618"/>
                  </a:lnTo>
                  <a:lnTo>
                    <a:pt x="3481705" y="2112328"/>
                  </a:lnTo>
                  <a:lnTo>
                    <a:pt x="3486150" y="2113915"/>
                  </a:lnTo>
                  <a:lnTo>
                    <a:pt x="3490278" y="2115820"/>
                  </a:lnTo>
                  <a:lnTo>
                    <a:pt x="3498215" y="2119630"/>
                  </a:lnTo>
                  <a:lnTo>
                    <a:pt x="3505518" y="2124393"/>
                  </a:lnTo>
                  <a:lnTo>
                    <a:pt x="3512502" y="2129790"/>
                  </a:lnTo>
                  <a:lnTo>
                    <a:pt x="3518852" y="2135505"/>
                  </a:lnTo>
                  <a:lnTo>
                    <a:pt x="3524568" y="2142173"/>
                  </a:lnTo>
                  <a:lnTo>
                    <a:pt x="3529330" y="2149158"/>
                  </a:lnTo>
                  <a:lnTo>
                    <a:pt x="3533458" y="2156778"/>
                  </a:lnTo>
                  <a:lnTo>
                    <a:pt x="3537268" y="2164398"/>
                  </a:lnTo>
                  <a:lnTo>
                    <a:pt x="3539808" y="2172653"/>
                  </a:lnTo>
                  <a:lnTo>
                    <a:pt x="3541712" y="2180908"/>
                  </a:lnTo>
                  <a:lnTo>
                    <a:pt x="3542982" y="2189480"/>
                  </a:lnTo>
                  <a:lnTo>
                    <a:pt x="3543300" y="2198053"/>
                  </a:lnTo>
                  <a:lnTo>
                    <a:pt x="3542665" y="2206625"/>
                  </a:lnTo>
                  <a:lnTo>
                    <a:pt x="3542030" y="2211388"/>
                  </a:lnTo>
                  <a:lnTo>
                    <a:pt x="3541078" y="2215833"/>
                  </a:lnTo>
                  <a:lnTo>
                    <a:pt x="3539808" y="2220278"/>
                  </a:lnTo>
                  <a:lnTo>
                    <a:pt x="3538855" y="2224405"/>
                  </a:lnTo>
                  <a:lnTo>
                    <a:pt x="3445510" y="2512060"/>
                  </a:lnTo>
                  <a:lnTo>
                    <a:pt x="3443922" y="2516188"/>
                  </a:lnTo>
                  <a:lnTo>
                    <a:pt x="3442335" y="2520315"/>
                  </a:lnTo>
                  <a:lnTo>
                    <a:pt x="3438208" y="2528253"/>
                  </a:lnTo>
                  <a:lnTo>
                    <a:pt x="3433445" y="2535555"/>
                  </a:lnTo>
                  <a:lnTo>
                    <a:pt x="3428048" y="2542540"/>
                  </a:lnTo>
                  <a:lnTo>
                    <a:pt x="3422017" y="2548890"/>
                  </a:lnTo>
                  <a:lnTo>
                    <a:pt x="3415665" y="2554605"/>
                  </a:lnTo>
                  <a:lnTo>
                    <a:pt x="3408680" y="2559368"/>
                  </a:lnTo>
                  <a:lnTo>
                    <a:pt x="3401060" y="2563495"/>
                  </a:lnTo>
                  <a:lnTo>
                    <a:pt x="3393440" y="2567305"/>
                  </a:lnTo>
                  <a:lnTo>
                    <a:pt x="3385185" y="2569845"/>
                  </a:lnTo>
                  <a:lnTo>
                    <a:pt x="3376930" y="2571750"/>
                  </a:lnTo>
                  <a:lnTo>
                    <a:pt x="3368358" y="2573020"/>
                  </a:lnTo>
                  <a:lnTo>
                    <a:pt x="3359785" y="2573338"/>
                  </a:lnTo>
                  <a:lnTo>
                    <a:pt x="3350578" y="2573020"/>
                  </a:lnTo>
                  <a:lnTo>
                    <a:pt x="3346450" y="2572068"/>
                  </a:lnTo>
                  <a:lnTo>
                    <a:pt x="3342005" y="2571433"/>
                  </a:lnTo>
                  <a:lnTo>
                    <a:pt x="3337560" y="2570163"/>
                  </a:lnTo>
                  <a:lnTo>
                    <a:pt x="3333115" y="2568893"/>
                  </a:lnTo>
                  <a:lnTo>
                    <a:pt x="3048952" y="2476500"/>
                  </a:lnTo>
                  <a:lnTo>
                    <a:pt x="3035935" y="2499995"/>
                  </a:lnTo>
                  <a:lnTo>
                    <a:pt x="3023235" y="2523173"/>
                  </a:lnTo>
                  <a:lnTo>
                    <a:pt x="3009900" y="2546033"/>
                  </a:lnTo>
                  <a:lnTo>
                    <a:pt x="2996248" y="2568893"/>
                  </a:lnTo>
                  <a:lnTo>
                    <a:pt x="2981960" y="2590800"/>
                  </a:lnTo>
                  <a:lnTo>
                    <a:pt x="2967355" y="2613025"/>
                  </a:lnTo>
                  <a:lnTo>
                    <a:pt x="2952115" y="2634933"/>
                  </a:lnTo>
                  <a:lnTo>
                    <a:pt x="2936875" y="2656523"/>
                  </a:lnTo>
                  <a:lnTo>
                    <a:pt x="2921318" y="2677478"/>
                  </a:lnTo>
                  <a:lnTo>
                    <a:pt x="2905125" y="2698115"/>
                  </a:lnTo>
                  <a:lnTo>
                    <a:pt x="2888615" y="2718753"/>
                  </a:lnTo>
                  <a:lnTo>
                    <a:pt x="2871788" y="2739073"/>
                  </a:lnTo>
                  <a:lnTo>
                    <a:pt x="2854325" y="2759076"/>
                  </a:lnTo>
                  <a:lnTo>
                    <a:pt x="2837180" y="2778761"/>
                  </a:lnTo>
                  <a:lnTo>
                    <a:pt x="2819082" y="2797811"/>
                  </a:lnTo>
                  <a:lnTo>
                    <a:pt x="2800985" y="2817178"/>
                  </a:lnTo>
                  <a:lnTo>
                    <a:pt x="2976880" y="3059431"/>
                  </a:lnTo>
                  <a:lnTo>
                    <a:pt x="2979738" y="3063241"/>
                  </a:lnTo>
                  <a:lnTo>
                    <a:pt x="2981960" y="3067368"/>
                  </a:lnTo>
                  <a:lnTo>
                    <a:pt x="2986088" y="3075306"/>
                  </a:lnTo>
                  <a:lnTo>
                    <a:pt x="2988945" y="3083243"/>
                  </a:lnTo>
                  <a:lnTo>
                    <a:pt x="2991802" y="3091816"/>
                  </a:lnTo>
                  <a:lnTo>
                    <a:pt x="2993072" y="3100071"/>
                  </a:lnTo>
                  <a:lnTo>
                    <a:pt x="2994025" y="3108643"/>
                  </a:lnTo>
                  <a:lnTo>
                    <a:pt x="2994025" y="3117216"/>
                  </a:lnTo>
                  <a:lnTo>
                    <a:pt x="2992755" y="3125788"/>
                  </a:lnTo>
                  <a:lnTo>
                    <a:pt x="2991168" y="3134043"/>
                  </a:lnTo>
                  <a:lnTo>
                    <a:pt x="2988628" y="3142298"/>
                  </a:lnTo>
                  <a:lnTo>
                    <a:pt x="2985770" y="3150236"/>
                  </a:lnTo>
                  <a:lnTo>
                    <a:pt x="2981642" y="3157538"/>
                  </a:lnTo>
                  <a:lnTo>
                    <a:pt x="2976562" y="3165158"/>
                  </a:lnTo>
                  <a:lnTo>
                    <a:pt x="2970848" y="3171826"/>
                  </a:lnTo>
                  <a:lnTo>
                    <a:pt x="2967990" y="3175001"/>
                  </a:lnTo>
                  <a:lnTo>
                    <a:pt x="2964498" y="3177858"/>
                  </a:lnTo>
                  <a:lnTo>
                    <a:pt x="2961322" y="3181033"/>
                  </a:lnTo>
                  <a:lnTo>
                    <a:pt x="2957512" y="3183573"/>
                  </a:lnTo>
                  <a:lnTo>
                    <a:pt x="2712720" y="3361056"/>
                  </a:lnTo>
                  <a:lnTo>
                    <a:pt x="2709228" y="3363913"/>
                  </a:lnTo>
                  <a:lnTo>
                    <a:pt x="2705100" y="3366453"/>
                  </a:lnTo>
                  <a:lnTo>
                    <a:pt x="2697162" y="3370581"/>
                  </a:lnTo>
                  <a:lnTo>
                    <a:pt x="2688908" y="3373756"/>
                  </a:lnTo>
                  <a:lnTo>
                    <a:pt x="2680652" y="3376296"/>
                  </a:lnTo>
                  <a:lnTo>
                    <a:pt x="2671762" y="3377883"/>
                  </a:lnTo>
                  <a:lnTo>
                    <a:pt x="2663508" y="3378518"/>
                  </a:lnTo>
                  <a:lnTo>
                    <a:pt x="2654935" y="3378518"/>
                  </a:lnTo>
                  <a:lnTo>
                    <a:pt x="2646362" y="3377248"/>
                  </a:lnTo>
                  <a:lnTo>
                    <a:pt x="2638108" y="3375978"/>
                  </a:lnTo>
                  <a:lnTo>
                    <a:pt x="2629852" y="3373121"/>
                  </a:lnTo>
                  <a:lnTo>
                    <a:pt x="2621915" y="3369946"/>
                  </a:lnTo>
                  <a:lnTo>
                    <a:pt x="2614295" y="3365818"/>
                  </a:lnTo>
                  <a:lnTo>
                    <a:pt x="2606992" y="3360738"/>
                  </a:lnTo>
                  <a:lnTo>
                    <a:pt x="2600325" y="3355023"/>
                  </a:lnTo>
                  <a:lnTo>
                    <a:pt x="2597468" y="3352166"/>
                  </a:lnTo>
                  <a:lnTo>
                    <a:pt x="2593975" y="3348673"/>
                  </a:lnTo>
                  <a:lnTo>
                    <a:pt x="2591435" y="3345498"/>
                  </a:lnTo>
                  <a:lnTo>
                    <a:pt x="2588260" y="3341688"/>
                  </a:lnTo>
                  <a:lnTo>
                    <a:pt x="2412682" y="3099753"/>
                  </a:lnTo>
                  <a:lnTo>
                    <a:pt x="2388870" y="3110866"/>
                  </a:lnTo>
                  <a:lnTo>
                    <a:pt x="2365692" y="3122296"/>
                  </a:lnTo>
                  <a:lnTo>
                    <a:pt x="2341562" y="3132773"/>
                  </a:lnTo>
                  <a:lnTo>
                    <a:pt x="2317432" y="3142933"/>
                  </a:lnTo>
                  <a:lnTo>
                    <a:pt x="2292985" y="3152776"/>
                  </a:lnTo>
                  <a:lnTo>
                    <a:pt x="2268538" y="3161666"/>
                  </a:lnTo>
                  <a:lnTo>
                    <a:pt x="2243772" y="3170873"/>
                  </a:lnTo>
                  <a:lnTo>
                    <a:pt x="2218690" y="3179128"/>
                  </a:lnTo>
                  <a:lnTo>
                    <a:pt x="2193608" y="3187066"/>
                  </a:lnTo>
                  <a:lnTo>
                    <a:pt x="2167890" y="3194368"/>
                  </a:lnTo>
                  <a:lnTo>
                    <a:pt x="2142490" y="3201771"/>
                  </a:lnTo>
                  <a:lnTo>
                    <a:pt x="2116772" y="3208021"/>
                  </a:lnTo>
                  <a:lnTo>
                    <a:pt x="2091055" y="3214371"/>
                  </a:lnTo>
                  <a:lnTo>
                    <a:pt x="2064702" y="3220086"/>
                  </a:lnTo>
                  <a:lnTo>
                    <a:pt x="2038350" y="3225483"/>
                  </a:lnTo>
                  <a:lnTo>
                    <a:pt x="2011998" y="3229928"/>
                  </a:lnTo>
                  <a:lnTo>
                    <a:pt x="2011998" y="3529013"/>
                  </a:lnTo>
                  <a:lnTo>
                    <a:pt x="2011998" y="3533458"/>
                  </a:lnTo>
                  <a:lnTo>
                    <a:pt x="2011362" y="3537903"/>
                  </a:lnTo>
                  <a:lnTo>
                    <a:pt x="2010728" y="3542666"/>
                  </a:lnTo>
                  <a:lnTo>
                    <a:pt x="2010092" y="3547111"/>
                  </a:lnTo>
                  <a:lnTo>
                    <a:pt x="2007870" y="3555366"/>
                  </a:lnTo>
                  <a:lnTo>
                    <a:pt x="2005012" y="3563621"/>
                  </a:lnTo>
                  <a:lnTo>
                    <a:pt x="2001202" y="3571558"/>
                  </a:lnTo>
                  <a:lnTo>
                    <a:pt x="1996758" y="3578543"/>
                  </a:lnTo>
                  <a:lnTo>
                    <a:pt x="1991678" y="3585846"/>
                  </a:lnTo>
                  <a:lnTo>
                    <a:pt x="1985962" y="3591878"/>
                  </a:lnTo>
                  <a:lnTo>
                    <a:pt x="1979612" y="3597911"/>
                  </a:lnTo>
                  <a:lnTo>
                    <a:pt x="1972628" y="3602673"/>
                  </a:lnTo>
                  <a:lnTo>
                    <a:pt x="1965325" y="3607118"/>
                  </a:lnTo>
                  <a:lnTo>
                    <a:pt x="1957705" y="3610928"/>
                  </a:lnTo>
                  <a:lnTo>
                    <a:pt x="1949450" y="3614103"/>
                  </a:lnTo>
                  <a:lnTo>
                    <a:pt x="1940878" y="3616326"/>
                  </a:lnTo>
                  <a:lnTo>
                    <a:pt x="1931670" y="3617278"/>
                  </a:lnTo>
                  <a:lnTo>
                    <a:pt x="1927225" y="3617913"/>
                  </a:lnTo>
                  <a:lnTo>
                    <a:pt x="1922780" y="3617913"/>
                  </a:lnTo>
                  <a:lnTo>
                    <a:pt x="1620520" y="3617913"/>
                  </a:lnTo>
                  <a:lnTo>
                    <a:pt x="1615758" y="3617913"/>
                  </a:lnTo>
                  <a:lnTo>
                    <a:pt x="1611630" y="3617278"/>
                  </a:lnTo>
                  <a:lnTo>
                    <a:pt x="1602422" y="3616326"/>
                  </a:lnTo>
                  <a:lnTo>
                    <a:pt x="1594168" y="3614103"/>
                  </a:lnTo>
                  <a:lnTo>
                    <a:pt x="1585912" y="3610928"/>
                  </a:lnTo>
                  <a:lnTo>
                    <a:pt x="1577975" y="3607118"/>
                  </a:lnTo>
                  <a:lnTo>
                    <a:pt x="1570990" y="3602673"/>
                  </a:lnTo>
                  <a:lnTo>
                    <a:pt x="1563688" y="3597911"/>
                  </a:lnTo>
                  <a:lnTo>
                    <a:pt x="1557655" y="3591878"/>
                  </a:lnTo>
                  <a:lnTo>
                    <a:pt x="1551622" y="3585846"/>
                  </a:lnTo>
                  <a:lnTo>
                    <a:pt x="1546860" y="3578543"/>
                  </a:lnTo>
                  <a:lnTo>
                    <a:pt x="1542415" y="3571558"/>
                  </a:lnTo>
                  <a:lnTo>
                    <a:pt x="1538605" y="3563621"/>
                  </a:lnTo>
                  <a:lnTo>
                    <a:pt x="1535430" y="3555366"/>
                  </a:lnTo>
                  <a:lnTo>
                    <a:pt x="1533208" y="3547111"/>
                  </a:lnTo>
                  <a:lnTo>
                    <a:pt x="1532572" y="3542666"/>
                  </a:lnTo>
                  <a:lnTo>
                    <a:pt x="1531620" y="3537903"/>
                  </a:lnTo>
                  <a:lnTo>
                    <a:pt x="1531302" y="3533458"/>
                  </a:lnTo>
                  <a:lnTo>
                    <a:pt x="1531302" y="3529013"/>
                  </a:lnTo>
                  <a:lnTo>
                    <a:pt x="1531302" y="3229928"/>
                  </a:lnTo>
                  <a:lnTo>
                    <a:pt x="1504950" y="3225483"/>
                  </a:lnTo>
                  <a:lnTo>
                    <a:pt x="1478598" y="3220086"/>
                  </a:lnTo>
                  <a:lnTo>
                    <a:pt x="1452245" y="3214371"/>
                  </a:lnTo>
                  <a:lnTo>
                    <a:pt x="1426845" y="3208021"/>
                  </a:lnTo>
                  <a:lnTo>
                    <a:pt x="1400810" y="3201771"/>
                  </a:lnTo>
                  <a:lnTo>
                    <a:pt x="1375092" y="3194368"/>
                  </a:lnTo>
                  <a:lnTo>
                    <a:pt x="1350010" y="3187066"/>
                  </a:lnTo>
                  <a:lnTo>
                    <a:pt x="1324928" y="3179128"/>
                  </a:lnTo>
                  <a:lnTo>
                    <a:pt x="1299528" y="3170873"/>
                  </a:lnTo>
                  <a:lnTo>
                    <a:pt x="1274762" y="3161666"/>
                  </a:lnTo>
                  <a:lnTo>
                    <a:pt x="1250315" y="3152776"/>
                  </a:lnTo>
                  <a:lnTo>
                    <a:pt x="1225868" y="3142933"/>
                  </a:lnTo>
                  <a:lnTo>
                    <a:pt x="1201738" y="3132773"/>
                  </a:lnTo>
                  <a:lnTo>
                    <a:pt x="1177925" y="3122296"/>
                  </a:lnTo>
                  <a:lnTo>
                    <a:pt x="1154430" y="3110866"/>
                  </a:lnTo>
                  <a:lnTo>
                    <a:pt x="1130618" y="3099753"/>
                  </a:lnTo>
                  <a:lnTo>
                    <a:pt x="955040" y="3342006"/>
                  </a:lnTo>
                  <a:lnTo>
                    <a:pt x="952182" y="3345816"/>
                  </a:lnTo>
                  <a:lnTo>
                    <a:pt x="949325" y="3349308"/>
                  </a:lnTo>
                  <a:lnTo>
                    <a:pt x="946150" y="3352483"/>
                  </a:lnTo>
                  <a:lnTo>
                    <a:pt x="942975" y="3355658"/>
                  </a:lnTo>
                  <a:lnTo>
                    <a:pt x="935990" y="3361056"/>
                  </a:lnTo>
                  <a:lnTo>
                    <a:pt x="929005" y="3366136"/>
                  </a:lnTo>
                  <a:lnTo>
                    <a:pt x="921385" y="3369946"/>
                  </a:lnTo>
                  <a:lnTo>
                    <a:pt x="913448" y="3373121"/>
                  </a:lnTo>
                  <a:lnTo>
                    <a:pt x="905192" y="3375978"/>
                  </a:lnTo>
                  <a:lnTo>
                    <a:pt x="896938" y="3377248"/>
                  </a:lnTo>
                  <a:lnTo>
                    <a:pt x="888365" y="3378518"/>
                  </a:lnTo>
                  <a:lnTo>
                    <a:pt x="879792" y="3378518"/>
                  </a:lnTo>
                  <a:lnTo>
                    <a:pt x="870902" y="3377883"/>
                  </a:lnTo>
                  <a:lnTo>
                    <a:pt x="862648" y="3376296"/>
                  </a:lnTo>
                  <a:lnTo>
                    <a:pt x="854075" y="3373756"/>
                  </a:lnTo>
                  <a:lnTo>
                    <a:pt x="846138" y="3370581"/>
                  </a:lnTo>
                  <a:lnTo>
                    <a:pt x="837882" y="3366453"/>
                  </a:lnTo>
                  <a:lnTo>
                    <a:pt x="834072" y="3363913"/>
                  </a:lnTo>
                  <a:lnTo>
                    <a:pt x="830262" y="3361056"/>
                  </a:lnTo>
                  <a:lnTo>
                    <a:pt x="586105" y="3183573"/>
                  </a:lnTo>
                  <a:lnTo>
                    <a:pt x="582930" y="3181033"/>
                  </a:lnTo>
                  <a:lnTo>
                    <a:pt x="579438" y="3177858"/>
                  </a:lnTo>
                  <a:lnTo>
                    <a:pt x="575945" y="3175001"/>
                  </a:lnTo>
                  <a:lnTo>
                    <a:pt x="573088" y="3171826"/>
                  </a:lnTo>
                  <a:lnTo>
                    <a:pt x="567372" y="3165158"/>
                  </a:lnTo>
                  <a:lnTo>
                    <a:pt x="562610" y="3157538"/>
                  </a:lnTo>
                  <a:lnTo>
                    <a:pt x="558482" y="3150236"/>
                  </a:lnTo>
                  <a:lnTo>
                    <a:pt x="554990" y="3142298"/>
                  </a:lnTo>
                  <a:lnTo>
                    <a:pt x="552450" y="3134043"/>
                  </a:lnTo>
                  <a:lnTo>
                    <a:pt x="550862" y="3125788"/>
                  </a:lnTo>
                  <a:lnTo>
                    <a:pt x="549592" y="3117216"/>
                  </a:lnTo>
                  <a:lnTo>
                    <a:pt x="549592" y="3108643"/>
                  </a:lnTo>
                  <a:lnTo>
                    <a:pt x="550545" y="3100071"/>
                  </a:lnTo>
                  <a:lnTo>
                    <a:pt x="551815" y="3091816"/>
                  </a:lnTo>
                  <a:lnTo>
                    <a:pt x="554355" y="3083243"/>
                  </a:lnTo>
                  <a:lnTo>
                    <a:pt x="557530" y="3075306"/>
                  </a:lnTo>
                  <a:lnTo>
                    <a:pt x="559435" y="3071178"/>
                  </a:lnTo>
                  <a:lnTo>
                    <a:pt x="561340" y="3067368"/>
                  </a:lnTo>
                  <a:lnTo>
                    <a:pt x="563880" y="3063241"/>
                  </a:lnTo>
                  <a:lnTo>
                    <a:pt x="566738" y="3059431"/>
                  </a:lnTo>
                  <a:lnTo>
                    <a:pt x="742632" y="2817178"/>
                  </a:lnTo>
                  <a:lnTo>
                    <a:pt x="724218" y="2797811"/>
                  </a:lnTo>
                  <a:lnTo>
                    <a:pt x="706755" y="2778761"/>
                  </a:lnTo>
                  <a:lnTo>
                    <a:pt x="688975" y="2759076"/>
                  </a:lnTo>
                  <a:lnTo>
                    <a:pt x="671512" y="2739073"/>
                  </a:lnTo>
                  <a:lnTo>
                    <a:pt x="655002" y="2718753"/>
                  </a:lnTo>
                  <a:lnTo>
                    <a:pt x="638492" y="2698115"/>
                  </a:lnTo>
                  <a:lnTo>
                    <a:pt x="622300" y="2677478"/>
                  </a:lnTo>
                  <a:lnTo>
                    <a:pt x="606425" y="2656523"/>
                  </a:lnTo>
                  <a:lnTo>
                    <a:pt x="591185" y="2634933"/>
                  </a:lnTo>
                  <a:lnTo>
                    <a:pt x="576580" y="2613025"/>
                  </a:lnTo>
                  <a:lnTo>
                    <a:pt x="561658" y="2590800"/>
                  </a:lnTo>
                  <a:lnTo>
                    <a:pt x="547370" y="2568893"/>
                  </a:lnTo>
                  <a:lnTo>
                    <a:pt x="534035" y="2546033"/>
                  </a:lnTo>
                  <a:lnTo>
                    <a:pt x="520382" y="2523173"/>
                  </a:lnTo>
                  <a:lnTo>
                    <a:pt x="507682" y="2499995"/>
                  </a:lnTo>
                  <a:lnTo>
                    <a:pt x="494665" y="2476500"/>
                  </a:lnTo>
                  <a:lnTo>
                    <a:pt x="209868" y="2568893"/>
                  </a:lnTo>
                  <a:lnTo>
                    <a:pt x="205740" y="2570163"/>
                  </a:lnTo>
                  <a:lnTo>
                    <a:pt x="201295" y="2571433"/>
                  </a:lnTo>
                  <a:lnTo>
                    <a:pt x="196850" y="2572068"/>
                  </a:lnTo>
                  <a:lnTo>
                    <a:pt x="192722" y="2573020"/>
                  </a:lnTo>
                  <a:lnTo>
                    <a:pt x="183515" y="2573338"/>
                  </a:lnTo>
                  <a:lnTo>
                    <a:pt x="174942" y="2573020"/>
                  </a:lnTo>
                  <a:lnTo>
                    <a:pt x="166688" y="2571750"/>
                  </a:lnTo>
                  <a:lnTo>
                    <a:pt x="158115" y="2569845"/>
                  </a:lnTo>
                  <a:lnTo>
                    <a:pt x="150177" y="2567305"/>
                  </a:lnTo>
                  <a:lnTo>
                    <a:pt x="142240" y="2563495"/>
                  </a:lnTo>
                  <a:lnTo>
                    <a:pt x="134620" y="2559368"/>
                  </a:lnTo>
                  <a:lnTo>
                    <a:pt x="127952" y="2554605"/>
                  </a:lnTo>
                  <a:lnTo>
                    <a:pt x="121602" y="2548890"/>
                  </a:lnTo>
                  <a:lnTo>
                    <a:pt x="115570" y="2542540"/>
                  </a:lnTo>
                  <a:lnTo>
                    <a:pt x="109855" y="2535555"/>
                  </a:lnTo>
                  <a:lnTo>
                    <a:pt x="105410" y="2528253"/>
                  </a:lnTo>
                  <a:lnTo>
                    <a:pt x="101282" y="2520315"/>
                  </a:lnTo>
                  <a:lnTo>
                    <a:pt x="99377" y="2516188"/>
                  </a:lnTo>
                  <a:lnTo>
                    <a:pt x="97790" y="2512060"/>
                  </a:lnTo>
                  <a:lnTo>
                    <a:pt x="4445" y="2224405"/>
                  </a:lnTo>
                  <a:lnTo>
                    <a:pt x="3492" y="2220278"/>
                  </a:lnTo>
                  <a:lnTo>
                    <a:pt x="2222" y="2215833"/>
                  </a:lnTo>
                  <a:lnTo>
                    <a:pt x="1587" y="2211388"/>
                  </a:lnTo>
                  <a:lnTo>
                    <a:pt x="635" y="2206625"/>
                  </a:lnTo>
                  <a:lnTo>
                    <a:pt x="0" y="2198053"/>
                  </a:lnTo>
                  <a:lnTo>
                    <a:pt x="317" y="2189480"/>
                  </a:lnTo>
                  <a:lnTo>
                    <a:pt x="1587" y="2180908"/>
                  </a:lnTo>
                  <a:lnTo>
                    <a:pt x="3810" y="2172653"/>
                  </a:lnTo>
                  <a:lnTo>
                    <a:pt x="6350" y="2164398"/>
                  </a:lnTo>
                  <a:lnTo>
                    <a:pt x="9842" y="2156778"/>
                  </a:lnTo>
                  <a:lnTo>
                    <a:pt x="13970" y="2149158"/>
                  </a:lnTo>
                  <a:lnTo>
                    <a:pt x="19050" y="2142173"/>
                  </a:lnTo>
                  <a:lnTo>
                    <a:pt x="24447" y="2135505"/>
                  </a:lnTo>
                  <a:lnTo>
                    <a:pt x="30797" y="2129790"/>
                  </a:lnTo>
                  <a:lnTo>
                    <a:pt x="37465" y="2124393"/>
                  </a:lnTo>
                  <a:lnTo>
                    <a:pt x="45085" y="2119630"/>
                  </a:lnTo>
                  <a:lnTo>
                    <a:pt x="49212" y="2117725"/>
                  </a:lnTo>
                  <a:lnTo>
                    <a:pt x="53340" y="2115820"/>
                  </a:lnTo>
                  <a:lnTo>
                    <a:pt x="57467" y="2113915"/>
                  </a:lnTo>
                  <a:lnTo>
                    <a:pt x="61595" y="2112328"/>
                  </a:lnTo>
                  <a:lnTo>
                    <a:pt x="346392" y="2019618"/>
                  </a:lnTo>
                  <a:lnTo>
                    <a:pt x="342900" y="1993900"/>
                  </a:lnTo>
                  <a:lnTo>
                    <a:pt x="339725" y="1967865"/>
                  </a:lnTo>
                  <a:lnTo>
                    <a:pt x="337185" y="1941830"/>
                  </a:lnTo>
                  <a:lnTo>
                    <a:pt x="334962" y="1915478"/>
                  </a:lnTo>
                  <a:lnTo>
                    <a:pt x="333375" y="1889125"/>
                  </a:lnTo>
                  <a:lnTo>
                    <a:pt x="331788" y="1862455"/>
                  </a:lnTo>
                  <a:lnTo>
                    <a:pt x="331152" y="1835785"/>
                  </a:lnTo>
                  <a:lnTo>
                    <a:pt x="331152" y="1809115"/>
                  </a:lnTo>
                  <a:lnTo>
                    <a:pt x="331152" y="1782445"/>
                  </a:lnTo>
                  <a:lnTo>
                    <a:pt x="331788" y="1755775"/>
                  </a:lnTo>
                  <a:lnTo>
                    <a:pt x="333375" y="1729423"/>
                  </a:lnTo>
                  <a:lnTo>
                    <a:pt x="334962" y="1703070"/>
                  </a:lnTo>
                  <a:lnTo>
                    <a:pt x="337185" y="1676718"/>
                  </a:lnTo>
                  <a:lnTo>
                    <a:pt x="339725" y="1650365"/>
                  </a:lnTo>
                  <a:lnTo>
                    <a:pt x="342900" y="1624330"/>
                  </a:lnTo>
                  <a:lnTo>
                    <a:pt x="346392" y="1598295"/>
                  </a:lnTo>
                  <a:lnTo>
                    <a:pt x="61595" y="1506220"/>
                  </a:lnTo>
                  <a:lnTo>
                    <a:pt x="57467" y="1504633"/>
                  </a:lnTo>
                  <a:lnTo>
                    <a:pt x="53340" y="1502728"/>
                  </a:lnTo>
                  <a:lnTo>
                    <a:pt x="45085" y="1498600"/>
                  </a:lnTo>
                  <a:lnTo>
                    <a:pt x="37465" y="1494155"/>
                  </a:lnTo>
                  <a:lnTo>
                    <a:pt x="30797" y="1488440"/>
                  </a:lnTo>
                  <a:lnTo>
                    <a:pt x="24447" y="1482408"/>
                  </a:lnTo>
                  <a:lnTo>
                    <a:pt x="19050" y="1476058"/>
                  </a:lnTo>
                  <a:lnTo>
                    <a:pt x="13970" y="1468755"/>
                  </a:lnTo>
                  <a:lnTo>
                    <a:pt x="9842" y="1461453"/>
                  </a:lnTo>
                  <a:lnTo>
                    <a:pt x="6350" y="1453833"/>
                  </a:lnTo>
                  <a:lnTo>
                    <a:pt x="3810" y="1445578"/>
                  </a:lnTo>
                  <a:lnTo>
                    <a:pt x="1587" y="1437323"/>
                  </a:lnTo>
                  <a:lnTo>
                    <a:pt x="317" y="1428750"/>
                  </a:lnTo>
                  <a:lnTo>
                    <a:pt x="0" y="1419860"/>
                  </a:lnTo>
                  <a:lnTo>
                    <a:pt x="635" y="1411288"/>
                  </a:lnTo>
                  <a:lnTo>
                    <a:pt x="1587" y="1406843"/>
                  </a:lnTo>
                  <a:lnTo>
                    <a:pt x="2222" y="1402398"/>
                  </a:lnTo>
                  <a:lnTo>
                    <a:pt x="3492" y="1397635"/>
                  </a:lnTo>
                  <a:lnTo>
                    <a:pt x="4445" y="1393508"/>
                  </a:lnTo>
                  <a:lnTo>
                    <a:pt x="97790" y="1106488"/>
                  </a:lnTo>
                  <a:lnTo>
                    <a:pt x="99377" y="1102043"/>
                  </a:lnTo>
                  <a:lnTo>
                    <a:pt x="101282" y="1097915"/>
                  </a:lnTo>
                  <a:lnTo>
                    <a:pt x="103187" y="1093788"/>
                  </a:lnTo>
                  <a:lnTo>
                    <a:pt x="105410" y="1089978"/>
                  </a:lnTo>
                  <a:lnTo>
                    <a:pt x="109855" y="1082358"/>
                  </a:lnTo>
                  <a:lnTo>
                    <a:pt x="115570" y="1075690"/>
                  </a:lnTo>
                  <a:lnTo>
                    <a:pt x="121602" y="1069340"/>
                  </a:lnTo>
                  <a:lnTo>
                    <a:pt x="127952" y="1063625"/>
                  </a:lnTo>
                  <a:lnTo>
                    <a:pt x="134620" y="1058863"/>
                  </a:lnTo>
                  <a:lnTo>
                    <a:pt x="142240" y="1054735"/>
                  </a:lnTo>
                  <a:lnTo>
                    <a:pt x="150177" y="1051243"/>
                  </a:lnTo>
                  <a:lnTo>
                    <a:pt x="158115" y="1048068"/>
                  </a:lnTo>
                  <a:lnTo>
                    <a:pt x="166688" y="1046480"/>
                  </a:lnTo>
                  <a:lnTo>
                    <a:pt x="174942" y="1045210"/>
                  </a:lnTo>
                  <a:lnTo>
                    <a:pt x="183515" y="1044893"/>
                  </a:lnTo>
                  <a:lnTo>
                    <a:pt x="192722" y="1045528"/>
                  </a:lnTo>
                  <a:lnTo>
                    <a:pt x="196850" y="1046480"/>
                  </a:lnTo>
                  <a:lnTo>
                    <a:pt x="201295" y="1047115"/>
                  </a:lnTo>
                  <a:lnTo>
                    <a:pt x="205740" y="1048068"/>
                  </a:lnTo>
                  <a:lnTo>
                    <a:pt x="209868" y="1049338"/>
                  </a:lnTo>
                  <a:lnTo>
                    <a:pt x="494665" y="1141413"/>
                  </a:lnTo>
                  <a:lnTo>
                    <a:pt x="507682" y="1118235"/>
                  </a:lnTo>
                  <a:lnTo>
                    <a:pt x="520382" y="1095375"/>
                  </a:lnTo>
                  <a:lnTo>
                    <a:pt x="534035" y="1072198"/>
                  </a:lnTo>
                  <a:lnTo>
                    <a:pt x="547370" y="1049655"/>
                  </a:lnTo>
                  <a:lnTo>
                    <a:pt x="561658" y="1027113"/>
                  </a:lnTo>
                  <a:lnTo>
                    <a:pt x="576580" y="1005205"/>
                  </a:lnTo>
                  <a:lnTo>
                    <a:pt x="591185" y="983615"/>
                  </a:lnTo>
                  <a:lnTo>
                    <a:pt x="606425" y="961707"/>
                  </a:lnTo>
                  <a:lnTo>
                    <a:pt x="622300" y="940752"/>
                  </a:lnTo>
                  <a:lnTo>
                    <a:pt x="638492" y="919797"/>
                  </a:lnTo>
                  <a:lnTo>
                    <a:pt x="655002" y="899160"/>
                  </a:lnTo>
                  <a:lnTo>
                    <a:pt x="671512" y="878840"/>
                  </a:lnTo>
                  <a:lnTo>
                    <a:pt x="688975" y="858837"/>
                  </a:lnTo>
                  <a:lnTo>
                    <a:pt x="706755" y="839470"/>
                  </a:lnTo>
                  <a:lnTo>
                    <a:pt x="724218" y="819785"/>
                  </a:lnTo>
                  <a:lnTo>
                    <a:pt x="742632" y="801052"/>
                  </a:lnTo>
                  <a:lnTo>
                    <a:pt x="566420" y="558800"/>
                  </a:lnTo>
                  <a:lnTo>
                    <a:pt x="563562" y="554990"/>
                  </a:lnTo>
                  <a:lnTo>
                    <a:pt x="561340" y="551180"/>
                  </a:lnTo>
                  <a:lnTo>
                    <a:pt x="559118" y="547370"/>
                  </a:lnTo>
                  <a:lnTo>
                    <a:pt x="557212" y="543242"/>
                  </a:lnTo>
                  <a:lnTo>
                    <a:pt x="554355" y="534987"/>
                  </a:lnTo>
                  <a:lnTo>
                    <a:pt x="551498" y="526732"/>
                  </a:lnTo>
                  <a:lnTo>
                    <a:pt x="550228" y="518160"/>
                  </a:lnTo>
                  <a:lnTo>
                    <a:pt x="549592" y="509270"/>
                  </a:lnTo>
                  <a:lnTo>
                    <a:pt x="549592" y="500697"/>
                  </a:lnTo>
                  <a:lnTo>
                    <a:pt x="550862" y="492442"/>
                  </a:lnTo>
                  <a:lnTo>
                    <a:pt x="552450" y="483870"/>
                  </a:lnTo>
                  <a:lnTo>
                    <a:pt x="554990" y="475932"/>
                  </a:lnTo>
                  <a:lnTo>
                    <a:pt x="558482" y="467677"/>
                  </a:lnTo>
                  <a:lnTo>
                    <a:pt x="562610" y="460057"/>
                  </a:lnTo>
                  <a:lnTo>
                    <a:pt x="567372" y="453072"/>
                  </a:lnTo>
                  <a:lnTo>
                    <a:pt x="573088" y="446087"/>
                  </a:lnTo>
                  <a:lnTo>
                    <a:pt x="575945" y="442912"/>
                  </a:lnTo>
                  <a:lnTo>
                    <a:pt x="579438" y="439737"/>
                  </a:lnTo>
                  <a:lnTo>
                    <a:pt x="582930" y="436880"/>
                  </a:lnTo>
                  <a:lnTo>
                    <a:pt x="586105" y="434022"/>
                  </a:lnTo>
                  <a:lnTo>
                    <a:pt x="830898" y="256857"/>
                  </a:lnTo>
                  <a:lnTo>
                    <a:pt x="834708" y="254317"/>
                  </a:lnTo>
                  <a:lnTo>
                    <a:pt x="838200" y="251777"/>
                  </a:lnTo>
                  <a:lnTo>
                    <a:pt x="842328" y="249872"/>
                  </a:lnTo>
                  <a:lnTo>
                    <a:pt x="846138" y="247967"/>
                  </a:lnTo>
                  <a:lnTo>
                    <a:pt x="854392" y="244475"/>
                  </a:lnTo>
                  <a:lnTo>
                    <a:pt x="862648" y="242252"/>
                  </a:lnTo>
                  <a:lnTo>
                    <a:pt x="871538" y="240665"/>
                  </a:lnTo>
                  <a:lnTo>
                    <a:pt x="880110" y="240030"/>
                  </a:lnTo>
                  <a:lnTo>
                    <a:pt x="888365" y="240030"/>
                  </a:lnTo>
                  <a:lnTo>
                    <a:pt x="896938" y="240665"/>
                  </a:lnTo>
                  <a:lnTo>
                    <a:pt x="905192" y="242570"/>
                  </a:lnTo>
                  <a:lnTo>
                    <a:pt x="913448" y="245110"/>
                  </a:lnTo>
                  <a:lnTo>
                    <a:pt x="921385" y="248602"/>
                  </a:lnTo>
                  <a:lnTo>
                    <a:pt x="929005" y="252412"/>
                  </a:lnTo>
                  <a:lnTo>
                    <a:pt x="935990" y="257175"/>
                  </a:lnTo>
                  <a:lnTo>
                    <a:pt x="942975" y="262890"/>
                  </a:lnTo>
                  <a:lnTo>
                    <a:pt x="946150" y="266065"/>
                  </a:lnTo>
                  <a:lnTo>
                    <a:pt x="949325" y="269240"/>
                  </a:lnTo>
                  <a:lnTo>
                    <a:pt x="952182" y="272732"/>
                  </a:lnTo>
                  <a:lnTo>
                    <a:pt x="955040" y="276542"/>
                  </a:lnTo>
                  <a:lnTo>
                    <a:pt x="1130618" y="518477"/>
                  </a:lnTo>
                  <a:lnTo>
                    <a:pt x="1154430" y="507047"/>
                  </a:lnTo>
                  <a:lnTo>
                    <a:pt x="1177925" y="496252"/>
                  </a:lnTo>
                  <a:lnTo>
                    <a:pt x="1201738" y="485457"/>
                  </a:lnTo>
                  <a:lnTo>
                    <a:pt x="1225868" y="475615"/>
                  </a:lnTo>
                  <a:lnTo>
                    <a:pt x="1250315" y="465772"/>
                  </a:lnTo>
                  <a:lnTo>
                    <a:pt x="1274762" y="456247"/>
                  </a:lnTo>
                  <a:lnTo>
                    <a:pt x="1299528" y="447675"/>
                  </a:lnTo>
                  <a:lnTo>
                    <a:pt x="1324928" y="439102"/>
                  </a:lnTo>
                  <a:lnTo>
                    <a:pt x="1350010" y="431165"/>
                  </a:lnTo>
                  <a:lnTo>
                    <a:pt x="1375092" y="423545"/>
                  </a:lnTo>
                  <a:lnTo>
                    <a:pt x="1400810" y="416877"/>
                  </a:lnTo>
                  <a:lnTo>
                    <a:pt x="1426845" y="410210"/>
                  </a:lnTo>
                  <a:lnTo>
                    <a:pt x="1452245" y="404177"/>
                  </a:lnTo>
                  <a:lnTo>
                    <a:pt x="1478598" y="398462"/>
                  </a:lnTo>
                  <a:lnTo>
                    <a:pt x="1504950" y="393065"/>
                  </a:lnTo>
                  <a:lnTo>
                    <a:pt x="1531302" y="388620"/>
                  </a:lnTo>
                  <a:lnTo>
                    <a:pt x="1531302" y="89217"/>
                  </a:lnTo>
                  <a:lnTo>
                    <a:pt x="1531302" y="84455"/>
                  </a:lnTo>
                  <a:lnTo>
                    <a:pt x="1531620" y="80010"/>
                  </a:lnTo>
                  <a:lnTo>
                    <a:pt x="1532572" y="75565"/>
                  </a:lnTo>
                  <a:lnTo>
                    <a:pt x="1533208" y="71120"/>
                  </a:lnTo>
                  <a:lnTo>
                    <a:pt x="1535430" y="62865"/>
                  </a:lnTo>
                  <a:lnTo>
                    <a:pt x="1538605" y="54610"/>
                  </a:lnTo>
                  <a:lnTo>
                    <a:pt x="1542415" y="46672"/>
                  </a:lnTo>
                  <a:lnTo>
                    <a:pt x="1546860" y="39370"/>
                  </a:lnTo>
                  <a:lnTo>
                    <a:pt x="1551622" y="32385"/>
                  </a:lnTo>
                  <a:lnTo>
                    <a:pt x="1557655" y="26352"/>
                  </a:lnTo>
                  <a:lnTo>
                    <a:pt x="1563688" y="20320"/>
                  </a:lnTo>
                  <a:lnTo>
                    <a:pt x="1570990" y="15240"/>
                  </a:lnTo>
                  <a:lnTo>
                    <a:pt x="1577975" y="10795"/>
                  </a:lnTo>
                  <a:lnTo>
                    <a:pt x="1585912" y="6985"/>
                  </a:lnTo>
                  <a:lnTo>
                    <a:pt x="1594168" y="4127"/>
                  </a:lnTo>
                  <a:lnTo>
                    <a:pt x="1602422" y="1905"/>
                  </a:lnTo>
                  <a:lnTo>
                    <a:pt x="1607185" y="952"/>
                  </a:lnTo>
                  <a:lnTo>
                    <a:pt x="1611630" y="317"/>
                  </a:lnTo>
                  <a:lnTo>
                    <a:pt x="161575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dir="t" rig="threePt"/>
              </a:scene3d>
              <a:sp3d>
                <a:contourClr>
                  <a:srgbClr val="FFFFFF"/>
                </a:contourClr>
              </a:sp3d>
            </a:bodyPr>
            <a:p>
              <a:pPr algn="ctr"/>
              <a:endParaRPr altLang="en-US" lang="zh-CN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48937" name="文本框 6"/>
            <p:cNvSpPr txBox="1"/>
            <p:nvPr/>
          </p:nvSpPr>
          <p:spPr>
            <a:xfrm>
              <a:off x="1032992" y="3398149"/>
              <a:ext cx="1193800" cy="553303"/>
            </a:xfrm>
            <a:prstGeom prst="rect"/>
            <a:noFill/>
          </p:spPr>
          <p:txBody>
            <a:bodyPr rtlCol="0" wrap="square">
              <a:spAutoFit/>
            </a:bodyPr>
            <a:p>
              <a:pPr algn="ctr"/>
              <a:r>
                <a:rPr altLang="zh-CN" dirty="0" lang="en-US">
                  <a:solidFill>
                    <a:schemeClr val="bg1"/>
                  </a:solidFill>
                  <a:cs typeface="+mn-ea"/>
                  <a:sym typeface="+mn-lt"/>
                </a:rPr>
                <a:t>unity2D</a:t>
              </a:r>
              <a:r>
                <a:rPr altLang="en-US" dirty="0" lang="zh-CN">
                  <a:solidFill>
                    <a:schemeClr val="bg1"/>
                  </a:solidFill>
                  <a:cs typeface="+mn-ea"/>
                  <a:sym typeface="+mn-lt"/>
                </a:rPr>
                <a:t>开发框架</a:t>
              </a:r>
            </a:p>
          </p:txBody>
        </p:sp>
      </p:grpSp>
      <p:grpSp>
        <p:nvGrpSpPr>
          <p:cNvPr id="144" name="组合 7"/>
          <p:cNvGrpSpPr/>
          <p:nvPr/>
        </p:nvGrpSpPr>
        <p:grpSpPr>
          <a:xfrm>
            <a:off x="2358894" y="2215760"/>
            <a:ext cx="1446523" cy="1972077"/>
            <a:chOff x="2255236" y="3004658"/>
            <a:chExt cx="1238805" cy="1688231"/>
          </a:xfrm>
        </p:grpSpPr>
        <p:sp>
          <p:nvSpPr>
            <p:cNvPr id="1048938" name="任意多边形 19"/>
            <p:cNvSpPr/>
            <p:nvPr/>
          </p:nvSpPr>
          <p:spPr>
            <a:xfrm flipH="1">
              <a:off x="2298310" y="3004658"/>
              <a:ext cx="1195731" cy="1688231"/>
            </a:xfrm>
            <a:custGeom>
              <a:avLst/>
              <a:gdLst>
                <a:gd name="connsiteX0" fmla="*/ 602108 w 1364578"/>
                <a:gd name="connsiteY0" fmla="*/ 0 h 1926623"/>
                <a:gd name="connsiteX1" fmla="*/ 1364578 w 1364578"/>
                <a:gd name="connsiteY1" fmla="*/ 0 h 1926623"/>
                <a:gd name="connsiteX2" fmla="*/ 1364578 w 1364578"/>
                <a:gd name="connsiteY2" fmla="*/ 1926623 h 1926623"/>
                <a:gd name="connsiteX3" fmla="*/ 0 w 1364578"/>
                <a:gd name="connsiteY3" fmla="*/ 1926623 h 1926623"/>
                <a:gd name="connsiteX4" fmla="*/ 0 w 1364578"/>
                <a:gd name="connsiteY4" fmla="*/ 602108 h 1926623"/>
                <a:gd name="connsiteX5" fmla="*/ 602108 w 1364578"/>
                <a:gd name="connsiteY5" fmla="*/ 0 h 192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64578" h="1926623">
                  <a:moveTo>
                    <a:pt x="602108" y="0"/>
                  </a:moveTo>
                  <a:lnTo>
                    <a:pt x="1364578" y="0"/>
                  </a:lnTo>
                  <a:lnTo>
                    <a:pt x="1364578" y="1926623"/>
                  </a:lnTo>
                  <a:lnTo>
                    <a:pt x="0" y="1926623"/>
                  </a:lnTo>
                  <a:lnTo>
                    <a:pt x="0" y="602108"/>
                  </a:lnTo>
                  <a:cubicBezTo>
                    <a:pt x="0" y="269573"/>
                    <a:pt x="269573" y="0"/>
                    <a:pt x="602108" y="0"/>
                  </a:cubicBezTo>
                  <a:close/>
                </a:path>
              </a:pathLst>
            </a:custGeom>
            <a:solidFill>
              <a:srgbClr val="CF3B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b="1" lang="zh-CN">
                <a:cs typeface="+mn-ea"/>
                <a:sym typeface="+mn-lt"/>
              </a:endParaRPr>
            </a:p>
          </p:txBody>
        </p:sp>
        <p:sp>
          <p:nvSpPr>
            <p:cNvPr id="1048939" name="KSO_Shape"/>
            <p:cNvSpPr/>
            <p:nvPr/>
          </p:nvSpPr>
          <p:spPr bwMode="auto">
            <a:xfrm>
              <a:off x="2675625" y="3406937"/>
              <a:ext cx="441100" cy="441836"/>
            </a:xfrm>
            <a:custGeom>
              <a:avLst/>
              <a:gdLst>
                <a:gd name="T0" fmla="*/ 923363 w 1752600"/>
                <a:gd name="T1" fmla="*/ 1417153 h 1754188"/>
                <a:gd name="T2" fmla="*/ 958587 w 1752600"/>
                <a:gd name="T3" fmla="*/ 1476612 h 1754188"/>
                <a:gd name="T4" fmla="*/ 945181 w 1752600"/>
                <a:gd name="T5" fmla="*/ 1530763 h 1754188"/>
                <a:gd name="T6" fmla="*/ 886299 w 1752600"/>
                <a:gd name="T7" fmla="*/ 1566067 h 1754188"/>
                <a:gd name="T8" fmla="*/ 832675 w 1752600"/>
                <a:gd name="T9" fmla="*/ 1552795 h 1754188"/>
                <a:gd name="T10" fmla="*/ 797714 w 1752600"/>
                <a:gd name="T11" fmla="*/ 1493335 h 1754188"/>
                <a:gd name="T12" fmla="*/ 810857 w 1752600"/>
                <a:gd name="T13" fmla="*/ 1439185 h 1754188"/>
                <a:gd name="T14" fmla="*/ 869739 w 1752600"/>
                <a:gd name="T15" fmla="*/ 1403616 h 1754188"/>
                <a:gd name="T16" fmla="*/ 1526266 w 1752600"/>
                <a:gd name="T17" fmla="*/ 809406 h 1754188"/>
                <a:gd name="T18" fmla="*/ 1561836 w 1752600"/>
                <a:gd name="T19" fmla="*/ 868866 h 1754188"/>
                <a:gd name="T20" fmla="*/ 1548298 w 1752600"/>
                <a:gd name="T21" fmla="*/ 923016 h 1754188"/>
                <a:gd name="T22" fmla="*/ 1488839 w 1752600"/>
                <a:gd name="T23" fmla="*/ 958586 h 1754188"/>
                <a:gd name="T24" fmla="*/ 1434954 w 1752600"/>
                <a:gd name="T25" fmla="*/ 945048 h 1754188"/>
                <a:gd name="T26" fmla="*/ 1399385 w 1752600"/>
                <a:gd name="T27" fmla="*/ 885589 h 1754188"/>
                <a:gd name="T28" fmla="*/ 1412922 w 1752600"/>
                <a:gd name="T29" fmla="*/ 831438 h 1754188"/>
                <a:gd name="T30" fmla="*/ 1472116 w 1752600"/>
                <a:gd name="T31" fmla="*/ 795869 h 1754188"/>
                <a:gd name="T32" fmla="*/ 931422 w 1752600"/>
                <a:gd name="T33" fmla="*/ 210375 h 1754188"/>
                <a:gd name="T34" fmla="*/ 985331 w 1752600"/>
                <a:gd name="T35" fmla="*/ 812351 h 1754188"/>
                <a:gd name="T36" fmla="*/ 997223 w 1752600"/>
                <a:gd name="T37" fmla="*/ 915108 h 1754188"/>
                <a:gd name="T38" fmla="*/ 946749 w 1752600"/>
                <a:gd name="T39" fmla="*/ 982906 h 1754188"/>
                <a:gd name="T40" fmla="*/ 857693 w 1752600"/>
                <a:gd name="T41" fmla="*/ 1003564 h 1754188"/>
                <a:gd name="T42" fmla="*/ 763351 w 1752600"/>
                <a:gd name="T43" fmla="*/ 937354 h 1754188"/>
                <a:gd name="T44" fmla="*/ 353480 w 1752600"/>
                <a:gd name="T45" fmla="*/ 893921 h 1754188"/>
                <a:gd name="T46" fmla="*/ 383342 w 1752600"/>
                <a:gd name="T47" fmla="*/ 820296 h 1754188"/>
                <a:gd name="T48" fmla="*/ 815147 w 1752600"/>
                <a:gd name="T49" fmla="*/ 764945 h 1754188"/>
                <a:gd name="T50" fmla="*/ 858486 w 1752600"/>
                <a:gd name="T51" fmla="*/ 180713 h 1754188"/>
                <a:gd name="T52" fmla="*/ 670516 w 1752600"/>
                <a:gd name="T53" fmla="*/ 152975 h 1754188"/>
                <a:gd name="T54" fmla="*/ 441192 w 1752600"/>
                <a:gd name="T55" fmla="*/ 263340 h 1754188"/>
                <a:gd name="T56" fmla="*/ 263181 w 1752600"/>
                <a:gd name="T57" fmla="*/ 441458 h 1754188"/>
                <a:gd name="T58" fmla="*/ 152883 w 1752600"/>
                <a:gd name="T59" fmla="*/ 670921 h 1754188"/>
                <a:gd name="T60" fmla="*/ 126168 w 1752600"/>
                <a:gd name="T61" fmla="*/ 934791 h 1754188"/>
                <a:gd name="T62" fmla="*/ 190707 w 1752600"/>
                <a:gd name="T63" fmla="*/ 1186485 h 1754188"/>
                <a:gd name="T64" fmla="*/ 332216 w 1752600"/>
                <a:gd name="T65" fmla="*/ 1396099 h 1754188"/>
                <a:gd name="T66" fmla="*/ 534297 w 1752600"/>
                <a:gd name="T67" fmla="*/ 1547221 h 1754188"/>
                <a:gd name="T68" fmla="*/ 780550 w 1752600"/>
                <a:gd name="T69" fmla="*/ 1623709 h 1754188"/>
                <a:gd name="T70" fmla="*/ 1045847 w 1752600"/>
                <a:gd name="T71" fmla="*/ 1610476 h 1754188"/>
                <a:gd name="T72" fmla="*/ 1281255 w 1752600"/>
                <a:gd name="T73" fmla="*/ 1511227 h 1754188"/>
                <a:gd name="T74" fmla="*/ 1467730 w 1752600"/>
                <a:gd name="T75" fmla="*/ 1341578 h 1754188"/>
                <a:gd name="T76" fmla="*/ 1588873 w 1752600"/>
                <a:gd name="T77" fmla="*/ 1118202 h 1754188"/>
                <a:gd name="T78" fmla="*/ 1628019 w 1752600"/>
                <a:gd name="T79" fmla="*/ 857509 h 1754188"/>
                <a:gd name="T80" fmla="*/ 1576176 w 1752600"/>
                <a:gd name="T81" fmla="*/ 601315 h 1754188"/>
                <a:gd name="T82" fmla="*/ 1444718 w 1752600"/>
                <a:gd name="T83" fmla="*/ 384820 h 1754188"/>
                <a:gd name="T84" fmla="*/ 1250573 w 1752600"/>
                <a:gd name="T85" fmla="*/ 224170 h 1754188"/>
                <a:gd name="T86" fmla="*/ 1009345 w 1752600"/>
                <a:gd name="T87" fmla="*/ 136037 h 1754188"/>
                <a:gd name="T88" fmla="*/ 987656 w 1752600"/>
                <a:gd name="T89" fmla="*/ 7146 h 1754188"/>
                <a:gd name="T90" fmla="*/ 1274907 w 1752600"/>
                <a:gd name="T91" fmla="*/ 96337 h 1754188"/>
                <a:gd name="T92" fmla="*/ 1510315 w 1752600"/>
                <a:gd name="T93" fmla="*/ 272074 h 1754188"/>
                <a:gd name="T94" fmla="*/ 1675101 w 1752600"/>
                <a:gd name="T95" fmla="*/ 516358 h 1754188"/>
                <a:gd name="T96" fmla="*/ 1749955 w 1752600"/>
                <a:gd name="T97" fmla="*/ 809605 h 1754188"/>
                <a:gd name="T98" fmla="*/ 1719273 w 1752600"/>
                <a:gd name="T99" fmla="*/ 1116879 h 1754188"/>
                <a:gd name="T100" fmla="*/ 1590724 w 1752600"/>
                <a:gd name="T101" fmla="*/ 1384453 h 1754188"/>
                <a:gd name="T102" fmla="*/ 1383353 w 1752600"/>
                <a:gd name="T103" fmla="*/ 1591949 h 1754188"/>
                <a:gd name="T104" fmla="*/ 1115940 w 1752600"/>
                <a:gd name="T105" fmla="*/ 1720576 h 1754188"/>
                <a:gd name="T106" fmla="*/ 809116 w 1752600"/>
                <a:gd name="T107" fmla="*/ 1751277 h 1754188"/>
                <a:gd name="T108" fmla="*/ 516046 w 1752600"/>
                <a:gd name="T109" fmla="*/ 1676377 h 1754188"/>
                <a:gd name="T110" fmla="*/ 271909 w 1752600"/>
                <a:gd name="T111" fmla="*/ 1511492 h 1754188"/>
                <a:gd name="T112" fmla="*/ 95750 w 1752600"/>
                <a:gd name="T113" fmla="*/ 1275941 h 1754188"/>
                <a:gd name="T114" fmla="*/ 6877 w 1752600"/>
                <a:gd name="T115" fmla="*/ 988782 h 1754188"/>
                <a:gd name="T116" fmla="*/ 22483 w 1752600"/>
                <a:gd name="T117" fmla="*/ 679126 h 1754188"/>
                <a:gd name="T118" fmla="*/ 138071 w 1752600"/>
                <a:gd name="T119" fmla="*/ 404935 h 1754188"/>
                <a:gd name="T120" fmla="*/ 335655 w 1752600"/>
                <a:gd name="T121" fmla="*/ 187117 h 1754188"/>
                <a:gd name="T122" fmla="*/ 595662 w 1752600"/>
                <a:gd name="T123" fmla="*/ 46051 h 1754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52600" h="1754188">
                  <a:moveTo>
                    <a:pt x="873945" y="1403350"/>
                  </a:moveTo>
                  <a:lnTo>
                    <a:pt x="877888" y="1403350"/>
                  </a:lnTo>
                  <a:lnTo>
                    <a:pt x="882356" y="1403350"/>
                  </a:lnTo>
                  <a:lnTo>
                    <a:pt x="886299" y="1403616"/>
                  </a:lnTo>
                  <a:lnTo>
                    <a:pt x="890505" y="1404146"/>
                  </a:lnTo>
                  <a:lnTo>
                    <a:pt x="894448" y="1404943"/>
                  </a:lnTo>
                  <a:lnTo>
                    <a:pt x="898128" y="1405739"/>
                  </a:lnTo>
                  <a:lnTo>
                    <a:pt x="901808" y="1406801"/>
                  </a:lnTo>
                  <a:lnTo>
                    <a:pt x="906014" y="1408393"/>
                  </a:lnTo>
                  <a:lnTo>
                    <a:pt x="909432" y="1409455"/>
                  </a:lnTo>
                  <a:lnTo>
                    <a:pt x="913112" y="1411048"/>
                  </a:lnTo>
                  <a:lnTo>
                    <a:pt x="916529" y="1412906"/>
                  </a:lnTo>
                  <a:lnTo>
                    <a:pt x="919946" y="1415030"/>
                  </a:lnTo>
                  <a:lnTo>
                    <a:pt x="923363" y="1417153"/>
                  </a:lnTo>
                  <a:lnTo>
                    <a:pt x="929672" y="1421931"/>
                  </a:lnTo>
                  <a:lnTo>
                    <a:pt x="935192" y="1427240"/>
                  </a:lnTo>
                  <a:lnTo>
                    <a:pt x="940450" y="1432814"/>
                  </a:lnTo>
                  <a:lnTo>
                    <a:pt x="945181" y="1439185"/>
                  </a:lnTo>
                  <a:lnTo>
                    <a:pt x="947284" y="1442636"/>
                  </a:lnTo>
                  <a:lnTo>
                    <a:pt x="949124" y="1446086"/>
                  </a:lnTo>
                  <a:lnTo>
                    <a:pt x="951227" y="1449537"/>
                  </a:lnTo>
                  <a:lnTo>
                    <a:pt x="952804" y="1452988"/>
                  </a:lnTo>
                  <a:lnTo>
                    <a:pt x="953856" y="1456704"/>
                  </a:lnTo>
                  <a:lnTo>
                    <a:pt x="955433" y="1460420"/>
                  </a:lnTo>
                  <a:lnTo>
                    <a:pt x="956484" y="1464667"/>
                  </a:lnTo>
                  <a:lnTo>
                    <a:pt x="957273" y="1468384"/>
                  </a:lnTo>
                  <a:lnTo>
                    <a:pt x="958062" y="1472365"/>
                  </a:lnTo>
                  <a:lnTo>
                    <a:pt x="958587" y="1476612"/>
                  </a:lnTo>
                  <a:lnTo>
                    <a:pt x="958850" y="1480594"/>
                  </a:lnTo>
                  <a:lnTo>
                    <a:pt x="958850" y="1485107"/>
                  </a:lnTo>
                  <a:lnTo>
                    <a:pt x="958850" y="1489088"/>
                  </a:lnTo>
                  <a:lnTo>
                    <a:pt x="958587" y="1493335"/>
                  </a:lnTo>
                  <a:lnTo>
                    <a:pt x="958062" y="1497317"/>
                  </a:lnTo>
                  <a:lnTo>
                    <a:pt x="957273" y="1501299"/>
                  </a:lnTo>
                  <a:lnTo>
                    <a:pt x="956484" y="1505546"/>
                  </a:lnTo>
                  <a:lnTo>
                    <a:pt x="955433" y="1509262"/>
                  </a:lnTo>
                  <a:lnTo>
                    <a:pt x="953856" y="1512978"/>
                  </a:lnTo>
                  <a:lnTo>
                    <a:pt x="952804" y="1516694"/>
                  </a:lnTo>
                  <a:lnTo>
                    <a:pt x="951227" y="1520145"/>
                  </a:lnTo>
                  <a:lnTo>
                    <a:pt x="949124" y="1524127"/>
                  </a:lnTo>
                  <a:lnTo>
                    <a:pt x="947284" y="1527312"/>
                  </a:lnTo>
                  <a:lnTo>
                    <a:pt x="945181" y="1530763"/>
                  </a:lnTo>
                  <a:lnTo>
                    <a:pt x="940450" y="1536868"/>
                  </a:lnTo>
                  <a:lnTo>
                    <a:pt x="935192" y="1542973"/>
                  </a:lnTo>
                  <a:lnTo>
                    <a:pt x="929672" y="1548017"/>
                  </a:lnTo>
                  <a:lnTo>
                    <a:pt x="923363" y="1552795"/>
                  </a:lnTo>
                  <a:lnTo>
                    <a:pt x="919946" y="1554918"/>
                  </a:lnTo>
                  <a:lnTo>
                    <a:pt x="916529" y="1556776"/>
                  </a:lnTo>
                  <a:lnTo>
                    <a:pt x="913112" y="1558634"/>
                  </a:lnTo>
                  <a:lnTo>
                    <a:pt x="909432" y="1560227"/>
                  </a:lnTo>
                  <a:lnTo>
                    <a:pt x="906014" y="1561820"/>
                  </a:lnTo>
                  <a:lnTo>
                    <a:pt x="901808" y="1563147"/>
                  </a:lnTo>
                  <a:lnTo>
                    <a:pt x="898128" y="1564209"/>
                  </a:lnTo>
                  <a:lnTo>
                    <a:pt x="894448" y="1565005"/>
                  </a:lnTo>
                  <a:lnTo>
                    <a:pt x="890505" y="1565801"/>
                  </a:lnTo>
                  <a:lnTo>
                    <a:pt x="886299" y="1566067"/>
                  </a:lnTo>
                  <a:lnTo>
                    <a:pt x="882356" y="1566598"/>
                  </a:lnTo>
                  <a:lnTo>
                    <a:pt x="877888" y="1566863"/>
                  </a:lnTo>
                  <a:lnTo>
                    <a:pt x="873945" y="1566598"/>
                  </a:lnTo>
                  <a:lnTo>
                    <a:pt x="869739" y="1566067"/>
                  </a:lnTo>
                  <a:lnTo>
                    <a:pt x="865796" y="1565801"/>
                  </a:lnTo>
                  <a:lnTo>
                    <a:pt x="861853" y="1565005"/>
                  </a:lnTo>
                  <a:lnTo>
                    <a:pt x="857647" y="1564209"/>
                  </a:lnTo>
                  <a:lnTo>
                    <a:pt x="853967" y="1563147"/>
                  </a:lnTo>
                  <a:lnTo>
                    <a:pt x="850287" y="1561820"/>
                  </a:lnTo>
                  <a:lnTo>
                    <a:pt x="846607" y="1560227"/>
                  </a:lnTo>
                  <a:lnTo>
                    <a:pt x="842664" y="1558634"/>
                  </a:lnTo>
                  <a:lnTo>
                    <a:pt x="839247" y="1556776"/>
                  </a:lnTo>
                  <a:lnTo>
                    <a:pt x="835829" y="1554918"/>
                  </a:lnTo>
                  <a:lnTo>
                    <a:pt x="832675" y="1552795"/>
                  </a:lnTo>
                  <a:lnTo>
                    <a:pt x="826629" y="1548017"/>
                  </a:lnTo>
                  <a:lnTo>
                    <a:pt x="820583" y="1542973"/>
                  </a:lnTo>
                  <a:lnTo>
                    <a:pt x="815589" y="1536868"/>
                  </a:lnTo>
                  <a:lnTo>
                    <a:pt x="810857" y="1530763"/>
                  </a:lnTo>
                  <a:lnTo>
                    <a:pt x="808754" y="1527312"/>
                  </a:lnTo>
                  <a:lnTo>
                    <a:pt x="806914" y="1524127"/>
                  </a:lnTo>
                  <a:lnTo>
                    <a:pt x="805074" y="1520145"/>
                  </a:lnTo>
                  <a:lnTo>
                    <a:pt x="803497" y="1516694"/>
                  </a:lnTo>
                  <a:lnTo>
                    <a:pt x="801920" y="1512978"/>
                  </a:lnTo>
                  <a:lnTo>
                    <a:pt x="800605" y="1509262"/>
                  </a:lnTo>
                  <a:lnTo>
                    <a:pt x="799554" y="1505546"/>
                  </a:lnTo>
                  <a:lnTo>
                    <a:pt x="798765" y="1501299"/>
                  </a:lnTo>
                  <a:lnTo>
                    <a:pt x="797977" y="1497317"/>
                  </a:lnTo>
                  <a:lnTo>
                    <a:pt x="797714" y="1493335"/>
                  </a:lnTo>
                  <a:lnTo>
                    <a:pt x="797188" y="1489088"/>
                  </a:lnTo>
                  <a:lnTo>
                    <a:pt x="796925" y="1485107"/>
                  </a:lnTo>
                  <a:lnTo>
                    <a:pt x="797188" y="1480594"/>
                  </a:lnTo>
                  <a:lnTo>
                    <a:pt x="797714" y="1476612"/>
                  </a:lnTo>
                  <a:lnTo>
                    <a:pt x="797977" y="1472365"/>
                  </a:lnTo>
                  <a:lnTo>
                    <a:pt x="798765" y="1468384"/>
                  </a:lnTo>
                  <a:lnTo>
                    <a:pt x="799554" y="1464667"/>
                  </a:lnTo>
                  <a:lnTo>
                    <a:pt x="800605" y="1460420"/>
                  </a:lnTo>
                  <a:lnTo>
                    <a:pt x="801920" y="1456704"/>
                  </a:lnTo>
                  <a:lnTo>
                    <a:pt x="803497" y="1452988"/>
                  </a:lnTo>
                  <a:lnTo>
                    <a:pt x="805074" y="1449537"/>
                  </a:lnTo>
                  <a:lnTo>
                    <a:pt x="806914" y="1446086"/>
                  </a:lnTo>
                  <a:lnTo>
                    <a:pt x="808754" y="1442636"/>
                  </a:lnTo>
                  <a:lnTo>
                    <a:pt x="810857" y="1439185"/>
                  </a:lnTo>
                  <a:lnTo>
                    <a:pt x="815589" y="1432814"/>
                  </a:lnTo>
                  <a:lnTo>
                    <a:pt x="820583" y="1427240"/>
                  </a:lnTo>
                  <a:lnTo>
                    <a:pt x="826629" y="1421931"/>
                  </a:lnTo>
                  <a:lnTo>
                    <a:pt x="832675" y="1417153"/>
                  </a:lnTo>
                  <a:lnTo>
                    <a:pt x="835829" y="1415030"/>
                  </a:lnTo>
                  <a:lnTo>
                    <a:pt x="839247" y="1412906"/>
                  </a:lnTo>
                  <a:lnTo>
                    <a:pt x="842664" y="1411048"/>
                  </a:lnTo>
                  <a:lnTo>
                    <a:pt x="846607" y="1409455"/>
                  </a:lnTo>
                  <a:lnTo>
                    <a:pt x="850287" y="1408393"/>
                  </a:lnTo>
                  <a:lnTo>
                    <a:pt x="853967" y="1406801"/>
                  </a:lnTo>
                  <a:lnTo>
                    <a:pt x="857647" y="1405739"/>
                  </a:lnTo>
                  <a:lnTo>
                    <a:pt x="861853" y="1404943"/>
                  </a:lnTo>
                  <a:lnTo>
                    <a:pt x="865796" y="1404146"/>
                  </a:lnTo>
                  <a:lnTo>
                    <a:pt x="869739" y="1403616"/>
                  </a:lnTo>
                  <a:lnTo>
                    <a:pt x="873945" y="1403350"/>
                  </a:lnTo>
                  <a:close/>
                  <a:moveTo>
                    <a:pt x="1480345" y="795338"/>
                  </a:moveTo>
                  <a:lnTo>
                    <a:pt x="1484857" y="795603"/>
                  </a:lnTo>
                  <a:lnTo>
                    <a:pt x="1488839" y="795869"/>
                  </a:lnTo>
                  <a:lnTo>
                    <a:pt x="1493086" y="796134"/>
                  </a:lnTo>
                  <a:lnTo>
                    <a:pt x="1497068" y="797196"/>
                  </a:lnTo>
                  <a:lnTo>
                    <a:pt x="1500784" y="797727"/>
                  </a:lnTo>
                  <a:lnTo>
                    <a:pt x="1505031" y="799054"/>
                  </a:lnTo>
                  <a:lnTo>
                    <a:pt x="1508747" y="800381"/>
                  </a:lnTo>
                  <a:lnTo>
                    <a:pt x="1512198" y="801974"/>
                  </a:lnTo>
                  <a:lnTo>
                    <a:pt x="1515914" y="803567"/>
                  </a:lnTo>
                  <a:lnTo>
                    <a:pt x="1519365" y="805425"/>
                  </a:lnTo>
                  <a:lnTo>
                    <a:pt x="1522816" y="807283"/>
                  </a:lnTo>
                  <a:lnTo>
                    <a:pt x="1526266" y="809406"/>
                  </a:lnTo>
                  <a:lnTo>
                    <a:pt x="1532637" y="814184"/>
                  </a:lnTo>
                  <a:lnTo>
                    <a:pt x="1538211" y="819228"/>
                  </a:lnTo>
                  <a:lnTo>
                    <a:pt x="1543520" y="825068"/>
                  </a:lnTo>
                  <a:lnTo>
                    <a:pt x="1548298" y="831438"/>
                  </a:lnTo>
                  <a:lnTo>
                    <a:pt x="1550422" y="834624"/>
                  </a:lnTo>
                  <a:lnTo>
                    <a:pt x="1552545" y="838074"/>
                  </a:lnTo>
                  <a:lnTo>
                    <a:pt x="1554403" y="841791"/>
                  </a:lnTo>
                  <a:lnTo>
                    <a:pt x="1555996" y="845241"/>
                  </a:lnTo>
                  <a:lnTo>
                    <a:pt x="1557589" y="848958"/>
                  </a:lnTo>
                  <a:lnTo>
                    <a:pt x="1558650" y="852939"/>
                  </a:lnTo>
                  <a:lnTo>
                    <a:pt x="1559712" y="856655"/>
                  </a:lnTo>
                  <a:lnTo>
                    <a:pt x="1560509" y="860637"/>
                  </a:lnTo>
                  <a:lnTo>
                    <a:pt x="1561305" y="864884"/>
                  </a:lnTo>
                  <a:lnTo>
                    <a:pt x="1561836" y="868866"/>
                  </a:lnTo>
                  <a:lnTo>
                    <a:pt x="1562101" y="872847"/>
                  </a:lnTo>
                  <a:lnTo>
                    <a:pt x="1562101" y="877094"/>
                  </a:lnTo>
                  <a:lnTo>
                    <a:pt x="1562101" y="881342"/>
                  </a:lnTo>
                  <a:lnTo>
                    <a:pt x="1561836" y="885589"/>
                  </a:lnTo>
                  <a:lnTo>
                    <a:pt x="1561305" y="889570"/>
                  </a:lnTo>
                  <a:lnTo>
                    <a:pt x="1560509" y="893817"/>
                  </a:lnTo>
                  <a:lnTo>
                    <a:pt x="1559712" y="897534"/>
                  </a:lnTo>
                  <a:lnTo>
                    <a:pt x="1558650" y="901515"/>
                  </a:lnTo>
                  <a:lnTo>
                    <a:pt x="1557589" y="905497"/>
                  </a:lnTo>
                  <a:lnTo>
                    <a:pt x="1555996" y="908948"/>
                  </a:lnTo>
                  <a:lnTo>
                    <a:pt x="1554403" y="912664"/>
                  </a:lnTo>
                  <a:lnTo>
                    <a:pt x="1552545" y="916115"/>
                  </a:lnTo>
                  <a:lnTo>
                    <a:pt x="1550422" y="919565"/>
                  </a:lnTo>
                  <a:lnTo>
                    <a:pt x="1548298" y="923016"/>
                  </a:lnTo>
                  <a:lnTo>
                    <a:pt x="1543520" y="929387"/>
                  </a:lnTo>
                  <a:lnTo>
                    <a:pt x="1538211" y="934961"/>
                  </a:lnTo>
                  <a:lnTo>
                    <a:pt x="1532637" y="940270"/>
                  </a:lnTo>
                  <a:lnTo>
                    <a:pt x="1526266" y="945048"/>
                  </a:lnTo>
                  <a:lnTo>
                    <a:pt x="1522816" y="947171"/>
                  </a:lnTo>
                  <a:lnTo>
                    <a:pt x="1519365" y="949030"/>
                  </a:lnTo>
                  <a:lnTo>
                    <a:pt x="1515914" y="950888"/>
                  </a:lnTo>
                  <a:lnTo>
                    <a:pt x="1512198" y="952480"/>
                  </a:lnTo>
                  <a:lnTo>
                    <a:pt x="1508747" y="953808"/>
                  </a:lnTo>
                  <a:lnTo>
                    <a:pt x="1505031" y="955400"/>
                  </a:lnTo>
                  <a:lnTo>
                    <a:pt x="1500784" y="956197"/>
                  </a:lnTo>
                  <a:lnTo>
                    <a:pt x="1497068" y="957258"/>
                  </a:lnTo>
                  <a:lnTo>
                    <a:pt x="1493086" y="957789"/>
                  </a:lnTo>
                  <a:lnTo>
                    <a:pt x="1488839" y="958586"/>
                  </a:lnTo>
                  <a:lnTo>
                    <a:pt x="1484857" y="958851"/>
                  </a:lnTo>
                  <a:lnTo>
                    <a:pt x="1480345" y="958851"/>
                  </a:lnTo>
                  <a:lnTo>
                    <a:pt x="1476363" y="958851"/>
                  </a:lnTo>
                  <a:lnTo>
                    <a:pt x="1472116" y="958586"/>
                  </a:lnTo>
                  <a:lnTo>
                    <a:pt x="1468134" y="957789"/>
                  </a:lnTo>
                  <a:lnTo>
                    <a:pt x="1464153" y="957258"/>
                  </a:lnTo>
                  <a:lnTo>
                    <a:pt x="1459906" y="956197"/>
                  </a:lnTo>
                  <a:lnTo>
                    <a:pt x="1456189" y="955400"/>
                  </a:lnTo>
                  <a:lnTo>
                    <a:pt x="1452473" y="953808"/>
                  </a:lnTo>
                  <a:lnTo>
                    <a:pt x="1448757" y="952480"/>
                  </a:lnTo>
                  <a:lnTo>
                    <a:pt x="1445306" y="950888"/>
                  </a:lnTo>
                  <a:lnTo>
                    <a:pt x="1441325" y="949030"/>
                  </a:lnTo>
                  <a:lnTo>
                    <a:pt x="1437874" y="947171"/>
                  </a:lnTo>
                  <a:lnTo>
                    <a:pt x="1434954" y="945048"/>
                  </a:lnTo>
                  <a:lnTo>
                    <a:pt x="1428583" y="940270"/>
                  </a:lnTo>
                  <a:lnTo>
                    <a:pt x="1422478" y="934961"/>
                  </a:lnTo>
                  <a:lnTo>
                    <a:pt x="1417435" y="929387"/>
                  </a:lnTo>
                  <a:lnTo>
                    <a:pt x="1412922" y="923016"/>
                  </a:lnTo>
                  <a:lnTo>
                    <a:pt x="1410533" y="919565"/>
                  </a:lnTo>
                  <a:lnTo>
                    <a:pt x="1408675" y="916115"/>
                  </a:lnTo>
                  <a:lnTo>
                    <a:pt x="1406817" y="912664"/>
                  </a:lnTo>
                  <a:lnTo>
                    <a:pt x="1405224" y="908948"/>
                  </a:lnTo>
                  <a:lnTo>
                    <a:pt x="1403632" y="905497"/>
                  </a:lnTo>
                  <a:lnTo>
                    <a:pt x="1402304" y="901515"/>
                  </a:lnTo>
                  <a:lnTo>
                    <a:pt x="1401243" y="897534"/>
                  </a:lnTo>
                  <a:lnTo>
                    <a:pt x="1400446" y="893817"/>
                  </a:lnTo>
                  <a:lnTo>
                    <a:pt x="1399650" y="889570"/>
                  </a:lnTo>
                  <a:lnTo>
                    <a:pt x="1399385" y="885589"/>
                  </a:lnTo>
                  <a:lnTo>
                    <a:pt x="1398854" y="881342"/>
                  </a:lnTo>
                  <a:lnTo>
                    <a:pt x="1398588" y="877094"/>
                  </a:lnTo>
                  <a:lnTo>
                    <a:pt x="1398854" y="872847"/>
                  </a:lnTo>
                  <a:lnTo>
                    <a:pt x="1399385" y="868866"/>
                  </a:lnTo>
                  <a:lnTo>
                    <a:pt x="1399650" y="864884"/>
                  </a:lnTo>
                  <a:lnTo>
                    <a:pt x="1400446" y="860637"/>
                  </a:lnTo>
                  <a:lnTo>
                    <a:pt x="1401243" y="856655"/>
                  </a:lnTo>
                  <a:lnTo>
                    <a:pt x="1402304" y="852939"/>
                  </a:lnTo>
                  <a:lnTo>
                    <a:pt x="1403632" y="848958"/>
                  </a:lnTo>
                  <a:lnTo>
                    <a:pt x="1405224" y="845241"/>
                  </a:lnTo>
                  <a:lnTo>
                    <a:pt x="1406817" y="841791"/>
                  </a:lnTo>
                  <a:lnTo>
                    <a:pt x="1408675" y="838074"/>
                  </a:lnTo>
                  <a:lnTo>
                    <a:pt x="1410533" y="834624"/>
                  </a:lnTo>
                  <a:lnTo>
                    <a:pt x="1412922" y="831438"/>
                  </a:lnTo>
                  <a:lnTo>
                    <a:pt x="1417435" y="825068"/>
                  </a:lnTo>
                  <a:lnTo>
                    <a:pt x="1422478" y="819228"/>
                  </a:lnTo>
                  <a:lnTo>
                    <a:pt x="1428583" y="814184"/>
                  </a:lnTo>
                  <a:lnTo>
                    <a:pt x="1434954" y="809406"/>
                  </a:lnTo>
                  <a:lnTo>
                    <a:pt x="1437874" y="807283"/>
                  </a:lnTo>
                  <a:lnTo>
                    <a:pt x="1441325" y="805425"/>
                  </a:lnTo>
                  <a:lnTo>
                    <a:pt x="1445306" y="803567"/>
                  </a:lnTo>
                  <a:lnTo>
                    <a:pt x="1448757" y="801974"/>
                  </a:lnTo>
                  <a:lnTo>
                    <a:pt x="1452473" y="800381"/>
                  </a:lnTo>
                  <a:lnTo>
                    <a:pt x="1456189" y="799054"/>
                  </a:lnTo>
                  <a:lnTo>
                    <a:pt x="1459906" y="797727"/>
                  </a:lnTo>
                  <a:lnTo>
                    <a:pt x="1464153" y="797196"/>
                  </a:lnTo>
                  <a:lnTo>
                    <a:pt x="1468134" y="796134"/>
                  </a:lnTo>
                  <a:lnTo>
                    <a:pt x="1472116" y="795869"/>
                  </a:lnTo>
                  <a:lnTo>
                    <a:pt x="1476363" y="795603"/>
                  </a:lnTo>
                  <a:lnTo>
                    <a:pt x="1480345" y="795338"/>
                  </a:lnTo>
                  <a:close/>
                  <a:moveTo>
                    <a:pt x="876984" y="177800"/>
                  </a:moveTo>
                  <a:lnTo>
                    <a:pt x="883326" y="178065"/>
                  </a:lnTo>
                  <a:lnTo>
                    <a:pt x="889669" y="179124"/>
                  </a:lnTo>
                  <a:lnTo>
                    <a:pt x="895482" y="180713"/>
                  </a:lnTo>
                  <a:lnTo>
                    <a:pt x="901032" y="182832"/>
                  </a:lnTo>
                  <a:lnTo>
                    <a:pt x="906581" y="185215"/>
                  </a:lnTo>
                  <a:lnTo>
                    <a:pt x="911867" y="188393"/>
                  </a:lnTo>
                  <a:lnTo>
                    <a:pt x="916359" y="191836"/>
                  </a:lnTo>
                  <a:lnTo>
                    <a:pt x="920851" y="196074"/>
                  </a:lnTo>
                  <a:lnTo>
                    <a:pt x="924815" y="200311"/>
                  </a:lnTo>
                  <a:lnTo>
                    <a:pt x="928251" y="205078"/>
                  </a:lnTo>
                  <a:lnTo>
                    <a:pt x="931422" y="210375"/>
                  </a:lnTo>
                  <a:lnTo>
                    <a:pt x="934065" y="215672"/>
                  </a:lnTo>
                  <a:lnTo>
                    <a:pt x="936179" y="221498"/>
                  </a:lnTo>
                  <a:lnTo>
                    <a:pt x="937764" y="227325"/>
                  </a:lnTo>
                  <a:lnTo>
                    <a:pt x="938821" y="233681"/>
                  </a:lnTo>
                  <a:lnTo>
                    <a:pt x="939086" y="240037"/>
                  </a:lnTo>
                  <a:lnTo>
                    <a:pt x="939086" y="766534"/>
                  </a:lnTo>
                  <a:lnTo>
                    <a:pt x="945956" y="770772"/>
                  </a:lnTo>
                  <a:lnTo>
                    <a:pt x="952827" y="775539"/>
                  </a:lnTo>
                  <a:lnTo>
                    <a:pt x="959169" y="780835"/>
                  </a:lnTo>
                  <a:lnTo>
                    <a:pt x="964983" y="786397"/>
                  </a:lnTo>
                  <a:lnTo>
                    <a:pt x="971061" y="792488"/>
                  </a:lnTo>
                  <a:lnTo>
                    <a:pt x="976082" y="798844"/>
                  </a:lnTo>
                  <a:lnTo>
                    <a:pt x="980839" y="805465"/>
                  </a:lnTo>
                  <a:lnTo>
                    <a:pt x="985331" y="812351"/>
                  </a:lnTo>
                  <a:lnTo>
                    <a:pt x="989295" y="819502"/>
                  </a:lnTo>
                  <a:lnTo>
                    <a:pt x="992995" y="826917"/>
                  </a:lnTo>
                  <a:lnTo>
                    <a:pt x="995902" y="834862"/>
                  </a:lnTo>
                  <a:lnTo>
                    <a:pt x="998545" y="843072"/>
                  </a:lnTo>
                  <a:lnTo>
                    <a:pt x="1000394" y="851282"/>
                  </a:lnTo>
                  <a:lnTo>
                    <a:pt x="1001980" y="859757"/>
                  </a:lnTo>
                  <a:lnTo>
                    <a:pt x="1002773" y="868497"/>
                  </a:lnTo>
                  <a:lnTo>
                    <a:pt x="1003301" y="877236"/>
                  </a:lnTo>
                  <a:lnTo>
                    <a:pt x="1002773" y="883857"/>
                  </a:lnTo>
                  <a:lnTo>
                    <a:pt x="1002244" y="889948"/>
                  </a:lnTo>
                  <a:lnTo>
                    <a:pt x="1001716" y="896569"/>
                  </a:lnTo>
                  <a:lnTo>
                    <a:pt x="1000394" y="902925"/>
                  </a:lnTo>
                  <a:lnTo>
                    <a:pt x="999073" y="909017"/>
                  </a:lnTo>
                  <a:lnTo>
                    <a:pt x="997223" y="915108"/>
                  </a:lnTo>
                  <a:lnTo>
                    <a:pt x="995373" y="921199"/>
                  </a:lnTo>
                  <a:lnTo>
                    <a:pt x="993259" y="926761"/>
                  </a:lnTo>
                  <a:lnTo>
                    <a:pt x="990352" y="932322"/>
                  </a:lnTo>
                  <a:lnTo>
                    <a:pt x="987445" y="938149"/>
                  </a:lnTo>
                  <a:lnTo>
                    <a:pt x="984803" y="943446"/>
                  </a:lnTo>
                  <a:lnTo>
                    <a:pt x="981367" y="948478"/>
                  </a:lnTo>
                  <a:lnTo>
                    <a:pt x="977932" y="953509"/>
                  </a:lnTo>
                  <a:lnTo>
                    <a:pt x="973968" y="958541"/>
                  </a:lnTo>
                  <a:lnTo>
                    <a:pt x="970004" y="962779"/>
                  </a:lnTo>
                  <a:lnTo>
                    <a:pt x="965512" y="967281"/>
                  </a:lnTo>
                  <a:lnTo>
                    <a:pt x="961284" y="971783"/>
                  </a:lnTo>
                  <a:lnTo>
                    <a:pt x="956527" y="975756"/>
                  </a:lnTo>
                  <a:lnTo>
                    <a:pt x="951770" y="979464"/>
                  </a:lnTo>
                  <a:lnTo>
                    <a:pt x="946749" y="982906"/>
                  </a:lnTo>
                  <a:lnTo>
                    <a:pt x="941728" y="986349"/>
                  </a:lnTo>
                  <a:lnTo>
                    <a:pt x="936443" y="989527"/>
                  </a:lnTo>
                  <a:lnTo>
                    <a:pt x="930893" y="992441"/>
                  </a:lnTo>
                  <a:lnTo>
                    <a:pt x="925344" y="994824"/>
                  </a:lnTo>
                  <a:lnTo>
                    <a:pt x="919530" y="996943"/>
                  </a:lnTo>
                  <a:lnTo>
                    <a:pt x="913716" y="999062"/>
                  </a:lnTo>
                  <a:lnTo>
                    <a:pt x="907374" y="1000915"/>
                  </a:lnTo>
                  <a:lnTo>
                    <a:pt x="901560" y="1001975"/>
                  </a:lnTo>
                  <a:lnTo>
                    <a:pt x="895218" y="1003299"/>
                  </a:lnTo>
                  <a:lnTo>
                    <a:pt x="888611" y="1004358"/>
                  </a:lnTo>
                  <a:lnTo>
                    <a:pt x="882269" y="1004623"/>
                  </a:lnTo>
                  <a:lnTo>
                    <a:pt x="875663" y="1004888"/>
                  </a:lnTo>
                  <a:lnTo>
                    <a:pt x="866678" y="1004623"/>
                  </a:lnTo>
                  <a:lnTo>
                    <a:pt x="857693" y="1003564"/>
                  </a:lnTo>
                  <a:lnTo>
                    <a:pt x="849236" y="1001975"/>
                  </a:lnTo>
                  <a:lnTo>
                    <a:pt x="840780" y="999856"/>
                  </a:lnTo>
                  <a:lnTo>
                    <a:pt x="832324" y="997473"/>
                  </a:lnTo>
                  <a:lnTo>
                    <a:pt x="824396" y="994030"/>
                  </a:lnTo>
                  <a:lnTo>
                    <a:pt x="816732" y="990587"/>
                  </a:lnTo>
                  <a:lnTo>
                    <a:pt x="809333" y="986084"/>
                  </a:lnTo>
                  <a:lnTo>
                    <a:pt x="802198" y="981317"/>
                  </a:lnTo>
                  <a:lnTo>
                    <a:pt x="795591" y="976286"/>
                  </a:lnTo>
                  <a:lnTo>
                    <a:pt x="788984" y="970724"/>
                  </a:lnTo>
                  <a:lnTo>
                    <a:pt x="783170" y="964633"/>
                  </a:lnTo>
                  <a:lnTo>
                    <a:pt x="777357" y="958541"/>
                  </a:lnTo>
                  <a:lnTo>
                    <a:pt x="772600" y="951920"/>
                  </a:lnTo>
                  <a:lnTo>
                    <a:pt x="767843" y="944770"/>
                  </a:lnTo>
                  <a:lnTo>
                    <a:pt x="763351" y="937354"/>
                  </a:lnTo>
                  <a:lnTo>
                    <a:pt x="413204" y="937354"/>
                  </a:lnTo>
                  <a:lnTo>
                    <a:pt x="406597" y="937090"/>
                  </a:lnTo>
                  <a:lnTo>
                    <a:pt x="400519" y="936295"/>
                  </a:lnTo>
                  <a:lnTo>
                    <a:pt x="394705" y="934706"/>
                  </a:lnTo>
                  <a:lnTo>
                    <a:pt x="388627" y="932322"/>
                  </a:lnTo>
                  <a:lnTo>
                    <a:pt x="383342" y="929939"/>
                  </a:lnTo>
                  <a:lnTo>
                    <a:pt x="378321" y="926761"/>
                  </a:lnTo>
                  <a:lnTo>
                    <a:pt x="373564" y="923053"/>
                  </a:lnTo>
                  <a:lnTo>
                    <a:pt x="368808" y="919345"/>
                  </a:lnTo>
                  <a:lnTo>
                    <a:pt x="365108" y="914843"/>
                  </a:lnTo>
                  <a:lnTo>
                    <a:pt x="361408" y="909811"/>
                  </a:lnTo>
                  <a:lnTo>
                    <a:pt x="358237" y="904779"/>
                  </a:lnTo>
                  <a:lnTo>
                    <a:pt x="355859" y="899483"/>
                  </a:lnTo>
                  <a:lnTo>
                    <a:pt x="353480" y="893921"/>
                  </a:lnTo>
                  <a:lnTo>
                    <a:pt x="352159" y="887830"/>
                  </a:lnTo>
                  <a:lnTo>
                    <a:pt x="351102" y="881474"/>
                  </a:lnTo>
                  <a:lnTo>
                    <a:pt x="350838" y="875382"/>
                  </a:lnTo>
                  <a:lnTo>
                    <a:pt x="351102" y="868761"/>
                  </a:lnTo>
                  <a:lnTo>
                    <a:pt x="352159" y="862670"/>
                  </a:lnTo>
                  <a:lnTo>
                    <a:pt x="353480" y="856844"/>
                  </a:lnTo>
                  <a:lnTo>
                    <a:pt x="355859" y="850752"/>
                  </a:lnTo>
                  <a:lnTo>
                    <a:pt x="358237" y="845456"/>
                  </a:lnTo>
                  <a:lnTo>
                    <a:pt x="361408" y="840424"/>
                  </a:lnTo>
                  <a:lnTo>
                    <a:pt x="365108" y="835392"/>
                  </a:lnTo>
                  <a:lnTo>
                    <a:pt x="368808" y="831154"/>
                  </a:lnTo>
                  <a:lnTo>
                    <a:pt x="373564" y="827447"/>
                  </a:lnTo>
                  <a:lnTo>
                    <a:pt x="378321" y="823474"/>
                  </a:lnTo>
                  <a:lnTo>
                    <a:pt x="383342" y="820296"/>
                  </a:lnTo>
                  <a:lnTo>
                    <a:pt x="388627" y="817913"/>
                  </a:lnTo>
                  <a:lnTo>
                    <a:pt x="394705" y="815794"/>
                  </a:lnTo>
                  <a:lnTo>
                    <a:pt x="400519" y="814205"/>
                  </a:lnTo>
                  <a:lnTo>
                    <a:pt x="406597" y="813146"/>
                  </a:lnTo>
                  <a:lnTo>
                    <a:pt x="413204" y="812881"/>
                  </a:lnTo>
                  <a:lnTo>
                    <a:pt x="765465" y="812881"/>
                  </a:lnTo>
                  <a:lnTo>
                    <a:pt x="770222" y="805730"/>
                  </a:lnTo>
                  <a:lnTo>
                    <a:pt x="775507" y="798579"/>
                  </a:lnTo>
                  <a:lnTo>
                    <a:pt x="780792" y="791959"/>
                  </a:lnTo>
                  <a:lnTo>
                    <a:pt x="786870" y="785602"/>
                  </a:lnTo>
                  <a:lnTo>
                    <a:pt x="793477" y="779511"/>
                  </a:lnTo>
                  <a:lnTo>
                    <a:pt x="800348" y="774214"/>
                  </a:lnTo>
                  <a:lnTo>
                    <a:pt x="807483" y="769183"/>
                  </a:lnTo>
                  <a:lnTo>
                    <a:pt x="815147" y="764945"/>
                  </a:lnTo>
                  <a:lnTo>
                    <a:pt x="815147" y="240037"/>
                  </a:lnTo>
                  <a:lnTo>
                    <a:pt x="815411" y="233681"/>
                  </a:lnTo>
                  <a:lnTo>
                    <a:pt x="816204" y="227325"/>
                  </a:lnTo>
                  <a:lnTo>
                    <a:pt x="817789" y="221498"/>
                  </a:lnTo>
                  <a:lnTo>
                    <a:pt x="819639" y="215672"/>
                  </a:lnTo>
                  <a:lnTo>
                    <a:pt x="822546" y="210375"/>
                  </a:lnTo>
                  <a:lnTo>
                    <a:pt x="825717" y="205078"/>
                  </a:lnTo>
                  <a:lnTo>
                    <a:pt x="829153" y="200311"/>
                  </a:lnTo>
                  <a:lnTo>
                    <a:pt x="833116" y="196074"/>
                  </a:lnTo>
                  <a:lnTo>
                    <a:pt x="837609" y="191836"/>
                  </a:lnTo>
                  <a:lnTo>
                    <a:pt x="842366" y="188393"/>
                  </a:lnTo>
                  <a:lnTo>
                    <a:pt x="847387" y="185215"/>
                  </a:lnTo>
                  <a:lnTo>
                    <a:pt x="852936" y="182832"/>
                  </a:lnTo>
                  <a:lnTo>
                    <a:pt x="858486" y="180713"/>
                  </a:lnTo>
                  <a:lnTo>
                    <a:pt x="864564" y="179124"/>
                  </a:lnTo>
                  <a:lnTo>
                    <a:pt x="870642" y="178065"/>
                  </a:lnTo>
                  <a:lnTo>
                    <a:pt x="876984" y="177800"/>
                  </a:lnTo>
                  <a:close/>
                  <a:moveTo>
                    <a:pt x="856991" y="124392"/>
                  </a:moveTo>
                  <a:lnTo>
                    <a:pt x="837683" y="125450"/>
                  </a:lnTo>
                  <a:lnTo>
                    <a:pt x="818374" y="126774"/>
                  </a:lnTo>
                  <a:lnTo>
                    <a:pt x="799594" y="128362"/>
                  </a:lnTo>
                  <a:lnTo>
                    <a:pt x="780550" y="130479"/>
                  </a:lnTo>
                  <a:lnTo>
                    <a:pt x="762034" y="132861"/>
                  </a:lnTo>
                  <a:lnTo>
                    <a:pt x="743255" y="136037"/>
                  </a:lnTo>
                  <a:lnTo>
                    <a:pt x="725004" y="139478"/>
                  </a:lnTo>
                  <a:lnTo>
                    <a:pt x="706489" y="143712"/>
                  </a:lnTo>
                  <a:lnTo>
                    <a:pt x="688502" y="147947"/>
                  </a:lnTo>
                  <a:lnTo>
                    <a:pt x="670516" y="152975"/>
                  </a:lnTo>
                  <a:lnTo>
                    <a:pt x="653059" y="158269"/>
                  </a:lnTo>
                  <a:lnTo>
                    <a:pt x="635337" y="164091"/>
                  </a:lnTo>
                  <a:lnTo>
                    <a:pt x="617880" y="169914"/>
                  </a:lnTo>
                  <a:lnTo>
                    <a:pt x="600687" y="176530"/>
                  </a:lnTo>
                  <a:lnTo>
                    <a:pt x="583759" y="183412"/>
                  </a:lnTo>
                  <a:lnTo>
                    <a:pt x="567095" y="191087"/>
                  </a:lnTo>
                  <a:lnTo>
                    <a:pt x="550432" y="198762"/>
                  </a:lnTo>
                  <a:lnTo>
                    <a:pt x="534297" y="206967"/>
                  </a:lnTo>
                  <a:lnTo>
                    <a:pt x="517898" y="215436"/>
                  </a:lnTo>
                  <a:lnTo>
                    <a:pt x="502292" y="224170"/>
                  </a:lnTo>
                  <a:lnTo>
                    <a:pt x="486686" y="233698"/>
                  </a:lnTo>
                  <a:lnTo>
                    <a:pt x="471345" y="242961"/>
                  </a:lnTo>
                  <a:lnTo>
                    <a:pt x="456268" y="253018"/>
                  </a:lnTo>
                  <a:lnTo>
                    <a:pt x="441192" y="263340"/>
                  </a:lnTo>
                  <a:lnTo>
                    <a:pt x="426379" y="274191"/>
                  </a:lnTo>
                  <a:lnTo>
                    <a:pt x="412361" y="285042"/>
                  </a:lnTo>
                  <a:lnTo>
                    <a:pt x="398342" y="296423"/>
                  </a:lnTo>
                  <a:lnTo>
                    <a:pt x="384588" y="308333"/>
                  </a:lnTo>
                  <a:lnTo>
                    <a:pt x="371098" y="320243"/>
                  </a:lnTo>
                  <a:lnTo>
                    <a:pt x="357608" y="332417"/>
                  </a:lnTo>
                  <a:lnTo>
                    <a:pt x="344648" y="344856"/>
                  </a:lnTo>
                  <a:lnTo>
                    <a:pt x="332216" y="358089"/>
                  </a:lnTo>
                  <a:lnTo>
                    <a:pt x="319784" y="371323"/>
                  </a:lnTo>
                  <a:lnTo>
                    <a:pt x="307617" y="384820"/>
                  </a:lnTo>
                  <a:lnTo>
                    <a:pt x="295979" y="398583"/>
                  </a:lnTo>
                  <a:lnTo>
                    <a:pt x="284870" y="412610"/>
                  </a:lnTo>
                  <a:lnTo>
                    <a:pt x="273761" y="427167"/>
                  </a:lnTo>
                  <a:lnTo>
                    <a:pt x="263181" y="441458"/>
                  </a:lnTo>
                  <a:lnTo>
                    <a:pt x="252865" y="456544"/>
                  </a:lnTo>
                  <a:lnTo>
                    <a:pt x="242814" y="471630"/>
                  </a:lnTo>
                  <a:lnTo>
                    <a:pt x="233027" y="486980"/>
                  </a:lnTo>
                  <a:lnTo>
                    <a:pt x="224034" y="502596"/>
                  </a:lnTo>
                  <a:lnTo>
                    <a:pt x="215041" y="518740"/>
                  </a:lnTo>
                  <a:lnTo>
                    <a:pt x="206577" y="534620"/>
                  </a:lnTo>
                  <a:lnTo>
                    <a:pt x="198377" y="551029"/>
                  </a:lnTo>
                  <a:lnTo>
                    <a:pt x="190707" y="567438"/>
                  </a:lnTo>
                  <a:lnTo>
                    <a:pt x="183301" y="584112"/>
                  </a:lnTo>
                  <a:lnTo>
                    <a:pt x="176424" y="601315"/>
                  </a:lnTo>
                  <a:lnTo>
                    <a:pt x="169811" y="618253"/>
                  </a:lnTo>
                  <a:lnTo>
                    <a:pt x="163992" y="635986"/>
                  </a:lnTo>
                  <a:lnTo>
                    <a:pt x="157908" y="653454"/>
                  </a:lnTo>
                  <a:lnTo>
                    <a:pt x="152883" y="670921"/>
                  </a:lnTo>
                  <a:lnTo>
                    <a:pt x="147857" y="689183"/>
                  </a:lnTo>
                  <a:lnTo>
                    <a:pt x="143625" y="707180"/>
                  </a:lnTo>
                  <a:lnTo>
                    <a:pt x="139393" y="725707"/>
                  </a:lnTo>
                  <a:lnTo>
                    <a:pt x="135955" y="743704"/>
                  </a:lnTo>
                  <a:lnTo>
                    <a:pt x="132781" y="762495"/>
                  </a:lnTo>
                  <a:lnTo>
                    <a:pt x="130400" y="781551"/>
                  </a:lnTo>
                  <a:lnTo>
                    <a:pt x="128019" y="800342"/>
                  </a:lnTo>
                  <a:lnTo>
                    <a:pt x="126168" y="819133"/>
                  </a:lnTo>
                  <a:lnTo>
                    <a:pt x="125110" y="838189"/>
                  </a:lnTo>
                  <a:lnTo>
                    <a:pt x="124316" y="857509"/>
                  </a:lnTo>
                  <a:lnTo>
                    <a:pt x="124052" y="877094"/>
                  </a:lnTo>
                  <a:lnTo>
                    <a:pt x="124316" y="896414"/>
                  </a:lnTo>
                  <a:lnTo>
                    <a:pt x="125110" y="915735"/>
                  </a:lnTo>
                  <a:lnTo>
                    <a:pt x="126168" y="934791"/>
                  </a:lnTo>
                  <a:lnTo>
                    <a:pt x="128019" y="953846"/>
                  </a:lnTo>
                  <a:lnTo>
                    <a:pt x="130400" y="972637"/>
                  </a:lnTo>
                  <a:lnTo>
                    <a:pt x="132781" y="991428"/>
                  </a:lnTo>
                  <a:lnTo>
                    <a:pt x="135955" y="1009955"/>
                  </a:lnTo>
                  <a:lnTo>
                    <a:pt x="139393" y="1028481"/>
                  </a:lnTo>
                  <a:lnTo>
                    <a:pt x="143625" y="1046743"/>
                  </a:lnTo>
                  <a:lnTo>
                    <a:pt x="147857" y="1065005"/>
                  </a:lnTo>
                  <a:lnTo>
                    <a:pt x="152883" y="1082737"/>
                  </a:lnTo>
                  <a:lnTo>
                    <a:pt x="157908" y="1100734"/>
                  </a:lnTo>
                  <a:lnTo>
                    <a:pt x="163992" y="1118202"/>
                  </a:lnTo>
                  <a:lnTo>
                    <a:pt x="169811" y="1135405"/>
                  </a:lnTo>
                  <a:lnTo>
                    <a:pt x="176424" y="1152608"/>
                  </a:lnTo>
                  <a:lnTo>
                    <a:pt x="183301" y="1169547"/>
                  </a:lnTo>
                  <a:lnTo>
                    <a:pt x="190707" y="1186485"/>
                  </a:lnTo>
                  <a:lnTo>
                    <a:pt x="198377" y="1203159"/>
                  </a:lnTo>
                  <a:lnTo>
                    <a:pt x="206577" y="1219568"/>
                  </a:lnTo>
                  <a:lnTo>
                    <a:pt x="215041" y="1235448"/>
                  </a:lnTo>
                  <a:lnTo>
                    <a:pt x="224034" y="1251592"/>
                  </a:lnTo>
                  <a:lnTo>
                    <a:pt x="233027" y="1267208"/>
                  </a:lnTo>
                  <a:lnTo>
                    <a:pt x="242814" y="1282558"/>
                  </a:lnTo>
                  <a:lnTo>
                    <a:pt x="252865" y="1297644"/>
                  </a:lnTo>
                  <a:lnTo>
                    <a:pt x="263181" y="1312200"/>
                  </a:lnTo>
                  <a:lnTo>
                    <a:pt x="273761" y="1327021"/>
                  </a:lnTo>
                  <a:lnTo>
                    <a:pt x="284870" y="1341578"/>
                  </a:lnTo>
                  <a:lnTo>
                    <a:pt x="295979" y="1355605"/>
                  </a:lnTo>
                  <a:lnTo>
                    <a:pt x="307617" y="1369368"/>
                  </a:lnTo>
                  <a:lnTo>
                    <a:pt x="319784" y="1382865"/>
                  </a:lnTo>
                  <a:lnTo>
                    <a:pt x="332216" y="1396099"/>
                  </a:lnTo>
                  <a:lnTo>
                    <a:pt x="344648" y="1408803"/>
                  </a:lnTo>
                  <a:lnTo>
                    <a:pt x="357608" y="1421771"/>
                  </a:lnTo>
                  <a:lnTo>
                    <a:pt x="371098" y="1433946"/>
                  </a:lnTo>
                  <a:lnTo>
                    <a:pt x="384588" y="1445855"/>
                  </a:lnTo>
                  <a:lnTo>
                    <a:pt x="398342" y="1457501"/>
                  </a:lnTo>
                  <a:lnTo>
                    <a:pt x="412361" y="1469146"/>
                  </a:lnTo>
                  <a:lnTo>
                    <a:pt x="426379" y="1479997"/>
                  </a:lnTo>
                  <a:lnTo>
                    <a:pt x="441192" y="1490848"/>
                  </a:lnTo>
                  <a:lnTo>
                    <a:pt x="456268" y="1501170"/>
                  </a:lnTo>
                  <a:lnTo>
                    <a:pt x="471345" y="1511227"/>
                  </a:lnTo>
                  <a:lnTo>
                    <a:pt x="486686" y="1520490"/>
                  </a:lnTo>
                  <a:lnTo>
                    <a:pt x="502292" y="1530018"/>
                  </a:lnTo>
                  <a:lnTo>
                    <a:pt x="517898" y="1538752"/>
                  </a:lnTo>
                  <a:lnTo>
                    <a:pt x="534297" y="1547221"/>
                  </a:lnTo>
                  <a:lnTo>
                    <a:pt x="550432" y="1555426"/>
                  </a:lnTo>
                  <a:lnTo>
                    <a:pt x="567095" y="1563101"/>
                  </a:lnTo>
                  <a:lnTo>
                    <a:pt x="583759" y="1570512"/>
                  </a:lnTo>
                  <a:lnTo>
                    <a:pt x="600687" y="1577393"/>
                  </a:lnTo>
                  <a:lnTo>
                    <a:pt x="617880" y="1583745"/>
                  </a:lnTo>
                  <a:lnTo>
                    <a:pt x="635337" y="1590097"/>
                  </a:lnTo>
                  <a:lnTo>
                    <a:pt x="653059" y="1595655"/>
                  </a:lnTo>
                  <a:lnTo>
                    <a:pt x="670516" y="1601213"/>
                  </a:lnTo>
                  <a:lnTo>
                    <a:pt x="688502" y="1605712"/>
                  </a:lnTo>
                  <a:lnTo>
                    <a:pt x="706489" y="1610476"/>
                  </a:lnTo>
                  <a:lnTo>
                    <a:pt x="725004" y="1614181"/>
                  </a:lnTo>
                  <a:lnTo>
                    <a:pt x="743255" y="1618151"/>
                  </a:lnTo>
                  <a:lnTo>
                    <a:pt x="762034" y="1620798"/>
                  </a:lnTo>
                  <a:lnTo>
                    <a:pt x="780550" y="1623709"/>
                  </a:lnTo>
                  <a:lnTo>
                    <a:pt x="799594" y="1625826"/>
                  </a:lnTo>
                  <a:lnTo>
                    <a:pt x="818374" y="1627414"/>
                  </a:lnTo>
                  <a:lnTo>
                    <a:pt x="837683" y="1628738"/>
                  </a:lnTo>
                  <a:lnTo>
                    <a:pt x="856991" y="1629267"/>
                  </a:lnTo>
                  <a:lnTo>
                    <a:pt x="876300" y="1629532"/>
                  </a:lnTo>
                  <a:lnTo>
                    <a:pt x="895873" y="1629267"/>
                  </a:lnTo>
                  <a:lnTo>
                    <a:pt x="914918" y="1628738"/>
                  </a:lnTo>
                  <a:lnTo>
                    <a:pt x="933962" y="1627414"/>
                  </a:lnTo>
                  <a:lnTo>
                    <a:pt x="953271" y="1625826"/>
                  </a:lnTo>
                  <a:lnTo>
                    <a:pt x="972050" y="1623709"/>
                  </a:lnTo>
                  <a:lnTo>
                    <a:pt x="990830" y="1620798"/>
                  </a:lnTo>
                  <a:lnTo>
                    <a:pt x="1009345" y="1618151"/>
                  </a:lnTo>
                  <a:lnTo>
                    <a:pt x="1027861" y="1614181"/>
                  </a:lnTo>
                  <a:lnTo>
                    <a:pt x="1045847" y="1610476"/>
                  </a:lnTo>
                  <a:lnTo>
                    <a:pt x="1064098" y="1605712"/>
                  </a:lnTo>
                  <a:lnTo>
                    <a:pt x="1082084" y="1601213"/>
                  </a:lnTo>
                  <a:lnTo>
                    <a:pt x="1099806" y="1595655"/>
                  </a:lnTo>
                  <a:lnTo>
                    <a:pt x="1117263" y="1590097"/>
                  </a:lnTo>
                  <a:lnTo>
                    <a:pt x="1134720" y="1583745"/>
                  </a:lnTo>
                  <a:lnTo>
                    <a:pt x="1151913" y="1577393"/>
                  </a:lnTo>
                  <a:lnTo>
                    <a:pt x="1168841" y="1570512"/>
                  </a:lnTo>
                  <a:lnTo>
                    <a:pt x="1185769" y="1563101"/>
                  </a:lnTo>
                  <a:lnTo>
                    <a:pt x="1201904" y="1555426"/>
                  </a:lnTo>
                  <a:lnTo>
                    <a:pt x="1218568" y="1547221"/>
                  </a:lnTo>
                  <a:lnTo>
                    <a:pt x="1234702" y="1538752"/>
                  </a:lnTo>
                  <a:lnTo>
                    <a:pt x="1250573" y="1530018"/>
                  </a:lnTo>
                  <a:lnTo>
                    <a:pt x="1265914" y="1520490"/>
                  </a:lnTo>
                  <a:lnTo>
                    <a:pt x="1281255" y="1511227"/>
                  </a:lnTo>
                  <a:lnTo>
                    <a:pt x="1296596" y="1501170"/>
                  </a:lnTo>
                  <a:lnTo>
                    <a:pt x="1311408" y="1490848"/>
                  </a:lnTo>
                  <a:lnTo>
                    <a:pt x="1325956" y="1479997"/>
                  </a:lnTo>
                  <a:lnTo>
                    <a:pt x="1340504" y="1469146"/>
                  </a:lnTo>
                  <a:lnTo>
                    <a:pt x="1354522" y="1457501"/>
                  </a:lnTo>
                  <a:lnTo>
                    <a:pt x="1368277" y="1445855"/>
                  </a:lnTo>
                  <a:lnTo>
                    <a:pt x="1381766" y="1433946"/>
                  </a:lnTo>
                  <a:lnTo>
                    <a:pt x="1394991" y="1421771"/>
                  </a:lnTo>
                  <a:lnTo>
                    <a:pt x="1407952" y="1408803"/>
                  </a:lnTo>
                  <a:lnTo>
                    <a:pt x="1420384" y="1396099"/>
                  </a:lnTo>
                  <a:lnTo>
                    <a:pt x="1432815" y="1382865"/>
                  </a:lnTo>
                  <a:lnTo>
                    <a:pt x="1444718" y="1369368"/>
                  </a:lnTo>
                  <a:lnTo>
                    <a:pt x="1456356" y="1355605"/>
                  </a:lnTo>
                  <a:lnTo>
                    <a:pt x="1467730" y="1341578"/>
                  </a:lnTo>
                  <a:lnTo>
                    <a:pt x="1479104" y="1327021"/>
                  </a:lnTo>
                  <a:lnTo>
                    <a:pt x="1489684" y="1312200"/>
                  </a:lnTo>
                  <a:lnTo>
                    <a:pt x="1499735" y="1297644"/>
                  </a:lnTo>
                  <a:lnTo>
                    <a:pt x="1509786" y="1282558"/>
                  </a:lnTo>
                  <a:lnTo>
                    <a:pt x="1519308" y="1267208"/>
                  </a:lnTo>
                  <a:lnTo>
                    <a:pt x="1528830" y="1251592"/>
                  </a:lnTo>
                  <a:lnTo>
                    <a:pt x="1537559" y="1235448"/>
                  </a:lnTo>
                  <a:lnTo>
                    <a:pt x="1546023" y="1219568"/>
                  </a:lnTo>
                  <a:lnTo>
                    <a:pt x="1554223" y="1203159"/>
                  </a:lnTo>
                  <a:lnTo>
                    <a:pt x="1561893" y="1186485"/>
                  </a:lnTo>
                  <a:lnTo>
                    <a:pt x="1569299" y="1169547"/>
                  </a:lnTo>
                  <a:lnTo>
                    <a:pt x="1576176" y="1152608"/>
                  </a:lnTo>
                  <a:lnTo>
                    <a:pt x="1582789" y="1135405"/>
                  </a:lnTo>
                  <a:lnTo>
                    <a:pt x="1588873" y="1118202"/>
                  </a:lnTo>
                  <a:lnTo>
                    <a:pt x="1594692" y="1100734"/>
                  </a:lnTo>
                  <a:lnTo>
                    <a:pt x="1599982" y="1082737"/>
                  </a:lnTo>
                  <a:lnTo>
                    <a:pt x="1604743" y="1065005"/>
                  </a:lnTo>
                  <a:lnTo>
                    <a:pt x="1608975" y="1046743"/>
                  </a:lnTo>
                  <a:lnTo>
                    <a:pt x="1613207" y="1028481"/>
                  </a:lnTo>
                  <a:lnTo>
                    <a:pt x="1616645" y="1009955"/>
                  </a:lnTo>
                  <a:lnTo>
                    <a:pt x="1619555" y="991428"/>
                  </a:lnTo>
                  <a:lnTo>
                    <a:pt x="1622464" y="972637"/>
                  </a:lnTo>
                  <a:lnTo>
                    <a:pt x="1624581" y="953846"/>
                  </a:lnTo>
                  <a:lnTo>
                    <a:pt x="1626168" y="934791"/>
                  </a:lnTo>
                  <a:lnTo>
                    <a:pt x="1627490" y="915735"/>
                  </a:lnTo>
                  <a:lnTo>
                    <a:pt x="1628019" y="896414"/>
                  </a:lnTo>
                  <a:lnTo>
                    <a:pt x="1628548" y="877094"/>
                  </a:lnTo>
                  <a:lnTo>
                    <a:pt x="1628019" y="857509"/>
                  </a:lnTo>
                  <a:lnTo>
                    <a:pt x="1627490" y="838189"/>
                  </a:lnTo>
                  <a:lnTo>
                    <a:pt x="1626168" y="819133"/>
                  </a:lnTo>
                  <a:lnTo>
                    <a:pt x="1624581" y="800342"/>
                  </a:lnTo>
                  <a:lnTo>
                    <a:pt x="1622464" y="781551"/>
                  </a:lnTo>
                  <a:lnTo>
                    <a:pt x="1619555" y="762495"/>
                  </a:lnTo>
                  <a:lnTo>
                    <a:pt x="1616645" y="743704"/>
                  </a:lnTo>
                  <a:lnTo>
                    <a:pt x="1613207" y="725707"/>
                  </a:lnTo>
                  <a:lnTo>
                    <a:pt x="1608975" y="707180"/>
                  </a:lnTo>
                  <a:lnTo>
                    <a:pt x="1604743" y="689183"/>
                  </a:lnTo>
                  <a:lnTo>
                    <a:pt x="1599982" y="670921"/>
                  </a:lnTo>
                  <a:lnTo>
                    <a:pt x="1594692" y="653454"/>
                  </a:lnTo>
                  <a:lnTo>
                    <a:pt x="1588873" y="635986"/>
                  </a:lnTo>
                  <a:lnTo>
                    <a:pt x="1582789" y="618253"/>
                  </a:lnTo>
                  <a:lnTo>
                    <a:pt x="1576176" y="601315"/>
                  </a:lnTo>
                  <a:lnTo>
                    <a:pt x="1569299" y="584112"/>
                  </a:lnTo>
                  <a:lnTo>
                    <a:pt x="1561893" y="567438"/>
                  </a:lnTo>
                  <a:lnTo>
                    <a:pt x="1554223" y="551029"/>
                  </a:lnTo>
                  <a:lnTo>
                    <a:pt x="1546023" y="534620"/>
                  </a:lnTo>
                  <a:lnTo>
                    <a:pt x="1537559" y="518740"/>
                  </a:lnTo>
                  <a:lnTo>
                    <a:pt x="1528830" y="502596"/>
                  </a:lnTo>
                  <a:lnTo>
                    <a:pt x="1519308" y="486980"/>
                  </a:lnTo>
                  <a:lnTo>
                    <a:pt x="1509786" y="471630"/>
                  </a:lnTo>
                  <a:lnTo>
                    <a:pt x="1499735" y="456544"/>
                  </a:lnTo>
                  <a:lnTo>
                    <a:pt x="1489684" y="441458"/>
                  </a:lnTo>
                  <a:lnTo>
                    <a:pt x="1479104" y="427167"/>
                  </a:lnTo>
                  <a:lnTo>
                    <a:pt x="1467730" y="412610"/>
                  </a:lnTo>
                  <a:lnTo>
                    <a:pt x="1456356" y="398583"/>
                  </a:lnTo>
                  <a:lnTo>
                    <a:pt x="1444718" y="384820"/>
                  </a:lnTo>
                  <a:lnTo>
                    <a:pt x="1432815" y="371323"/>
                  </a:lnTo>
                  <a:lnTo>
                    <a:pt x="1420384" y="358089"/>
                  </a:lnTo>
                  <a:lnTo>
                    <a:pt x="1407952" y="344856"/>
                  </a:lnTo>
                  <a:lnTo>
                    <a:pt x="1394991" y="332417"/>
                  </a:lnTo>
                  <a:lnTo>
                    <a:pt x="1381766" y="320243"/>
                  </a:lnTo>
                  <a:lnTo>
                    <a:pt x="1368277" y="308333"/>
                  </a:lnTo>
                  <a:lnTo>
                    <a:pt x="1354522" y="296423"/>
                  </a:lnTo>
                  <a:lnTo>
                    <a:pt x="1340504" y="285042"/>
                  </a:lnTo>
                  <a:lnTo>
                    <a:pt x="1325956" y="274191"/>
                  </a:lnTo>
                  <a:lnTo>
                    <a:pt x="1311408" y="263340"/>
                  </a:lnTo>
                  <a:lnTo>
                    <a:pt x="1296596" y="253018"/>
                  </a:lnTo>
                  <a:lnTo>
                    <a:pt x="1281255" y="242961"/>
                  </a:lnTo>
                  <a:lnTo>
                    <a:pt x="1265914" y="233698"/>
                  </a:lnTo>
                  <a:lnTo>
                    <a:pt x="1250573" y="224170"/>
                  </a:lnTo>
                  <a:lnTo>
                    <a:pt x="1234702" y="215436"/>
                  </a:lnTo>
                  <a:lnTo>
                    <a:pt x="1218568" y="206967"/>
                  </a:lnTo>
                  <a:lnTo>
                    <a:pt x="1201904" y="198762"/>
                  </a:lnTo>
                  <a:lnTo>
                    <a:pt x="1185769" y="191087"/>
                  </a:lnTo>
                  <a:lnTo>
                    <a:pt x="1168841" y="183412"/>
                  </a:lnTo>
                  <a:lnTo>
                    <a:pt x="1151913" y="176530"/>
                  </a:lnTo>
                  <a:lnTo>
                    <a:pt x="1134720" y="169914"/>
                  </a:lnTo>
                  <a:lnTo>
                    <a:pt x="1117263" y="164091"/>
                  </a:lnTo>
                  <a:lnTo>
                    <a:pt x="1099806" y="158269"/>
                  </a:lnTo>
                  <a:lnTo>
                    <a:pt x="1082084" y="152975"/>
                  </a:lnTo>
                  <a:lnTo>
                    <a:pt x="1064098" y="147947"/>
                  </a:lnTo>
                  <a:lnTo>
                    <a:pt x="1045847" y="143712"/>
                  </a:lnTo>
                  <a:lnTo>
                    <a:pt x="1027861" y="139478"/>
                  </a:lnTo>
                  <a:lnTo>
                    <a:pt x="1009345" y="136037"/>
                  </a:lnTo>
                  <a:lnTo>
                    <a:pt x="990830" y="132861"/>
                  </a:lnTo>
                  <a:lnTo>
                    <a:pt x="972050" y="130479"/>
                  </a:lnTo>
                  <a:lnTo>
                    <a:pt x="953271" y="128362"/>
                  </a:lnTo>
                  <a:lnTo>
                    <a:pt x="933962" y="126774"/>
                  </a:lnTo>
                  <a:lnTo>
                    <a:pt x="914918" y="125450"/>
                  </a:lnTo>
                  <a:lnTo>
                    <a:pt x="895873" y="124392"/>
                  </a:lnTo>
                  <a:lnTo>
                    <a:pt x="876300" y="124392"/>
                  </a:lnTo>
                  <a:lnTo>
                    <a:pt x="856991" y="124392"/>
                  </a:lnTo>
                  <a:close/>
                  <a:moveTo>
                    <a:pt x="876300" y="0"/>
                  </a:moveTo>
                  <a:lnTo>
                    <a:pt x="899048" y="265"/>
                  </a:lnTo>
                  <a:lnTo>
                    <a:pt x="921266" y="1323"/>
                  </a:lnTo>
                  <a:lnTo>
                    <a:pt x="943749" y="2382"/>
                  </a:lnTo>
                  <a:lnTo>
                    <a:pt x="965702" y="4764"/>
                  </a:lnTo>
                  <a:lnTo>
                    <a:pt x="987656" y="7146"/>
                  </a:lnTo>
                  <a:lnTo>
                    <a:pt x="1009610" y="10057"/>
                  </a:lnTo>
                  <a:lnTo>
                    <a:pt x="1031299" y="13763"/>
                  </a:lnTo>
                  <a:lnTo>
                    <a:pt x="1052724" y="17997"/>
                  </a:lnTo>
                  <a:lnTo>
                    <a:pt x="1074149" y="22496"/>
                  </a:lnTo>
                  <a:lnTo>
                    <a:pt x="1095045" y="27525"/>
                  </a:lnTo>
                  <a:lnTo>
                    <a:pt x="1115940" y="33348"/>
                  </a:lnTo>
                  <a:lnTo>
                    <a:pt x="1136572" y="39435"/>
                  </a:lnTo>
                  <a:lnTo>
                    <a:pt x="1157203" y="46051"/>
                  </a:lnTo>
                  <a:lnTo>
                    <a:pt x="1177305" y="53197"/>
                  </a:lnTo>
                  <a:lnTo>
                    <a:pt x="1197407" y="60873"/>
                  </a:lnTo>
                  <a:lnTo>
                    <a:pt x="1216981" y="69077"/>
                  </a:lnTo>
                  <a:lnTo>
                    <a:pt x="1236818" y="77811"/>
                  </a:lnTo>
                  <a:lnTo>
                    <a:pt x="1255863" y="86545"/>
                  </a:lnTo>
                  <a:lnTo>
                    <a:pt x="1274907" y="96337"/>
                  </a:lnTo>
                  <a:lnTo>
                    <a:pt x="1293687" y="105865"/>
                  </a:lnTo>
                  <a:lnTo>
                    <a:pt x="1312202" y="116452"/>
                  </a:lnTo>
                  <a:lnTo>
                    <a:pt x="1330453" y="127303"/>
                  </a:lnTo>
                  <a:lnTo>
                    <a:pt x="1348439" y="138154"/>
                  </a:lnTo>
                  <a:lnTo>
                    <a:pt x="1365896" y="149799"/>
                  </a:lnTo>
                  <a:lnTo>
                    <a:pt x="1383353" y="162239"/>
                  </a:lnTo>
                  <a:lnTo>
                    <a:pt x="1400282" y="174413"/>
                  </a:lnTo>
                  <a:lnTo>
                    <a:pt x="1416945" y="187117"/>
                  </a:lnTo>
                  <a:lnTo>
                    <a:pt x="1433609" y="200615"/>
                  </a:lnTo>
                  <a:lnTo>
                    <a:pt x="1449479" y="214113"/>
                  </a:lnTo>
                  <a:lnTo>
                    <a:pt x="1465085" y="228404"/>
                  </a:lnTo>
                  <a:lnTo>
                    <a:pt x="1480426" y="242432"/>
                  </a:lnTo>
                  <a:lnTo>
                    <a:pt x="1495503" y="257253"/>
                  </a:lnTo>
                  <a:lnTo>
                    <a:pt x="1510315" y="272074"/>
                  </a:lnTo>
                  <a:lnTo>
                    <a:pt x="1524863" y="287424"/>
                  </a:lnTo>
                  <a:lnTo>
                    <a:pt x="1538881" y="303569"/>
                  </a:lnTo>
                  <a:lnTo>
                    <a:pt x="1552371" y="319449"/>
                  </a:lnTo>
                  <a:lnTo>
                    <a:pt x="1565596" y="335858"/>
                  </a:lnTo>
                  <a:lnTo>
                    <a:pt x="1578292" y="352796"/>
                  </a:lnTo>
                  <a:lnTo>
                    <a:pt x="1590724" y="369735"/>
                  </a:lnTo>
                  <a:lnTo>
                    <a:pt x="1602627" y="386938"/>
                  </a:lnTo>
                  <a:lnTo>
                    <a:pt x="1614265" y="404935"/>
                  </a:lnTo>
                  <a:lnTo>
                    <a:pt x="1625639" y="422667"/>
                  </a:lnTo>
                  <a:lnTo>
                    <a:pt x="1636219" y="440929"/>
                  </a:lnTo>
                  <a:lnTo>
                    <a:pt x="1646534" y="459455"/>
                  </a:lnTo>
                  <a:lnTo>
                    <a:pt x="1656585" y="478247"/>
                  </a:lnTo>
                  <a:lnTo>
                    <a:pt x="1666108" y="497038"/>
                  </a:lnTo>
                  <a:lnTo>
                    <a:pt x="1675101" y="516358"/>
                  </a:lnTo>
                  <a:lnTo>
                    <a:pt x="1683565" y="535943"/>
                  </a:lnTo>
                  <a:lnTo>
                    <a:pt x="1691764" y="555528"/>
                  </a:lnTo>
                  <a:lnTo>
                    <a:pt x="1699170" y="575643"/>
                  </a:lnTo>
                  <a:lnTo>
                    <a:pt x="1706577" y="596022"/>
                  </a:lnTo>
                  <a:lnTo>
                    <a:pt x="1712925" y="616401"/>
                  </a:lnTo>
                  <a:lnTo>
                    <a:pt x="1719273" y="637309"/>
                  </a:lnTo>
                  <a:lnTo>
                    <a:pt x="1725092" y="658218"/>
                  </a:lnTo>
                  <a:lnTo>
                    <a:pt x="1730382" y="679126"/>
                  </a:lnTo>
                  <a:lnTo>
                    <a:pt x="1734614" y="700564"/>
                  </a:lnTo>
                  <a:lnTo>
                    <a:pt x="1739111" y="721737"/>
                  </a:lnTo>
                  <a:lnTo>
                    <a:pt x="1742549" y="743439"/>
                  </a:lnTo>
                  <a:lnTo>
                    <a:pt x="1745723" y="765406"/>
                  </a:lnTo>
                  <a:lnTo>
                    <a:pt x="1748104" y="787373"/>
                  </a:lnTo>
                  <a:lnTo>
                    <a:pt x="1749955" y="809605"/>
                  </a:lnTo>
                  <a:lnTo>
                    <a:pt x="1751542" y="831837"/>
                  </a:lnTo>
                  <a:lnTo>
                    <a:pt x="1752336" y="854598"/>
                  </a:lnTo>
                  <a:lnTo>
                    <a:pt x="1752600" y="877094"/>
                  </a:lnTo>
                  <a:lnTo>
                    <a:pt x="1752336" y="899590"/>
                  </a:lnTo>
                  <a:lnTo>
                    <a:pt x="1751542" y="922351"/>
                  </a:lnTo>
                  <a:lnTo>
                    <a:pt x="1749955" y="944583"/>
                  </a:lnTo>
                  <a:lnTo>
                    <a:pt x="1748104" y="966550"/>
                  </a:lnTo>
                  <a:lnTo>
                    <a:pt x="1745723" y="988782"/>
                  </a:lnTo>
                  <a:lnTo>
                    <a:pt x="1742549" y="1010220"/>
                  </a:lnTo>
                  <a:lnTo>
                    <a:pt x="1739111" y="1031922"/>
                  </a:lnTo>
                  <a:lnTo>
                    <a:pt x="1734614" y="1053624"/>
                  </a:lnTo>
                  <a:lnTo>
                    <a:pt x="1730382" y="1075062"/>
                  </a:lnTo>
                  <a:lnTo>
                    <a:pt x="1725092" y="1095970"/>
                  </a:lnTo>
                  <a:lnTo>
                    <a:pt x="1719273" y="1116879"/>
                  </a:lnTo>
                  <a:lnTo>
                    <a:pt x="1712925" y="1137523"/>
                  </a:lnTo>
                  <a:lnTo>
                    <a:pt x="1706577" y="1157902"/>
                  </a:lnTo>
                  <a:lnTo>
                    <a:pt x="1699170" y="1178016"/>
                  </a:lnTo>
                  <a:lnTo>
                    <a:pt x="1691764" y="1198130"/>
                  </a:lnTo>
                  <a:lnTo>
                    <a:pt x="1683565" y="1217980"/>
                  </a:lnTo>
                  <a:lnTo>
                    <a:pt x="1675101" y="1237565"/>
                  </a:lnTo>
                  <a:lnTo>
                    <a:pt x="1666108" y="1256886"/>
                  </a:lnTo>
                  <a:lnTo>
                    <a:pt x="1656585" y="1275941"/>
                  </a:lnTo>
                  <a:lnTo>
                    <a:pt x="1646534" y="1294733"/>
                  </a:lnTo>
                  <a:lnTo>
                    <a:pt x="1636219" y="1313259"/>
                  </a:lnTo>
                  <a:lnTo>
                    <a:pt x="1625639" y="1331521"/>
                  </a:lnTo>
                  <a:lnTo>
                    <a:pt x="1614265" y="1349253"/>
                  </a:lnTo>
                  <a:lnTo>
                    <a:pt x="1602627" y="1366986"/>
                  </a:lnTo>
                  <a:lnTo>
                    <a:pt x="1590724" y="1384453"/>
                  </a:lnTo>
                  <a:lnTo>
                    <a:pt x="1578292" y="1401392"/>
                  </a:lnTo>
                  <a:lnTo>
                    <a:pt x="1565596" y="1418066"/>
                  </a:lnTo>
                  <a:lnTo>
                    <a:pt x="1552371" y="1434475"/>
                  </a:lnTo>
                  <a:lnTo>
                    <a:pt x="1538881" y="1450619"/>
                  </a:lnTo>
                  <a:lnTo>
                    <a:pt x="1524863" y="1466234"/>
                  </a:lnTo>
                  <a:lnTo>
                    <a:pt x="1510315" y="1481585"/>
                  </a:lnTo>
                  <a:lnTo>
                    <a:pt x="1495503" y="1496671"/>
                  </a:lnTo>
                  <a:lnTo>
                    <a:pt x="1480426" y="1511492"/>
                  </a:lnTo>
                  <a:lnTo>
                    <a:pt x="1465085" y="1525784"/>
                  </a:lnTo>
                  <a:lnTo>
                    <a:pt x="1449479" y="1540075"/>
                  </a:lnTo>
                  <a:lnTo>
                    <a:pt x="1433609" y="1553573"/>
                  </a:lnTo>
                  <a:lnTo>
                    <a:pt x="1416945" y="1566542"/>
                  </a:lnTo>
                  <a:lnTo>
                    <a:pt x="1400282" y="1579510"/>
                  </a:lnTo>
                  <a:lnTo>
                    <a:pt x="1383353" y="1591949"/>
                  </a:lnTo>
                  <a:lnTo>
                    <a:pt x="1365896" y="1603859"/>
                  </a:lnTo>
                  <a:lnTo>
                    <a:pt x="1348439" y="1615505"/>
                  </a:lnTo>
                  <a:lnTo>
                    <a:pt x="1330453" y="1626885"/>
                  </a:lnTo>
                  <a:lnTo>
                    <a:pt x="1312202" y="1637472"/>
                  </a:lnTo>
                  <a:lnTo>
                    <a:pt x="1293687" y="1647793"/>
                  </a:lnTo>
                  <a:lnTo>
                    <a:pt x="1274907" y="1657851"/>
                  </a:lnTo>
                  <a:lnTo>
                    <a:pt x="1255863" y="1667379"/>
                  </a:lnTo>
                  <a:lnTo>
                    <a:pt x="1236818" y="1676377"/>
                  </a:lnTo>
                  <a:lnTo>
                    <a:pt x="1216981" y="1684846"/>
                  </a:lnTo>
                  <a:lnTo>
                    <a:pt x="1197407" y="1693051"/>
                  </a:lnTo>
                  <a:lnTo>
                    <a:pt x="1177305" y="1700726"/>
                  </a:lnTo>
                  <a:lnTo>
                    <a:pt x="1157203" y="1707607"/>
                  </a:lnTo>
                  <a:lnTo>
                    <a:pt x="1136572" y="1714753"/>
                  </a:lnTo>
                  <a:lnTo>
                    <a:pt x="1115940" y="1720576"/>
                  </a:lnTo>
                  <a:lnTo>
                    <a:pt x="1095045" y="1726134"/>
                  </a:lnTo>
                  <a:lnTo>
                    <a:pt x="1074149" y="1731427"/>
                  </a:lnTo>
                  <a:lnTo>
                    <a:pt x="1052724" y="1736191"/>
                  </a:lnTo>
                  <a:lnTo>
                    <a:pt x="1031299" y="1740426"/>
                  </a:lnTo>
                  <a:lnTo>
                    <a:pt x="1009610" y="1743866"/>
                  </a:lnTo>
                  <a:lnTo>
                    <a:pt x="987656" y="1747042"/>
                  </a:lnTo>
                  <a:lnTo>
                    <a:pt x="965702" y="1749424"/>
                  </a:lnTo>
                  <a:lnTo>
                    <a:pt x="943749" y="1751277"/>
                  </a:lnTo>
                  <a:lnTo>
                    <a:pt x="921266" y="1752865"/>
                  </a:lnTo>
                  <a:lnTo>
                    <a:pt x="899048" y="1753923"/>
                  </a:lnTo>
                  <a:lnTo>
                    <a:pt x="876300" y="1754188"/>
                  </a:lnTo>
                  <a:lnTo>
                    <a:pt x="853817" y="1753923"/>
                  </a:lnTo>
                  <a:lnTo>
                    <a:pt x="831335" y="1752865"/>
                  </a:lnTo>
                  <a:lnTo>
                    <a:pt x="809116" y="1751277"/>
                  </a:lnTo>
                  <a:lnTo>
                    <a:pt x="786898" y="1749424"/>
                  </a:lnTo>
                  <a:lnTo>
                    <a:pt x="764944" y="1747042"/>
                  </a:lnTo>
                  <a:lnTo>
                    <a:pt x="742990" y="1743866"/>
                  </a:lnTo>
                  <a:lnTo>
                    <a:pt x="721301" y="1740426"/>
                  </a:lnTo>
                  <a:lnTo>
                    <a:pt x="699876" y="1736191"/>
                  </a:lnTo>
                  <a:lnTo>
                    <a:pt x="678716" y="1731427"/>
                  </a:lnTo>
                  <a:lnTo>
                    <a:pt x="657820" y="1726134"/>
                  </a:lnTo>
                  <a:lnTo>
                    <a:pt x="636660" y="1720576"/>
                  </a:lnTo>
                  <a:lnTo>
                    <a:pt x="616028" y="1714753"/>
                  </a:lnTo>
                  <a:lnTo>
                    <a:pt x="595662" y="1707607"/>
                  </a:lnTo>
                  <a:lnTo>
                    <a:pt x="575295" y="1700726"/>
                  </a:lnTo>
                  <a:lnTo>
                    <a:pt x="555193" y="1693051"/>
                  </a:lnTo>
                  <a:lnTo>
                    <a:pt x="535619" y="1684846"/>
                  </a:lnTo>
                  <a:lnTo>
                    <a:pt x="516046" y="1676377"/>
                  </a:lnTo>
                  <a:lnTo>
                    <a:pt x="496737" y="1667379"/>
                  </a:lnTo>
                  <a:lnTo>
                    <a:pt x="477958" y="1657851"/>
                  </a:lnTo>
                  <a:lnTo>
                    <a:pt x="458913" y="1647793"/>
                  </a:lnTo>
                  <a:lnTo>
                    <a:pt x="440663" y="1637472"/>
                  </a:lnTo>
                  <a:lnTo>
                    <a:pt x="422412" y="1626885"/>
                  </a:lnTo>
                  <a:lnTo>
                    <a:pt x="404161" y="1615505"/>
                  </a:lnTo>
                  <a:lnTo>
                    <a:pt x="386704" y="1603859"/>
                  </a:lnTo>
                  <a:lnTo>
                    <a:pt x="369511" y="1591949"/>
                  </a:lnTo>
                  <a:lnTo>
                    <a:pt x="352318" y="1579510"/>
                  </a:lnTo>
                  <a:lnTo>
                    <a:pt x="335655" y="1566542"/>
                  </a:lnTo>
                  <a:lnTo>
                    <a:pt x="319255" y="1553573"/>
                  </a:lnTo>
                  <a:lnTo>
                    <a:pt x="303121" y="1540075"/>
                  </a:lnTo>
                  <a:lnTo>
                    <a:pt x="287251" y="1525784"/>
                  </a:lnTo>
                  <a:lnTo>
                    <a:pt x="271909" y="1511492"/>
                  </a:lnTo>
                  <a:lnTo>
                    <a:pt x="256833" y="1496671"/>
                  </a:lnTo>
                  <a:lnTo>
                    <a:pt x="242285" y="1481585"/>
                  </a:lnTo>
                  <a:lnTo>
                    <a:pt x="227737" y="1466234"/>
                  </a:lnTo>
                  <a:lnTo>
                    <a:pt x="213983" y="1450619"/>
                  </a:lnTo>
                  <a:lnTo>
                    <a:pt x="200229" y="1434475"/>
                  </a:lnTo>
                  <a:lnTo>
                    <a:pt x="187004" y="1418066"/>
                  </a:lnTo>
                  <a:lnTo>
                    <a:pt x="174308" y="1401392"/>
                  </a:lnTo>
                  <a:lnTo>
                    <a:pt x="161876" y="1384453"/>
                  </a:lnTo>
                  <a:lnTo>
                    <a:pt x="149709" y="1366986"/>
                  </a:lnTo>
                  <a:lnTo>
                    <a:pt x="138071" y="1349253"/>
                  </a:lnTo>
                  <a:lnTo>
                    <a:pt x="126961" y="1331521"/>
                  </a:lnTo>
                  <a:lnTo>
                    <a:pt x="116117" y="1313259"/>
                  </a:lnTo>
                  <a:lnTo>
                    <a:pt x="105801" y="1294733"/>
                  </a:lnTo>
                  <a:lnTo>
                    <a:pt x="95750" y="1275941"/>
                  </a:lnTo>
                  <a:lnTo>
                    <a:pt x="86492" y="1256886"/>
                  </a:lnTo>
                  <a:lnTo>
                    <a:pt x="77499" y="1237565"/>
                  </a:lnTo>
                  <a:lnTo>
                    <a:pt x="69035" y="1217980"/>
                  </a:lnTo>
                  <a:lnTo>
                    <a:pt x="60836" y="1198130"/>
                  </a:lnTo>
                  <a:lnTo>
                    <a:pt x="53165" y="1178016"/>
                  </a:lnTo>
                  <a:lnTo>
                    <a:pt x="46023" y="1157902"/>
                  </a:lnTo>
                  <a:lnTo>
                    <a:pt x="39411" y="1137523"/>
                  </a:lnTo>
                  <a:lnTo>
                    <a:pt x="33327" y="1116879"/>
                  </a:lnTo>
                  <a:lnTo>
                    <a:pt x="27508" y="1095970"/>
                  </a:lnTo>
                  <a:lnTo>
                    <a:pt x="22483" y="1075062"/>
                  </a:lnTo>
                  <a:lnTo>
                    <a:pt x="17721" y="1053624"/>
                  </a:lnTo>
                  <a:lnTo>
                    <a:pt x="13754" y="1031922"/>
                  </a:lnTo>
                  <a:lnTo>
                    <a:pt x="10051" y="1010220"/>
                  </a:lnTo>
                  <a:lnTo>
                    <a:pt x="6877" y="988782"/>
                  </a:lnTo>
                  <a:lnTo>
                    <a:pt x="4496" y="966550"/>
                  </a:lnTo>
                  <a:lnTo>
                    <a:pt x="2380" y="944583"/>
                  </a:lnTo>
                  <a:lnTo>
                    <a:pt x="1322" y="922351"/>
                  </a:lnTo>
                  <a:lnTo>
                    <a:pt x="264" y="899590"/>
                  </a:lnTo>
                  <a:lnTo>
                    <a:pt x="0" y="877094"/>
                  </a:lnTo>
                  <a:lnTo>
                    <a:pt x="264" y="854598"/>
                  </a:lnTo>
                  <a:lnTo>
                    <a:pt x="1322" y="831837"/>
                  </a:lnTo>
                  <a:lnTo>
                    <a:pt x="2380" y="809605"/>
                  </a:lnTo>
                  <a:lnTo>
                    <a:pt x="4496" y="787373"/>
                  </a:lnTo>
                  <a:lnTo>
                    <a:pt x="6877" y="765406"/>
                  </a:lnTo>
                  <a:lnTo>
                    <a:pt x="10051" y="743439"/>
                  </a:lnTo>
                  <a:lnTo>
                    <a:pt x="13754" y="721737"/>
                  </a:lnTo>
                  <a:lnTo>
                    <a:pt x="17721" y="700564"/>
                  </a:lnTo>
                  <a:lnTo>
                    <a:pt x="22483" y="679126"/>
                  </a:lnTo>
                  <a:lnTo>
                    <a:pt x="27508" y="658218"/>
                  </a:lnTo>
                  <a:lnTo>
                    <a:pt x="33327" y="637309"/>
                  </a:lnTo>
                  <a:lnTo>
                    <a:pt x="39411" y="616401"/>
                  </a:lnTo>
                  <a:lnTo>
                    <a:pt x="46023" y="596022"/>
                  </a:lnTo>
                  <a:lnTo>
                    <a:pt x="53165" y="575643"/>
                  </a:lnTo>
                  <a:lnTo>
                    <a:pt x="60836" y="555528"/>
                  </a:lnTo>
                  <a:lnTo>
                    <a:pt x="69035" y="535943"/>
                  </a:lnTo>
                  <a:lnTo>
                    <a:pt x="77499" y="516358"/>
                  </a:lnTo>
                  <a:lnTo>
                    <a:pt x="86492" y="497038"/>
                  </a:lnTo>
                  <a:lnTo>
                    <a:pt x="95750" y="478247"/>
                  </a:lnTo>
                  <a:lnTo>
                    <a:pt x="105801" y="459455"/>
                  </a:lnTo>
                  <a:lnTo>
                    <a:pt x="116117" y="440929"/>
                  </a:lnTo>
                  <a:lnTo>
                    <a:pt x="126961" y="422667"/>
                  </a:lnTo>
                  <a:lnTo>
                    <a:pt x="138071" y="404935"/>
                  </a:lnTo>
                  <a:lnTo>
                    <a:pt x="149709" y="386938"/>
                  </a:lnTo>
                  <a:lnTo>
                    <a:pt x="161876" y="369735"/>
                  </a:lnTo>
                  <a:lnTo>
                    <a:pt x="174308" y="352796"/>
                  </a:lnTo>
                  <a:lnTo>
                    <a:pt x="187004" y="335858"/>
                  </a:lnTo>
                  <a:lnTo>
                    <a:pt x="200229" y="319449"/>
                  </a:lnTo>
                  <a:lnTo>
                    <a:pt x="213983" y="303569"/>
                  </a:lnTo>
                  <a:lnTo>
                    <a:pt x="227737" y="287424"/>
                  </a:lnTo>
                  <a:lnTo>
                    <a:pt x="242285" y="272074"/>
                  </a:lnTo>
                  <a:lnTo>
                    <a:pt x="256833" y="257253"/>
                  </a:lnTo>
                  <a:lnTo>
                    <a:pt x="271909" y="242432"/>
                  </a:lnTo>
                  <a:lnTo>
                    <a:pt x="287251" y="228404"/>
                  </a:lnTo>
                  <a:lnTo>
                    <a:pt x="303121" y="214113"/>
                  </a:lnTo>
                  <a:lnTo>
                    <a:pt x="319255" y="200615"/>
                  </a:lnTo>
                  <a:lnTo>
                    <a:pt x="335655" y="187117"/>
                  </a:lnTo>
                  <a:lnTo>
                    <a:pt x="352318" y="174413"/>
                  </a:lnTo>
                  <a:lnTo>
                    <a:pt x="369511" y="162239"/>
                  </a:lnTo>
                  <a:lnTo>
                    <a:pt x="386704" y="149799"/>
                  </a:lnTo>
                  <a:lnTo>
                    <a:pt x="404161" y="138154"/>
                  </a:lnTo>
                  <a:lnTo>
                    <a:pt x="422412" y="127303"/>
                  </a:lnTo>
                  <a:lnTo>
                    <a:pt x="440663" y="116452"/>
                  </a:lnTo>
                  <a:lnTo>
                    <a:pt x="458913" y="105865"/>
                  </a:lnTo>
                  <a:lnTo>
                    <a:pt x="477958" y="96337"/>
                  </a:lnTo>
                  <a:lnTo>
                    <a:pt x="496737" y="86545"/>
                  </a:lnTo>
                  <a:lnTo>
                    <a:pt x="516046" y="77811"/>
                  </a:lnTo>
                  <a:lnTo>
                    <a:pt x="535619" y="69077"/>
                  </a:lnTo>
                  <a:lnTo>
                    <a:pt x="555193" y="60873"/>
                  </a:lnTo>
                  <a:lnTo>
                    <a:pt x="575295" y="53197"/>
                  </a:lnTo>
                  <a:lnTo>
                    <a:pt x="595662" y="46051"/>
                  </a:lnTo>
                  <a:lnTo>
                    <a:pt x="616028" y="39435"/>
                  </a:lnTo>
                  <a:lnTo>
                    <a:pt x="636660" y="33348"/>
                  </a:lnTo>
                  <a:lnTo>
                    <a:pt x="657820" y="27525"/>
                  </a:lnTo>
                  <a:lnTo>
                    <a:pt x="678716" y="22496"/>
                  </a:lnTo>
                  <a:lnTo>
                    <a:pt x="699876" y="17997"/>
                  </a:lnTo>
                  <a:lnTo>
                    <a:pt x="721301" y="13763"/>
                  </a:lnTo>
                  <a:lnTo>
                    <a:pt x="742990" y="10057"/>
                  </a:lnTo>
                  <a:lnTo>
                    <a:pt x="764944" y="7146"/>
                  </a:lnTo>
                  <a:lnTo>
                    <a:pt x="786898" y="4764"/>
                  </a:lnTo>
                  <a:lnTo>
                    <a:pt x="809116" y="2382"/>
                  </a:lnTo>
                  <a:lnTo>
                    <a:pt x="831335" y="1323"/>
                  </a:lnTo>
                  <a:lnTo>
                    <a:pt x="853817" y="265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dir="t" rig="threePt"/>
              </a:scene3d>
              <a:sp3d>
                <a:contourClr>
                  <a:srgbClr val="FFFFFF"/>
                </a:contourClr>
              </a:sp3d>
            </a:bodyPr>
            <a:p>
              <a:pPr algn="ctr"/>
              <a:endParaRPr altLang="en-US" b="1" lang="zh-CN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48940" name="文本框 85"/>
            <p:cNvSpPr txBox="1"/>
            <p:nvPr/>
          </p:nvSpPr>
          <p:spPr>
            <a:xfrm>
              <a:off x="2255236" y="3965724"/>
              <a:ext cx="1193800" cy="316173"/>
            </a:xfrm>
            <a:prstGeom prst="rect"/>
            <a:noFill/>
          </p:spPr>
          <p:txBody>
            <a:bodyPr rtlCol="0" wrap="square">
              <a:spAutoFit/>
            </a:bodyPr>
            <a:p>
              <a:pPr algn="ctr"/>
              <a:r>
                <a:rPr altLang="zh-CN" dirty="0" lang="en-US">
                  <a:solidFill>
                    <a:schemeClr val="bg1"/>
                  </a:solidFill>
                  <a:cs typeface="+mn-ea"/>
                  <a:sym typeface="+mn-lt"/>
                </a:rPr>
                <a:t>C#</a:t>
              </a:r>
              <a:r>
                <a:rPr altLang="en-US" dirty="0" lang="zh-CN">
                  <a:solidFill>
                    <a:schemeClr val="bg1"/>
                  </a:solidFill>
                  <a:cs typeface="+mn-ea"/>
                  <a:sym typeface="+mn-lt"/>
                </a:rPr>
                <a:t>脚本</a:t>
              </a:r>
            </a:p>
          </p:txBody>
        </p:sp>
      </p:grpSp>
      <p:cxnSp>
        <p:nvCxnSpPr>
          <p:cNvPr id="3145736" name="直接连接符 11"/>
          <p:cNvCxnSpPr>
            <a:cxnSpLocks/>
          </p:cNvCxnSpPr>
          <p:nvPr/>
        </p:nvCxnSpPr>
        <p:spPr>
          <a:xfrm>
            <a:off x="2696199" y="1808710"/>
            <a:ext cx="972791" cy="0"/>
          </a:xfrm>
          <a:prstGeom prst="line"/>
          <a:ln>
            <a:solidFill>
              <a:srgbClr val="344F66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7" name="直接连接符 12"/>
          <p:cNvCxnSpPr>
            <a:cxnSpLocks/>
          </p:cNvCxnSpPr>
          <p:nvPr/>
        </p:nvCxnSpPr>
        <p:spPr>
          <a:xfrm>
            <a:off x="3840198" y="2951008"/>
            <a:ext cx="972791" cy="0"/>
          </a:xfrm>
          <a:prstGeom prst="line"/>
          <a:ln>
            <a:solidFill>
              <a:srgbClr val="1B3378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直接连接符 13"/>
          <p:cNvCxnSpPr>
            <a:cxnSpLocks/>
          </p:cNvCxnSpPr>
          <p:nvPr/>
        </p:nvCxnSpPr>
        <p:spPr>
          <a:xfrm>
            <a:off x="5089880" y="3868757"/>
            <a:ext cx="972791" cy="0"/>
          </a:xfrm>
          <a:prstGeom prst="line"/>
          <a:ln>
            <a:solidFill>
              <a:srgbClr val="1B3378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1" name="圆角矩形 25"/>
          <p:cNvSpPr/>
          <p:nvPr/>
        </p:nvSpPr>
        <p:spPr>
          <a:xfrm>
            <a:off x="5413626" y="3576074"/>
            <a:ext cx="6318126" cy="984879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sz="2000" lang="zh-CN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8942" name="圆角矩形 26"/>
          <p:cNvSpPr/>
          <p:nvPr/>
        </p:nvSpPr>
        <p:spPr>
          <a:xfrm>
            <a:off x="3512694" y="1411631"/>
            <a:ext cx="6783894" cy="82136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sz="2000" lang="zh-CN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8943" name="文本框 13"/>
          <p:cNvSpPr txBox="1"/>
          <p:nvPr/>
        </p:nvSpPr>
        <p:spPr>
          <a:xfrm>
            <a:off x="3855713" y="1415471"/>
            <a:ext cx="6097857" cy="846001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20000"/>
              </a:lnSpc>
            </a:pPr>
            <a:r>
              <a:rPr altLang="en-US" dirty="0" sz="1400" lang="zh-CN"/>
              <a:t>通过</a:t>
            </a:r>
            <a:r>
              <a:rPr altLang="zh-CN" dirty="0" sz="1400" lang="en-US"/>
              <a:t>Unity</a:t>
            </a:r>
            <a:r>
              <a:rPr altLang="en-US" dirty="0" sz="1400" lang="zh-CN"/>
              <a:t>的可视化场景编辑与资源管理能力，可快速搭建游戏运行环境，实现角色控制、地图呈现及交互反馈。用于创建角色对象、场景地图、触发器、交互</a:t>
            </a:r>
            <a:r>
              <a:rPr altLang="zh-CN" dirty="0" sz="1400" lang="en-US"/>
              <a:t>UI</a:t>
            </a:r>
            <a:r>
              <a:rPr altLang="en-US" dirty="0" sz="1400" lang="zh-CN"/>
              <a:t>，负责游戏主体运行环境。</a:t>
            </a:r>
            <a:endParaRPr altLang="en-US" dirty="0" sz="14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944" name="文本框 89"/>
          <p:cNvSpPr txBox="1"/>
          <p:nvPr/>
        </p:nvSpPr>
        <p:spPr>
          <a:xfrm>
            <a:off x="4960839" y="2577760"/>
            <a:ext cx="5512108" cy="846001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20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</a:defRPr>
            </a:lvl1pPr>
          </a:lstStyle>
          <a:p>
            <a:r>
              <a:rPr altLang="zh-CN" dirty="0" sz="1400" lang="en-US">
                <a:solidFill>
                  <a:schemeClr val="tx1"/>
                </a:solidFill>
                <a:latin typeface="+mn-lt"/>
                <a:ea typeface="+mn-ea"/>
              </a:rPr>
              <a:t>C#</a:t>
            </a:r>
            <a:r>
              <a:rPr altLang="en-US" dirty="0" sz="1400" lang="zh-CN">
                <a:solidFill>
                  <a:schemeClr val="tx1"/>
                </a:solidFill>
                <a:latin typeface="+mn-lt"/>
                <a:ea typeface="+mn-ea"/>
              </a:rPr>
              <a:t>是</a:t>
            </a:r>
            <a:r>
              <a:rPr altLang="zh-CN" dirty="0" sz="1400" lang="en-US">
                <a:solidFill>
                  <a:schemeClr val="tx1"/>
                </a:solidFill>
                <a:latin typeface="+mn-lt"/>
                <a:ea typeface="+mn-ea"/>
              </a:rPr>
              <a:t>Unity</a:t>
            </a:r>
            <a:r>
              <a:rPr altLang="en-US" dirty="0" sz="1400" lang="zh-CN">
                <a:solidFill>
                  <a:schemeClr val="tx1"/>
                </a:solidFill>
                <a:latin typeface="+mn-lt"/>
                <a:ea typeface="+mn-ea"/>
              </a:rPr>
              <a:t>主要的逻辑开发语言，通过脚本可实现角色移动、攻击判定、敌人行为、背包系统、任务系统等游戏机制逻辑。编写角色移动脚本、技能释放脚本、敌人</a:t>
            </a:r>
            <a:r>
              <a:rPr altLang="zh-CN" dirty="0" sz="1400" lang="en-US">
                <a:solidFill>
                  <a:schemeClr val="tx1"/>
                </a:solidFill>
                <a:latin typeface="+mn-lt"/>
                <a:ea typeface="+mn-ea"/>
              </a:rPr>
              <a:t>AI</a:t>
            </a:r>
            <a:r>
              <a:rPr altLang="en-US" dirty="0" sz="1400" lang="zh-CN">
                <a:solidFill>
                  <a:schemeClr val="tx1"/>
                </a:solidFill>
                <a:latin typeface="+mn-lt"/>
                <a:ea typeface="+mn-ea"/>
              </a:rPr>
              <a:t>逻辑以及</a:t>
            </a:r>
            <a:r>
              <a:rPr altLang="zh-CN" dirty="0" sz="1400" lang="en-US">
                <a:solidFill>
                  <a:schemeClr val="tx1"/>
                </a:solidFill>
                <a:latin typeface="+mn-lt"/>
                <a:ea typeface="+mn-ea"/>
              </a:rPr>
              <a:t>UI</a:t>
            </a:r>
            <a:r>
              <a:rPr altLang="en-US" dirty="0" sz="1400" lang="zh-CN">
                <a:solidFill>
                  <a:schemeClr val="tx1"/>
                </a:solidFill>
                <a:latin typeface="+mn-lt"/>
                <a:ea typeface="+mn-ea"/>
              </a:rPr>
              <a:t>交互代码。</a:t>
            </a:r>
            <a:endParaRPr altLang="en-US" dirty="0" sz="1400" lang="zh-CN">
              <a:solidFill>
                <a:schemeClr val="tx1"/>
              </a:solidFill>
              <a:latin typeface="+mn-lt"/>
              <a:ea typeface="+mn-ea"/>
              <a:sym typeface="+mn-lt"/>
            </a:endParaRPr>
          </a:p>
        </p:txBody>
      </p:sp>
      <p:sp>
        <p:nvSpPr>
          <p:cNvPr id="1048945" name="文本框 91"/>
          <p:cNvSpPr txBox="1"/>
          <p:nvPr/>
        </p:nvSpPr>
        <p:spPr>
          <a:xfrm>
            <a:off x="6199120" y="3508895"/>
            <a:ext cx="5313886" cy="1066800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20000"/>
              </a:lnSpc>
            </a:pPr>
            <a:r>
              <a:rPr altLang="en-US" dirty="0" sz="1400" lang="zh-CN"/>
              <a:t>状态机是游戏角色行为管理的重要方式，通过将对象行为拆分为“待机、移动、攻击、受伤、死亡”等不同状态，并在特定条件下完成状态切换。玩家攻击后进入硬直状态、敌人受到伤害后从追击状态切换至逃跑或死亡状态。</a:t>
            </a:r>
            <a:endParaRPr altLang="en-US" dirty="0" sz="14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grpSp>
        <p:nvGrpSpPr>
          <p:cNvPr id="145" name="组合 19"/>
          <p:cNvGrpSpPr/>
          <p:nvPr/>
        </p:nvGrpSpPr>
        <p:grpSpPr>
          <a:xfrm>
            <a:off x="4822163" y="3956833"/>
            <a:ext cx="1436856" cy="1972078"/>
            <a:chOff x="3494041" y="3716886"/>
            <a:chExt cx="1230525" cy="1688231"/>
          </a:xfrm>
        </p:grpSpPr>
        <p:sp>
          <p:nvSpPr>
            <p:cNvPr id="1048946" name="任意多边形 31"/>
            <p:cNvSpPr/>
            <p:nvPr/>
          </p:nvSpPr>
          <p:spPr>
            <a:xfrm flipH="1">
              <a:off x="3528835" y="3716886"/>
              <a:ext cx="1195731" cy="1688231"/>
            </a:xfrm>
            <a:custGeom>
              <a:avLst/>
              <a:gdLst>
                <a:gd name="connsiteX0" fmla="*/ 602108 w 1364578"/>
                <a:gd name="connsiteY0" fmla="*/ 0 h 1926623"/>
                <a:gd name="connsiteX1" fmla="*/ 1364578 w 1364578"/>
                <a:gd name="connsiteY1" fmla="*/ 0 h 1926623"/>
                <a:gd name="connsiteX2" fmla="*/ 1364578 w 1364578"/>
                <a:gd name="connsiteY2" fmla="*/ 1926623 h 1926623"/>
                <a:gd name="connsiteX3" fmla="*/ 0 w 1364578"/>
                <a:gd name="connsiteY3" fmla="*/ 1926623 h 1926623"/>
                <a:gd name="connsiteX4" fmla="*/ 0 w 1364578"/>
                <a:gd name="connsiteY4" fmla="*/ 602108 h 1926623"/>
                <a:gd name="connsiteX5" fmla="*/ 602108 w 1364578"/>
                <a:gd name="connsiteY5" fmla="*/ 0 h 192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64578" h="1926623">
                  <a:moveTo>
                    <a:pt x="602108" y="0"/>
                  </a:moveTo>
                  <a:lnTo>
                    <a:pt x="1364578" y="0"/>
                  </a:lnTo>
                  <a:lnTo>
                    <a:pt x="1364578" y="1926623"/>
                  </a:lnTo>
                  <a:lnTo>
                    <a:pt x="0" y="1926623"/>
                  </a:lnTo>
                  <a:lnTo>
                    <a:pt x="0" y="602108"/>
                  </a:lnTo>
                  <a:cubicBezTo>
                    <a:pt x="0" y="269573"/>
                    <a:pt x="269573" y="0"/>
                    <a:pt x="602108" y="0"/>
                  </a:cubicBezTo>
                  <a:close/>
                </a:path>
              </a:pathLst>
            </a:custGeom>
            <a:solidFill>
              <a:srgbClr val="CF3B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b="1" lang="zh-CN">
                <a:cs typeface="+mn-ea"/>
                <a:sym typeface="+mn-lt"/>
              </a:endParaRPr>
            </a:p>
          </p:txBody>
        </p:sp>
        <p:sp>
          <p:nvSpPr>
            <p:cNvPr id="1048947" name="KSO_Shape"/>
            <p:cNvSpPr/>
            <p:nvPr/>
          </p:nvSpPr>
          <p:spPr bwMode="auto">
            <a:xfrm>
              <a:off x="3899886" y="4107374"/>
              <a:ext cx="453627" cy="453627"/>
            </a:xfrm>
            <a:custGeom>
              <a:avLst/>
              <a:gdLst>
                <a:gd name="T0" fmla="*/ 984018 w 1589088"/>
                <a:gd name="T1" fmla="*/ 589506 h 1589088"/>
                <a:gd name="T2" fmla="*/ 955171 w 1589088"/>
                <a:gd name="T3" fmla="*/ 645802 h 1589088"/>
                <a:gd name="T4" fmla="*/ 898294 w 1589088"/>
                <a:gd name="T5" fmla="*/ 673272 h 1589088"/>
                <a:gd name="T6" fmla="*/ 881422 w 1589088"/>
                <a:gd name="T7" fmla="*/ 964824 h 1589088"/>
                <a:gd name="T8" fmla="*/ 873530 w 1589088"/>
                <a:gd name="T9" fmla="*/ 1040159 h 1589088"/>
                <a:gd name="T10" fmla="*/ 824817 w 1589088"/>
                <a:gd name="T11" fmla="*/ 1084490 h 1589088"/>
                <a:gd name="T12" fmla="*/ 756238 w 1589088"/>
                <a:gd name="T13" fmla="*/ 1088026 h 1589088"/>
                <a:gd name="T14" fmla="*/ 703444 w 1589088"/>
                <a:gd name="T15" fmla="*/ 1048590 h 1589088"/>
                <a:gd name="T16" fmla="*/ 686571 w 1589088"/>
                <a:gd name="T17" fmla="*/ 985493 h 1589088"/>
                <a:gd name="T18" fmla="*/ 486007 w 1589088"/>
                <a:gd name="T19" fmla="*/ 893024 h 1589088"/>
                <a:gd name="T20" fmla="*/ 398106 w 1589088"/>
                <a:gd name="T21" fmla="*/ 820680 h 1589088"/>
                <a:gd name="T22" fmla="*/ 402189 w 1589088"/>
                <a:gd name="T23" fmla="*/ 755134 h 1589088"/>
                <a:gd name="T24" fmla="*/ 446547 w 1589088"/>
                <a:gd name="T25" fmla="*/ 706452 h 1589088"/>
                <a:gd name="T26" fmla="*/ 514037 w 1589088"/>
                <a:gd name="T27" fmla="*/ 696389 h 1589088"/>
                <a:gd name="T28" fmla="*/ 570641 w 1589088"/>
                <a:gd name="T29" fmla="*/ 730385 h 1589088"/>
                <a:gd name="T30" fmla="*/ 593501 w 1589088"/>
                <a:gd name="T31" fmla="*/ 794027 h 1589088"/>
                <a:gd name="T32" fmla="*/ 818558 w 1589088"/>
                <a:gd name="T33" fmla="*/ 648522 h 1589088"/>
                <a:gd name="T34" fmla="*/ 785901 w 1589088"/>
                <a:gd name="T35" fmla="*/ 575091 h 1589088"/>
                <a:gd name="T36" fmla="*/ 808761 w 1589088"/>
                <a:gd name="T37" fmla="*/ 511721 h 1589088"/>
                <a:gd name="T38" fmla="*/ 865365 w 1589088"/>
                <a:gd name="T39" fmla="*/ 477726 h 1589088"/>
                <a:gd name="T40" fmla="*/ 728574 w 1589088"/>
                <a:gd name="T41" fmla="*/ 144010 h 1589088"/>
                <a:gd name="T42" fmla="*/ 531280 w 1589088"/>
                <a:gd name="T43" fmla="*/ 182593 h 1589088"/>
                <a:gd name="T44" fmla="*/ 353281 w 1589088"/>
                <a:gd name="T45" fmla="*/ 288291 h 1589088"/>
                <a:gd name="T46" fmla="*/ 219577 w 1589088"/>
                <a:gd name="T47" fmla="*/ 451592 h 1589088"/>
                <a:gd name="T48" fmla="*/ 152454 w 1589088"/>
                <a:gd name="T49" fmla="*/ 642880 h 1589088"/>
                <a:gd name="T50" fmla="*/ 152454 w 1589088"/>
                <a:gd name="T51" fmla="*/ 843135 h 1589088"/>
                <a:gd name="T52" fmla="*/ 219577 w 1589088"/>
                <a:gd name="T53" fmla="*/ 1034422 h 1589088"/>
                <a:gd name="T54" fmla="*/ 353281 w 1589088"/>
                <a:gd name="T55" fmla="*/ 1197724 h 1589088"/>
                <a:gd name="T56" fmla="*/ 531280 w 1589088"/>
                <a:gd name="T57" fmla="*/ 1303421 h 1589088"/>
                <a:gd name="T58" fmla="*/ 728574 w 1589088"/>
                <a:gd name="T59" fmla="*/ 1341734 h 1589088"/>
                <a:gd name="T60" fmla="*/ 927227 w 1589088"/>
                <a:gd name="T61" fmla="*/ 1312931 h 1589088"/>
                <a:gd name="T62" fmla="*/ 1109302 w 1589088"/>
                <a:gd name="T63" fmla="*/ 1217015 h 1589088"/>
                <a:gd name="T64" fmla="*/ 1251431 w 1589088"/>
                <a:gd name="T65" fmla="*/ 1059964 h 1589088"/>
                <a:gd name="T66" fmla="*/ 1328065 w 1589088"/>
                <a:gd name="T67" fmla="*/ 871393 h 1589088"/>
                <a:gd name="T68" fmla="*/ 1337576 w 1589088"/>
                <a:gd name="T69" fmla="*/ 671410 h 1589088"/>
                <a:gd name="T70" fmla="*/ 1280237 w 1589088"/>
                <a:gd name="T71" fmla="*/ 477677 h 1589088"/>
                <a:gd name="T72" fmla="*/ 1155500 w 1589088"/>
                <a:gd name="T73" fmla="*/ 308670 h 1589088"/>
                <a:gd name="T74" fmla="*/ 981849 w 1589088"/>
                <a:gd name="T75" fmla="*/ 193462 h 1589088"/>
                <a:gd name="T76" fmla="*/ 785915 w 1589088"/>
                <a:gd name="T77" fmla="*/ 145640 h 1589088"/>
                <a:gd name="T78" fmla="*/ 902226 w 1589088"/>
                <a:gd name="T79" fmla="*/ 17390 h 1589088"/>
                <a:gd name="T80" fmla="*/ 1136207 w 1589088"/>
                <a:gd name="T81" fmla="*/ 112491 h 1589088"/>
                <a:gd name="T82" fmla="*/ 1320999 w 1589088"/>
                <a:gd name="T83" fmla="*/ 276063 h 1589088"/>
                <a:gd name="T84" fmla="*/ 1429702 w 1589088"/>
                <a:gd name="T85" fmla="*/ 459201 h 1589088"/>
                <a:gd name="T86" fmla="*/ 1481334 w 1589088"/>
                <a:gd name="T87" fmla="*/ 660270 h 1589088"/>
                <a:gd name="T88" fmla="*/ 1475356 w 1589088"/>
                <a:gd name="T89" fmla="*/ 866502 h 1589088"/>
                <a:gd name="T90" fmla="*/ 1412581 w 1589088"/>
                <a:gd name="T91" fmla="*/ 1064855 h 1589088"/>
                <a:gd name="T92" fmla="*/ 1892771 w 1589088"/>
                <a:gd name="T93" fmla="*/ 1636001 h 1589088"/>
                <a:gd name="T94" fmla="*/ 1896304 w 1589088"/>
                <a:gd name="T95" fmla="*/ 1759632 h 1589088"/>
                <a:gd name="T96" fmla="*/ 1783798 w 1589088"/>
                <a:gd name="T97" fmla="*/ 1885980 h 1589088"/>
                <a:gd name="T98" fmla="*/ 1662866 w 1589088"/>
                <a:gd name="T99" fmla="*/ 1900381 h 1589088"/>
                <a:gd name="T100" fmla="*/ 1104954 w 1589088"/>
                <a:gd name="T101" fmla="*/ 1391458 h 1589088"/>
                <a:gd name="T102" fmla="*/ 909835 w 1589088"/>
                <a:gd name="T103" fmla="*/ 1466451 h 1589088"/>
                <a:gd name="T104" fmla="*/ 704388 w 1589088"/>
                <a:gd name="T105" fmla="*/ 1484656 h 1589088"/>
                <a:gd name="T106" fmla="*/ 501116 w 1589088"/>
                <a:gd name="T107" fmla="*/ 1445528 h 1589088"/>
                <a:gd name="T108" fmla="*/ 313061 w 1589088"/>
                <a:gd name="T109" fmla="*/ 1349069 h 1589088"/>
                <a:gd name="T110" fmla="*/ 143758 w 1589088"/>
                <a:gd name="T111" fmla="*/ 1181965 h 1589088"/>
                <a:gd name="T112" fmla="*/ 30708 w 1589088"/>
                <a:gd name="T113" fmla="*/ 954538 h 1589088"/>
                <a:gd name="T114" fmla="*/ 815 w 1589088"/>
                <a:gd name="T115" fmla="*/ 707277 h 1589088"/>
                <a:gd name="T116" fmla="*/ 54351 w 1589088"/>
                <a:gd name="T117" fmla="*/ 463275 h 1589088"/>
                <a:gd name="T118" fmla="*/ 191315 w 1589088"/>
                <a:gd name="T119" fmla="*/ 245360 h 1589088"/>
                <a:gd name="T120" fmla="*/ 397577 w 1589088"/>
                <a:gd name="T121" fmla="*/ 85319 h 1589088"/>
                <a:gd name="T122" fmla="*/ 636177 w 1589088"/>
                <a:gd name="T123" fmla="*/ 7880 h 15890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89088" h="1589088">
                  <a:moveTo>
                    <a:pt x="916859" y="288925"/>
                  </a:moveTo>
                  <a:lnTo>
                    <a:pt x="954088" y="332030"/>
                  </a:lnTo>
                  <a:lnTo>
                    <a:pt x="816067" y="450682"/>
                  </a:lnTo>
                  <a:lnTo>
                    <a:pt x="817430" y="454085"/>
                  </a:lnTo>
                  <a:lnTo>
                    <a:pt x="818338" y="457488"/>
                  </a:lnTo>
                  <a:lnTo>
                    <a:pt x="819246" y="461118"/>
                  </a:lnTo>
                  <a:lnTo>
                    <a:pt x="820381" y="464748"/>
                  </a:lnTo>
                  <a:lnTo>
                    <a:pt x="820835" y="468378"/>
                  </a:lnTo>
                  <a:lnTo>
                    <a:pt x="821289" y="472008"/>
                  </a:lnTo>
                  <a:lnTo>
                    <a:pt x="821743" y="475865"/>
                  </a:lnTo>
                  <a:lnTo>
                    <a:pt x="821743" y="479722"/>
                  </a:lnTo>
                  <a:lnTo>
                    <a:pt x="821743" y="483805"/>
                  </a:lnTo>
                  <a:lnTo>
                    <a:pt x="821289" y="487662"/>
                  </a:lnTo>
                  <a:lnTo>
                    <a:pt x="820835" y="491746"/>
                  </a:lnTo>
                  <a:lnTo>
                    <a:pt x="820174" y="495602"/>
                  </a:lnTo>
                  <a:lnTo>
                    <a:pt x="819246" y="499459"/>
                  </a:lnTo>
                  <a:lnTo>
                    <a:pt x="818338" y="503089"/>
                  </a:lnTo>
                  <a:lnTo>
                    <a:pt x="816976" y="506946"/>
                  </a:lnTo>
                  <a:lnTo>
                    <a:pt x="815840" y="510349"/>
                  </a:lnTo>
                  <a:lnTo>
                    <a:pt x="814251" y="513979"/>
                  </a:lnTo>
                  <a:lnTo>
                    <a:pt x="812662" y="517382"/>
                  </a:lnTo>
                  <a:lnTo>
                    <a:pt x="810619" y="520785"/>
                  </a:lnTo>
                  <a:lnTo>
                    <a:pt x="808803" y="523961"/>
                  </a:lnTo>
                  <a:lnTo>
                    <a:pt x="806760" y="527137"/>
                  </a:lnTo>
                  <a:lnTo>
                    <a:pt x="804263" y="530313"/>
                  </a:lnTo>
                  <a:lnTo>
                    <a:pt x="801993" y="533036"/>
                  </a:lnTo>
                  <a:lnTo>
                    <a:pt x="799496" y="535985"/>
                  </a:lnTo>
                  <a:lnTo>
                    <a:pt x="796772" y="538707"/>
                  </a:lnTo>
                  <a:lnTo>
                    <a:pt x="794048" y="541203"/>
                  </a:lnTo>
                  <a:lnTo>
                    <a:pt x="791324" y="543698"/>
                  </a:lnTo>
                  <a:lnTo>
                    <a:pt x="788146" y="545967"/>
                  </a:lnTo>
                  <a:lnTo>
                    <a:pt x="785194" y="548009"/>
                  </a:lnTo>
                  <a:lnTo>
                    <a:pt x="781789" y="550051"/>
                  </a:lnTo>
                  <a:lnTo>
                    <a:pt x="778611" y="552093"/>
                  </a:lnTo>
                  <a:lnTo>
                    <a:pt x="775433" y="553908"/>
                  </a:lnTo>
                  <a:lnTo>
                    <a:pt x="771801" y="555496"/>
                  </a:lnTo>
                  <a:lnTo>
                    <a:pt x="768396" y="556857"/>
                  </a:lnTo>
                  <a:lnTo>
                    <a:pt x="764537" y="558218"/>
                  </a:lnTo>
                  <a:lnTo>
                    <a:pt x="760905" y="559352"/>
                  </a:lnTo>
                  <a:lnTo>
                    <a:pt x="757046" y="560260"/>
                  </a:lnTo>
                  <a:lnTo>
                    <a:pt x="753413" y="560940"/>
                  </a:lnTo>
                  <a:lnTo>
                    <a:pt x="749327" y="561621"/>
                  </a:lnTo>
                  <a:lnTo>
                    <a:pt x="745241" y="562075"/>
                  </a:lnTo>
                  <a:lnTo>
                    <a:pt x="692121" y="754005"/>
                  </a:lnTo>
                  <a:lnTo>
                    <a:pt x="697343" y="756728"/>
                  </a:lnTo>
                  <a:lnTo>
                    <a:pt x="702110" y="759904"/>
                  </a:lnTo>
                  <a:lnTo>
                    <a:pt x="706650" y="763080"/>
                  </a:lnTo>
                  <a:lnTo>
                    <a:pt x="710963" y="766937"/>
                  </a:lnTo>
                  <a:lnTo>
                    <a:pt x="715049" y="770794"/>
                  </a:lnTo>
                  <a:lnTo>
                    <a:pt x="718908" y="774877"/>
                  </a:lnTo>
                  <a:lnTo>
                    <a:pt x="722313" y="779188"/>
                  </a:lnTo>
                  <a:lnTo>
                    <a:pt x="725718" y="783952"/>
                  </a:lnTo>
                  <a:lnTo>
                    <a:pt x="728670" y="788943"/>
                  </a:lnTo>
                  <a:lnTo>
                    <a:pt x="731167" y="793934"/>
                  </a:lnTo>
                  <a:lnTo>
                    <a:pt x="733437" y="799379"/>
                  </a:lnTo>
                  <a:lnTo>
                    <a:pt x="735253" y="804824"/>
                  </a:lnTo>
                  <a:lnTo>
                    <a:pt x="736615" y="810496"/>
                  </a:lnTo>
                  <a:lnTo>
                    <a:pt x="737750" y="816167"/>
                  </a:lnTo>
                  <a:lnTo>
                    <a:pt x="738431" y="822066"/>
                  </a:lnTo>
                  <a:lnTo>
                    <a:pt x="738658" y="828191"/>
                  </a:lnTo>
                  <a:lnTo>
                    <a:pt x="738658" y="832729"/>
                  </a:lnTo>
                  <a:lnTo>
                    <a:pt x="738431" y="836812"/>
                  </a:lnTo>
                  <a:lnTo>
                    <a:pt x="737523" y="840896"/>
                  </a:lnTo>
                  <a:lnTo>
                    <a:pt x="736842" y="844980"/>
                  </a:lnTo>
                  <a:lnTo>
                    <a:pt x="735934" y="849063"/>
                  </a:lnTo>
                  <a:lnTo>
                    <a:pt x="734799" y="852920"/>
                  </a:lnTo>
                  <a:lnTo>
                    <a:pt x="733664" y="856777"/>
                  </a:lnTo>
                  <a:lnTo>
                    <a:pt x="732075" y="860407"/>
                  </a:lnTo>
                  <a:lnTo>
                    <a:pt x="730259" y="864263"/>
                  </a:lnTo>
                  <a:lnTo>
                    <a:pt x="728670" y="867666"/>
                  </a:lnTo>
                  <a:lnTo>
                    <a:pt x="726626" y="871296"/>
                  </a:lnTo>
                  <a:lnTo>
                    <a:pt x="724583" y="874699"/>
                  </a:lnTo>
                  <a:lnTo>
                    <a:pt x="722086" y="877876"/>
                  </a:lnTo>
                  <a:lnTo>
                    <a:pt x="719589" y="881052"/>
                  </a:lnTo>
                  <a:lnTo>
                    <a:pt x="717092" y="884228"/>
                  </a:lnTo>
                  <a:lnTo>
                    <a:pt x="714141" y="886950"/>
                  </a:lnTo>
                  <a:lnTo>
                    <a:pt x="711417" y="889673"/>
                  </a:lnTo>
                  <a:lnTo>
                    <a:pt x="708239" y="892395"/>
                  </a:lnTo>
                  <a:lnTo>
                    <a:pt x="705288" y="894891"/>
                  </a:lnTo>
                  <a:lnTo>
                    <a:pt x="702110" y="896933"/>
                  </a:lnTo>
                  <a:lnTo>
                    <a:pt x="698705" y="899428"/>
                  </a:lnTo>
                  <a:lnTo>
                    <a:pt x="695299" y="901243"/>
                  </a:lnTo>
                  <a:lnTo>
                    <a:pt x="691440" y="903058"/>
                  </a:lnTo>
                  <a:lnTo>
                    <a:pt x="688035" y="904646"/>
                  </a:lnTo>
                  <a:lnTo>
                    <a:pt x="684176" y="906234"/>
                  </a:lnTo>
                  <a:lnTo>
                    <a:pt x="680317" y="907595"/>
                  </a:lnTo>
                  <a:lnTo>
                    <a:pt x="676231" y="908730"/>
                  </a:lnTo>
                  <a:lnTo>
                    <a:pt x="672372" y="909637"/>
                  </a:lnTo>
                  <a:lnTo>
                    <a:pt x="668286" y="910318"/>
                  </a:lnTo>
                  <a:lnTo>
                    <a:pt x="664199" y="910771"/>
                  </a:lnTo>
                  <a:lnTo>
                    <a:pt x="659886" y="911225"/>
                  </a:lnTo>
                  <a:lnTo>
                    <a:pt x="655573" y="911225"/>
                  </a:lnTo>
                  <a:lnTo>
                    <a:pt x="651260" y="911225"/>
                  </a:lnTo>
                  <a:lnTo>
                    <a:pt x="646947" y="910771"/>
                  </a:lnTo>
                  <a:lnTo>
                    <a:pt x="643088" y="910318"/>
                  </a:lnTo>
                  <a:lnTo>
                    <a:pt x="638775" y="909637"/>
                  </a:lnTo>
                  <a:lnTo>
                    <a:pt x="634915" y="908730"/>
                  </a:lnTo>
                  <a:lnTo>
                    <a:pt x="630829" y="907595"/>
                  </a:lnTo>
                  <a:lnTo>
                    <a:pt x="627197" y="906234"/>
                  </a:lnTo>
                  <a:lnTo>
                    <a:pt x="623338" y="904646"/>
                  </a:lnTo>
                  <a:lnTo>
                    <a:pt x="619706" y="903058"/>
                  </a:lnTo>
                  <a:lnTo>
                    <a:pt x="616074" y="901243"/>
                  </a:lnTo>
                  <a:lnTo>
                    <a:pt x="612669" y="899428"/>
                  </a:lnTo>
                  <a:lnTo>
                    <a:pt x="609037" y="896933"/>
                  </a:lnTo>
                  <a:lnTo>
                    <a:pt x="605858" y="894891"/>
                  </a:lnTo>
                  <a:lnTo>
                    <a:pt x="602680" y="892395"/>
                  </a:lnTo>
                  <a:lnTo>
                    <a:pt x="599729" y="889673"/>
                  </a:lnTo>
                  <a:lnTo>
                    <a:pt x="596778" y="886950"/>
                  </a:lnTo>
                  <a:lnTo>
                    <a:pt x="594054" y="884228"/>
                  </a:lnTo>
                  <a:lnTo>
                    <a:pt x="591557" y="881052"/>
                  </a:lnTo>
                  <a:lnTo>
                    <a:pt x="588833" y="877876"/>
                  </a:lnTo>
                  <a:lnTo>
                    <a:pt x="586790" y="874699"/>
                  </a:lnTo>
                  <a:lnTo>
                    <a:pt x="584520" y="871296"/>
                  </a:lnTo>
                  <a:lnTo>
                    <a:pt x="582704" y="867666"/>
                  </a:lnTo>
                  <a:lnTo>
                    <a:pt x="580661" y="864263"/>
                  </a:lnTo>
                  <a:lnTo>
                    <a:pt x="579072" y="860407"/>
                  </a:lnTo>
                  <a:lnTo>
                    <a:pt x="577710" y="856777"/>
                  </a:lnTo>
                  <a:lnTo>
                    <a:pt x="576348" y="852920"/>
                  </a:lnTo>
                  <a:lnTo>
                    <a:pt x="575212" y="849063"/>
                  </a:lnTo>
                  <a:lnTo>
                    <a:pt x="574077" y="844980"/>
                  </a:lnTo>
                  <a:lnTo>
                    <a:pt x="573396" y="840896"/>
                  </a:lnTo>
                  <a:lnTo>
                    <a:pt x="572942" y="836812"/>
                  </a:lnTo>
                  <a:lnTo>
                    <a:pt x="572488" y="832729"/>
                  </a:lnTo>
                  <a:lnTo>
                    <a:pt x="572488" y="828191"/>
                  </a:lnTo>
                  <a:lnTo>
                    <a:pt x="572488" y="825242"/>
                  </a:lnTo>
                  <a:lnTo>
                    <a:pt x="572715" y="822066"/>
                  </a:lnTo>
                  <a:lnTo>
                    <a:pt x="573623" y="815940"/>
                  </a:lnTo>
                  <a:lnTo>
                    <a:pt x="574986" y="810042"/>
                  </a:lnTo>
                  <a:lnTo>
                    <a:pt x="576575" y="804370"/>
                  </a:lnTo>
                  <a:lnTo>
                    <a:pt x="454445" y="733134"/>
                  </a:lnTo>
                  <a:lnTo>
                    <a:pt x="449904" y="736083"/>
                  </a:lnTo>
                  <a:lnTo>
                    <a:pt x="444910" y="738352"/>
                  </a:lnTo>
                  <a:lnTo>
                    <a:pt x="439689" y="740166"/>
                  </a:lnTo>
                  <a:lnTo>
                    <a:pt x="434468" y="741981"/>
                  </a:lnTo>
                  <a:lnTo>
                    <a:pt x="429020" y="743569"/>
                  </a:lnTo>
                  <a:lnTo>
                    <a:pt x="423571" y="744477"/>
                  </a:lnTo>
                  <a:lnTo>
                    <a:pt x="417669" y="745158"/>
                  </a:lnTo>
                  <a:lnTo>
                    <a:pt x="412221" y="745384"/>
                  </a:lnTo>
                  <a:lnTo>
                    <a:pt x="408589" y="745158"/>
                  </a:lnTo>
                  <a:lnTo>
                    <a:pt x="405411" y="744931"/>
                  </a:lnTo>
                  <a:lnTo>
                    <a:pt x="398828" y="744023"/>
                  </a:lnTo>
                  <a:lnTo>
                    <a:pt x="305755" y="898294"/>
                  </a:lnTo>
                  <a:lnTo>
                    <a:pt x="257175" y="869255"/>
                  </a:lnTo>
                  <a:lnTo>
                    <a:pt x="349113" y="716118"/>
                  </a:lnTo>
                  <a:lnTo>
                    <a:pt x="347070" y="713396"/>
                  </a:lnTo>
                  <a:lnTo>
                    <a:pt x="344573" y="710220"/>
                  </a:lnTo>
                  <a:lnTo>
                    <a:pt x="342757" y="707497"/>
                  </a:lnTo>
                  <a:lnTo>
                    <a:pt x="340714" y="704321"/>
                  </a:lnTo>
                  <a:lnTo>
                    <a:pt x="339125" y="701145"/>
                  </a:lnTo>
                  <a:lnTo>
                    <a:pt x="337536" y="697969"/>
                  </a:lnTo>
                  <a:lnTo>
                    <a:pt x="335720" y="694793"/>
                  </a:lnTo>
                  <a:lnTo>
                    <a:pt x="334358" y="691390"/>
                  </a:lnTo>
                  <a:lnTo>
                    <a:pt x="333223" y="687987"/>
                  </a:lnTo>
                  <a:lnTo>
                    <a:pt x="332087" y="684584"/>
                  </a:lnTo>
                  <a:lnTo>
                    <a:pt x="331179" y="680954"/>
                  </a:lnTo>
                  <a:lnTo>
                    <a:pt x="330498" y="677324"/>
                  </a:lnTo>
                  <a:lnTo>
                    <a:pt x="329590" y="673467"/>
                  </a:lnTo>
                  <a:lnTo>
                    <a:pt x="329136" y="670064"/>
                  </a:lnTo>
                  <a:lnTo>
                    <a:pt x="328909" y="665981"/>
                  </a:lnTo>
                  <a:lnTo>
                    <a:pt x="328909" y="662351"/>
                  </a:lnTo>
                  <a:lnTo>
                    <a:pt x="328909" y="658040"/>
                  </a:lnTo>
                  <a:lnTo>
                    <a:pt x="329363" y="653730"/>
                  </a:lnTo>
                  <a:lnTo>
                    <a:pt x="330044" y="649646"/>
                  </a:lnTo>
                  <a:lnTo>
                    <a:pt x="330725" y="645335"/>
                  </a:lnTo>
                  <a:lnTo>
                    <a:pt x="331633" y="641479"/>
                  </a:lnTo>
                  <a:lnTo>
                    <a:pt x="332768" y="637395"/>
                  </a:lnTo>
                  <a:lnTo>
                    <a:pt x="333904" y="633765"/>
                  </a:lnTo>
                  <a:lnTo>
                    <a:pt x="335493" y="629908"/>
                  </a:lnTo>
                  <a:lnTo>
                    <a:pt x="337082" y="626279"/>
                  </a:lnTo>
                  <a:lnTo>
                    <a:pt x="339125" y="622649"/>
                  </a:lnTo>
                  <a:lnTo>
                    <a:pt x="340941" y="619246"/>
                  </a:lnTo>
                  <a:lnTo>
                    <a:pt x="342984" y="615843"/>
                  </a:lnTo>
                  <a:lnTo>
                    <a:pt x="345481" y="612666"/>
                  </a:lnTo>
                  <a:lnTo>
                    <a:pt x="347978" y="609263"/>
                  </a:lnTo>
                  <a:lnTo>
                    <a:pt x="350475" y="606314"/>
                  </a:lnTo>
                  <a:lnTo>
                    <a:pt x="353426" y="603592"/>
                  </a:lnTo>
                  <a:lnTo>
                    <a:pt x="356150" y="600642"/>
                  </a:lnTo>
                  <a:lnTo>
                    <a:pt x="359101" y="598147"/>
                  </a:lnTo>
                  <a:lnTo>
                    <a:pt x="362279" y="595878"/>
                  </a:lnTo>
                  <a:lnTo>
                    <a:pt x="365458" y="593383"/>
                  </a:lnTo>
                  <a:lnTo>
                    <a:pt x="369090" y="591341"/>
                  </a:lnTo>
                  <a:lnTo>
                    <a:pt x="372495" y="589299"/>
                  </a:lnTo>
                  <a:lnTo>
                    <a:pt x="376127" y="587484"/>
                  </a:lnTo>
                  <a:lnTo>
                    <a:pt x="379759" y="585669"/>
                  </a:lnTo>
                  <a:lnTo>
                    <a:pt x="383618" y="584308"/>
                  </a:lnTo>
                  <a:lnTo>
                    <a:pt x="387250" y="582947"/>
                  </a:lnTo>
                  <a:lnTo>
                    <a:pt x="391336" y="581812"/>
                  </a:lnTo>
                  <a:lnTo>
                    <a:pt x="395196" y="580905"/>
                  </a:lnTo>
                  <a:lnTo>
                    <a:pt x="399509" y="580224"/>
                  </a:lnTo>
                  <a:lnTo>
                    <a:pt x="403368" y="579544"/>
                  </a:lnTo>
                  <a:lnTo>
                    <a:pt x="407681" y="579317"/>
                  </a:lnTo>
                  <a:lnTo>
                    <a:pt x="412221" y="579090"/>
                  </a:lnTo>
                  <a:lnTo>
                    <a:pt x="416307" y="579317"/>
                  </a:lnTo>
                  <a:lnTo>
                    <a:pt x="420620" y="579544"/>
                  </a:lnTo>
                  <a:lnTo>
                    <a:pt x="424707" y="580224"/>
                  </a:lnTo>
                  <a:lnTo>
                    <a:pt x="428793" y="580905"/>
                  </a:lnTo>
                  <a:lnTo>
                    <a:pt x="432652" y="581812"/>
                  </a:lnTo>
                  <a:lnTo>
                    <a:pt x="436738" y="582947"/>
                  </a:lnTo>
                  <a:lnTo>
                    <a:pt x="440597" y="584308"/>
                  </a:lnTo>
                  <a:lnTo>
                    <a:pt x="444456" y="585669"/>
                  </a:lnTo>
                  <a:lnTo>
                    <a:pt x="447861" y="587484"/>
                  </a:lnTo>
                  <a:lnTo>
                    <a:pt x="451720" y="589299"/>
                  </a:lnTo>
                  <a:lnTo>
                    <a:pt x="454899" y="591341"/>
                  </a:lnTo>
                  <a:lnTo>
                    <a:pt x="458531" y="593383"/>
                  </a:lnTo>
                  <a:lnTo>
                    <a:pt x="461709" y="595878"/>
                  </a:lnTo>
                  <a:lnTo>
                    <a:pt x="464887" y="598147"/>
                  </a:lnTo>
                  <a:lnTo>
                    <a:pt x="467838" y="600642"/>
                  </a:lnTo>
                  <a:lnTo>
                    <a:pt x="470562" y="603592"/>
                  </a:lnTo>
                  <a:lnTo>
                    <a:pt x="473513" y="606314"/>
                  </a:lnTo>
                  <a:lnTo>
                    <a:pt x="476010" y="609263"/>
                  </a:lnTo>
                  <a:lnTo>
                    <a:pt x="478734" y="612666"/>
                  </a:lnTo>
                  <a:lnTo>
                    <a:pt x="481004" y="615843"/>
                  </a:lnTo>
                  <a:lnTo>
                    <a:pt x="483047" y="619246"/>
                  </a:lnTo>
                  <a:lnTo>
                    <a:pt x="484864" y="622649"/>
                  </a:lnTo>
                  <a:lnTo>
                    <a:pt x="486907" y="626279"/>
                  </a:lnTo>
                  <a:lnTo>
                    <a:pt x="488496" y="629908"/>
                  </a:lnTo>
                  <a:lnTo>
                    <a:pt x="490085" y="633765"/>
                  </a:lnTo>
                  <a:lnTo>
                    <a:pt x="491220" y="637395"/>
                  </a:lnTo>
                  <a:lnTo>
                    <a:pt x="492355" y="641479"/>
                  </a:lnTo>
                  <a:lnTo>
                    <a:pt x="493490" y="645335"/>
                  </a:lnTo>
                  <a:lnTo>
                    <a:pt x="494171" y="649646"/>
                  </a:lnTo>
                  <a:lnTo>
                    <a:pt x="494625" y="653730"/>
                  </a:lnTo>
                  <a:lnTo>
                    <a:pt x="495079" y="658040"/>
                  </a:lnTo>
                  <a:lnTo>
                    <a:pt x="495079" y="662351"/>
                  </a:lnTo>
                  <a:lnTo>
                    <a:pt x="495079" y="665527"/>
                  </a:lnTo>
                  <a:lnTo>
                    <a:pt x="494852" y="669157"/>
                  </a:lnTo>
                  <a:lnTo>
                    <a:pt x="494398" y="672333"/>
                  </a:lnTo>
                  <a:lnTo>
                    <a:pt x="493944" y="675509"/>
                  </a:lnTo>
                  <a:lnTo>
                    <a:pt x="492355" y="682088"/>
                  </a:lnTo>
                  <a:lnTo>
                    <a:pt x="490539" y="688214"/>
                  </a:lnTo>
                  <a:lnTo>
                    <a:pt x="610853" y="758543"/>
                  </a:lnTo>
                  <a:lnTo>
                    <a:pt x="616528" y="755140"/>
                  </a:lnTo>
                  <a:lnTo>
                    <a:pt x="622430" y="752417"/>
                  </a:lnTo>
                  <a:lnTo>
                    <a:pt x="628559" y="749922"/>
                  </a:lnTo>
                  <a:lnTo>
                    <a:pt x="634915" y="748107"/>
                  </a:lnTo>
                  <a:lnTo>
                    <a:pt x="690305" y="547101"/>
                  </a:lnTo>
                  <a:lnTo>
                    <a:pt x="686673" y="544152"/>
                  </a:lnTo>
                  <a:lnTo>
                    <a:pt x="682814" y="540976"/>
                  </a:lnTo>
                  <a:lnTo>
                    <a:pt x="679409" y="537800"/>
                  </a:lnTo>
                  <a:lnTo>
                    <a:pt x="676004" y="533943"/>
                  </a:lnTo>
                  <a:lnTo>
                    <a:pt x="673053" y="530540"/>
                  </a:lnTo>
                  <a:lnTo>
                    <a:pt x="670102" y="526456"/>
                  </a:lnTo>
                  <a:lnTo>
                    <a:pt x="667605" y="522373"/>
                  </a:lnTo>
                  <a:lnTo>
                    <a:pt x="665107" y="518062"/>
                  </a:lnTo>
                  <a:lnTo>
                    <a:pt x="662837" y="513979"/>
                  </a:lnTo>
                  <a:lnTo>
                    <a:pt x="661021" y="509214"/>
                  </a:lnTo>
                  <a:lnTo>
                    <a:pt x="659432" y="504450"/>
                  </a:lnTo>
                  <a:lnTo>
                    <a:pt x="658070" y="499913"/>
                  </a:lnTo>
                  <a:lnTo>
                    <a:pt x="657162" y="494922"/>
                  </a:lnTo>
                  <a:lnTo>
                    <a:pt x="656027" y="489931"/>
                  </a:lnTo>
                  <a:lnTo>
                    <a:pt x="655573" y="484940"/>
                  </a:lnTo>
                  <a:lnTo>
                    <a:pt x="655573" y="479722"/>
                  </a:lnTo>
                  <a:lnTo>
                    <a:pt x="655573" y="475411"/>
                  </a:lnTo>
                  <a:lnTo>
                    <a:pt x="655800" y="471327"/>
                  </a:lnTo>
                  <a:lnTo>
                    <a:pt x="656708" y="467017"/>
                  </a:lnTo>
                  <a:lnTo>
                    <a:pt x="657389" y="463160"/>
                  </a:lnTo>
                  <a:lnTo>
                    <a:pt x="658297" y="458850"/>
                  </a:lnTo>
                  <a:lnTo>
                    <a:pt x="659432" y="455220"/>
                  </a:lnTo>
                  <a:lnTo>
                    <a:pt x="660567" y="451136"/>
                  </a:lnTo>
                  <a:lnTo>
                    <a:pt x="661929" y="447506"/>
                  </a:lnTo>
                  <a:lnTo>
                    <a:pt x="663745" y="443649"/>
                  </a:lnTo>
                  <a:lnTo>
                    <a:pt x="665561" y="440246"/>
                  </a:lnTo>
                  <a:lnTo>
                    <a:pt x="667605" y="436617"/>
                  </a:lnTo>
                  <a:lnTo>
                    <a:pt x="669648" y="433440"/>
                  </a:lnTo>
                  <a:lnTo>
                    <a:pt x="672145" y="430037"/>
                  </a:lnTo>
                  <a:lnTo>
                    <a:pt x="674642" y="426861"/>
                  </a:lnTo>
                  <a:lnTo>
                    <a:pt x="677139" y="423912"/>
                  </a:lnTo>
                  <a:lnTo>
                    <a:pt x="679863" y="420963"/>
                  </a:lnTo>
                  <a:lnTo>
                    <a:pt x="682814" y="418240"/>
                  </a:lnTo>
                  <a:lnTo>
                    <a:pt x="685765" y="415518"/>
                  </a:lnTo>
                  <a:lnTo>
                    <a:pt x="688943" y="413249"/>
                  </a:lnTo>
                  <a:lnTo>
                    <a:pt x="692121" y="410980"/>
                  </a:lnTo>
                  <a:lnTo>
                    <a:pt x="695526" y="408712"/>
                  </a:lnTo>
                  <a:lnTo>
                    <a:pt x="698932" y="406670"/>
                  </a:lnTo>
                  <a:lnTo>
                    <a:pt x="702791" y="404855"/>
                  </a:lnTo>
                  <a:lnTo>
                    <a:pt x="706196" y="403267"/>
                  </a:lnTo>
                  <a:lnTo>
                    <a:pt x="710055" y="401679"/>
                  </a:lnTo>
                  <a:lnTo>
                    <a:pt x="713914" y="400318"/>
                  </a:lnTo>
                  <a:lnTo>
                    <a:pt x="718000" y="399410"/>
                  </a:lnTo>
                  <a:lnTo>
                    <a:pt x="721859" y="398503"/>
                  </a:lnTo>
                  <a:lnTo>
                    <a:pt x="725945" y="397595"/>
                  </a:lnTo>
                  <a:lnTo>
                    <a:pt x="730032" y="397141"/>
                  </a:lnTo>
                  <a:lnTo>
                    <a:pt x="734345" y="396915"/>
                  </a:lnTo>
                  <a:lnTo>
                    <a:pt x="738658" y="396688"/>
                  </a:lnTo>
                  <a:lnTo>
                    <a:pt x="744106" y="396915"/>
                  </a:lnTo>
                  <a:lnTo>
                    <a:pt x="749554" y="397595"/>
                  </a:lnTo>
                  <a:lnTo>
                    <a:pt x="754775" y="398276"/>
                  </a:lnTo>
                  <a:lnTo>
                    <a:pt x="759770" y="399637"/>
                  </a:lnTo>
                  <a:lnTo>
                    <a:pt x="764764" y="400998"/>
                  </a:lnTo>
                  <a:lnTo>
                    <a:pt x="769758" y="403040"/>
                  </a:lnTo>
                  <a:lnTo>
                    <a:pt x="774298" y="405082"/>
                  </a:lnTo>
                  <a:lnTo>
                    <a:pt x="778838" y="407577"/>
                  </a:lnTo>
                  <a:lnTo>
                    <a:pt x="916859" y="288925"/>
                  </a:lnTo>
                  <a:close/>
                  <a:moveTo>
                    <a:pt x="607752" y="120128"/>
                  </a:moveTo>
                  <a:lnTo>
                    <a:pt x="595738" y="120581"/>
                  </a:lnTo>
                  <a:lnTo>
                    <a:pt x="583950" y="121488"/>
                  </a:lnTo>
                  <a:lnTo>
                    <a:pt x="571936" y="122621"/>
                  </a:lnTo>
                  <a:lnTo>
                    <a:pt x="559921" y="123755"/>
                  </a:lnTo>
                  <a:lnTo>
                    <a:pt x="548133" y="125341"/>
                  </a:lnTo>
                  <a:lnTo>
                    <a:pt x="536119" y="127154"/>
                  </a:lnTo>
                  <a:lnTo>
                    <a:pt x="524331" y="129421"/>
                  </a:lnTo>
                  <a:lnTo>
                    <a:pt x="512543" y="131688"/>
                  </a:lnTo>
                  <a:lnTo>
                    <a:pt x="500755" y="134407"/>
                  </a:lnTo>
                  <a:lnTo>
                    <a:pt x="489194" y="137581"/>
                  </a:lnTo>
                  <a:lnTo>
                    <a:pt x="477406" y="140754"/>
                  </a:lnTo>
                  <a:lnTo>
                    <a:pt x="466072" y="144380"/>
                  </a:lnTo>
                  <a:lnTo>
                    <a:pt x="454511" y="148234"/>
                  </a:lnTo>
                  <a:lnTo>
                    <a:pt x="443176" y="152313"/>
                  </a:lnTo>
                  <a:lnTo>
                    <a:pt x="431615" y="156620"/>
                  </a:lnTo>
                  <a:lnTo>
                    <a:pt x="420508" y="161380"/>
                  </a:lnTo>
                  <a:lnTo>
                    <a:pt x="409400" y="166593"/>
                  </a:lnTo>
                  <a:lnTo>
                    <a:pt x="398519" y="171579"/>
                  </a:lnTo>
                  <a:lnTo>
                    <a:pt x="387411" y="177246"/>
                  </a:lnTo>
                  <a:lnTo>
                    <a:pt x="376530" y="183139"/>
                  </a:lnTo>
                  <a:lnTo>
                    <a:pt x="365876" y="189485"/>
                  </a:lnTo>
                  <a:lnTo>
                    <a:pt x="355221" y="195831"/>
                  </a:lnTo>
                  <a:lnTo>
                    <a:pt x="344794" y="202631"/>
                  </a:lnTo>
                  <a:lnTo>
                    <a:pt x="334593" y="209431"/>
                  </a:lnTo>
                  <a:lnTo>
                    <a:pt x="324392" y="216684"/>
                  </a:lnTo>
                  <a:lnTo>
                    <a:pt x="314191" y="224163"/>
                  </a:lnTo>
                  <a:lnTo>
                    <a:pt x="304443" y="232323"/>
                  </a:lnTo>
                  <a:lnTo>
                    <a:pt x="294695" y="240483"/>
                  </a:lnTo>
                  <a:lnTo>
                    <a:pt x="284948" y="248869"/>
                  </a:lnTo>
                  <a:lnTo>
                    <a:pt x="275654" y="257482"/>
                  </a:lnTo>
                  <a:lnTo>
                    <a:pt x="266359" y="266548"/>
                  </a:lnTo>
                  <a:lnTo>
                    <a:pt x="257518" y="275614"/>
                  </a:lnTo>
                  <a:lnTo>
                    <a:pt x="248678" y="285134"/>
                  </a:lnTo>
                  <a:lnTo>
                    <a:pt x="240290" y="294654"/>
                  </a:lnTo>
                  <a:lnTo>
                    <a:pt x="232129" y="304400"/>
                  </a:lnTo>
                  <a:lnTo>
                    <a:pt x="224195" y="314373"/>
                  </a:lnTo>
                  <a:lnTo>
                    <a:pt x="216714" y="324346"/>
                  </a:lnTo>
                  <a:lnTo>
                    <a:pt x="209460" y="334545"/>
                  </a:lnTo>
                  <a:lnTo>
                    <a:pt x="202433" y="344971"/>
                  </a:lnTo>
                  <a:lnTo>
                    <a:pt x="195632" y="355397"/>
                  </a:lnTo>
                  <a:lnTo>
                    <a:pt x="189058" y="366050"/>
                  </a:lnTo>
                  <a:lnTo>
                    <a:pt x="183164" y="376703"/>
                  </a:lnTo>
                  <a:lnTo>
                    <a:pt x="177271" y="387583"/>
                  </a:lnTo>
                  <a:lnTo>
                    <a:pt x="171603" y="398462"/>
                  </a:lnTo>
                  <a:lnTo>
                    <a:pt x="166390" y="409342"/>
                  </a:lnTo>
                  <a:lnTo>
                    <a:pt x="161402" y="420448"/>
                  </a:lnTo>
                  <a:lnTo>
                    <a:pt x="156642" y="431554"/>
                  </a:lnTo>
                  <a:lnTo>
                    <a:pt x="152108" y="443114"/>
                  </a:lnTo>
                  <a:lnTo>
                    <a:pt x="148028" y="454673"/>
                  </a:lnTo>
                  <a:lnTo>
                    <a:pt x="144174" y="466006"/>
                  </a:lnTo>
                  <a:lnTo>
                    <a:pt x="140774" y="477565"/>
                  </a:lnTo>
                  <a:lnTo>
                    <a:pt x="137373" y="489125"/>
                  </a:lnTo>
                  <a:lnTo>
                    <a:pt x="134426" y="500911"/>
                  </a:lnTo>
                  <a:lnTo>
                    <a:pt x="131706" y="512470"/>
                  </a:lnTo>
                  <a:lnTo>
                    <a:pt x="129213" y="524256"/>
                  </a:lnTo>
                  <a:lnTo>
                    <a:pt x="127172" y="536269"/>
                  </a:lnTo>
                  <a:lnTo>
                    <a:pt x="125359" y="548055"/>
                  </a:lnTo>
                  <a:lnTo>
                    <a:pt x="123772" y="560068"/>
                  </a:lnTo>
                  <a:lnTo>
                    <a:pt x="122185" y="571854"/>
                  </a:lnTo>
                  <a:lnTo>
                    <a:pt x="121278" y="583867"/>
                  </a:lnTo>
                  <a:lnTo>
                    <a:pt x="120598" y="595880"/>
                  </a:lnTo>
                  <a:lnTo>
                    <a:pt x="120145" y="607666"/>
                  </a:lnTo>
                  <a:lnTo>
                    <a:pt x="120145" y="619905"/>
                  </a:lnTo>
                  <a:lnTo>
                    <a:pt x="120145" y="631918"/>
                  </a:lnTo>
                  <a:lnTo>
                    <a:pt x="120598" y="643704"/>
                  </a:lnTo>
                  <a:lnTo>
                    <a:pt x="121278" y="655717"/>
                  </a:lnTo>
                  <a:lnTo>
                    <a:pt x="122185" y="667503"/>
                  </a:lnTo>
                  <a:lnTo>
                    <a:pt x="123772" y="679516"/>
                  </a:lnTo>
                  <a:lnTo>
                    <a:pt x="125359" y="691529"/>
                  </a:lnTo>
                  <a:lnTo>
                    <a:pt x="127172" y="703315"/>
                  </a:lnTo>
                  <a:lnTo>
                    <a:pt x="129213" y="715328"/>
                  </a:lnTo>
                  <a:lnTo>
                    <a:pt x="131706" y="726887"/>
                  </a:lnTo>
                  <a:lnTo>
                    <a:pt x="134426" y="738673"/>
                  </a:lnTo>
                  <a:lnTo>
                    <a:pt x="137373" y="750460"/>
                  </a:lnTo>
                  <a:lnTo>
                    <a:pt x="140774" y="762019"/>
                  </a:lnTo>
                  <a:lnTo>
                    <a:pt x="144174" y="773579"/>
                  </a:lnTo>
                  <a:lnTo>
                    <a:pt x="148028" y="784911"/>
                  </a:lnTo>
                  <a:lnTo>
                    <a:pt x="152108" y="796471"/>
                  </a:lnTo>
                  <a:lnTo>
                    <a:pt x="156642" y="807804"/>
                  </a:lnTo>
                  <a:lnTo>
                    <a:pt x="161402" y="819136"/>
                  </a:lnTo>
                  <a:lnTo>
                    <a:pt x="166390" y="830016"/>
                  </a:lnTo>
                  <a:lnTo>
                    <a:pt x="171603" y="841122"/>
                  </a:lnTo>
                  <a:lnTo>
                    <a:pt x="177271" y="852002"/>
                  </a:lnTo>
                  <a:lnTo>
                    <a:pt x="183164" y="862881"/>
                  </a:lnTo>
                  <a:lnTo>
                    <a:pt x="189058" y="873534"/>
                  </a:lnTo>
                  <a:lnTo>
                    <a:pt x="195632" y="884187"/>
                  </a:lnTo>
                  <a:lnTo>
                    <a:pt x="202433" y="894613"/>
                  </a:lnTo>
                  <a:lnTo>
                    <a:pt x="209460" y="904813"/>
                  </a:lnTo>
                  <a:lnTo>
                    <a:pt x="216714" y="915239"/>
                  </a:lnTo>
                  <a:lnTo>
                    <a:pt x="224195" y="925212"/>
                  </a:lnTo>
                  <a:lnTo>
                    <a:pt x="232129" y="934958"/>
                  </a:lnTo>
                  <a:lnTo>
                    <a:pt x="240290" y="944931"/>
                  </a:lnTo>
                  <a:lnTo>
                    <a:pt x="248678" y="954450"/>
                  </a:lnTo>
                  <a:lnTo>
                    <a:pt x="257518" y="963743"/>
                  </a:lnTo>
                  <a:lnTo>
                    <a:pt x="266359" y="973036"/>
                  </a:lnTo>
                  <a:lnTo>
                    <a:pt x="275654" y="982102"/>
                  </a:lnTo>
                  <a:lnTo>
                    <a:pt x="284948" y="990715"/>
                  </a:lnTo>
                  <a:lnTo>
                    <a:pt x="294695" y="999102"/>
                  </a:lnTo>
                  <a:lnTo>
                    <a:pt x="304443" y="1007261"/>
                  </a:lnTo>
                  <a:lnTo>
                    <a:pt x="314191" y="1015194"/>
                  </a:lnTo>
                  <a:lnTo>
                    <a:pt x="324392" y="1022674"/>
                  </a:lnTo>
                  <a:lnTo>
                    <a:pt x="334593" y="1029927"/>
                  </a:lnTo>
                  <a:lnTo>
                    <a:pt x="344794" y="1036953"/>
                  </a:lnTo>
                  <a:lnTo>
                    <a:pt x="355221" y="1043753"/>
                  </a:lnTo>
                  <a:lnTo>
                    <a:pt x="365876" y="1050099"/>
                  </a:lnTo>
                  <a:lnTo>
                    <a:pt x="376530" y="1056446"/>
                  </a:lnTo>
                  <a:lnTo>
                    <a:pt x="387411" y="1062339"/>
                  </a:lnTo>
                  <a:lnTo>
                    <a:pt x="398292" y="1067779"/>
                  </a:lnTo>
                  <a:lnTo>
                    <a:pt x="409400" y="1072992"/>
                  </a:lnTo>
                  <a:lnTo>
                    <a:pt x="420508" y="1078205"/>
                  </a:lnTo>
                  <a:lnTo>
                    <a:pt x="431615" y="1082738"/>
                  </a:lnTo>
                  <a:lnTo>
                    <a:pt x="443176" y="1087271"/>
                  </a:lnTo>
                  <a:lnTo>
                    <a:pt x="454511" y="1091351"/>
                  </a:lnTo>
                  <a:lnTo>
                    <a:pt x="466072" y="1095204"/>
                  </a:lnTo>
                  <a:lnTo>
                    <a:pt x="477406" y="1098830"/>
                  </a:lnTo>
                  <a:lnTo>
                    <a:pt x="489194" y="1102004"/>
                  </a:lnTo>
                  <a:lnTo>
                    <a:pt x="500755" y="1104950"/>
                  </a:lnTo>
                  <a:lnTo>
                    <a:pt x="512543" y="1107897"/>
                  </a:lnTo>
                  <a:lnTo>
                    <a:pt x="524331" y="1110163"/>
                  </a:lnTo>
                  <a:lnTo>
                    <a:pt x="536119" y="1112203"/>
                  </a:lnTo>
                  <a:lnTo>
                    <a:pt x="548133" y="1114243"/>
                  </a:lnTo>
                  <a:lnTo>
                    <a:pt x="559921" y="1115830"/>
                  </a:lnTo>
                  <a:lnTo>
                    <a:pt x="571936" y="1116963"/>
                  </a:lnTo>
                  <a:lnTo>
                    <a:pt x="583950" y="1118096"/>
                  </a:lnTo>
                  <a:lnTo>
                    <a:pt x="595738" y="1118776"/>
                  </a:lnTo>
                  <a:lnTo>
                    <a:pt x="607752" y="1119230"/>
                  </a:lnTo>
                  <a:lnTo>
                    <a:pt x="619540" y="1119230"/>
                  </a:lnTo>
                  <a:lnTo>
                    <a:pt x="631782" y="1119230"/>
                  </a:lnTo>
                  <a:lnTo>
                    <a:pt x="643796" y="1118776"/>
                  </a:lnTo>
                  <a:lnTo>
                    <a:pt x="655584" y="1118096"/>
                  </a:lnTo>
                  <a:lnTo>
                    <a:pt x="667598" y="1116963"/>
                  </a:lnTo>
                  <a:lnTo>
                    <a:pt x="679613" y="1115830"/>
                  </a:lnTo>
                  <a:lnTo>
                    <a:pt x="691401" y="1114243"/>
                  </a:lnTo>
                  <a:lnTo>
                    <a:pt x="703415" y="1112203"/>
                  </a:lnTo>
                  <a:lnTo>
                    <a:pt x="715203" y="1110163"/>
                  </a:lnTo>
                  <a:lnTo>
                    <a:pt x="726991" y="1107897"/>
                  </a:lnTo>
                  <a:lnTo>
                    <a:pt x="738779" y="1104950"/>
                  </a:lnTo>
                  <a:lnTo>
                    <a:pt x="750340" y="1102004"/>
                  </a:lnTo>
                  <a:lnTo>
                    <a:pt x="762128" y="1098830"/>
                  </a:lnTo>
                  <a:lnTo>
                    <a:pt x="773462" y="1095204"/>
                  </a:lnTo>
                  <a:lnTo>
                    <a:pt x="785023" y="1091351"/>
                  </a:lnTo>
                  <a:lnTo>
                    <a:pt x="796358" y="1087271"/>
                  </a:lnTo>
                  <a:lnTo>
                    <a:pt x="807692" y="1082738"/>
                  </a:lnTo>
                  <a:lnTo>
                    <a:pt x="819026" y="1078205"/>
                  </a:lnTo>
                  <a:lnTo>
                    <a:pt x="830134" y="1072992"/>
                  </a:lnTo>
                  <a:lnTo>
                    <a:pt x="841015" y="1067779"/>
                  </a:lnTo>
                  <a:lnTo>
                    <a:pt x="852123" y="1062339"/>
                  </a:lnTo>
                  <a:lnTo>
                    <a:pt x="862777" y="1056446"/>
                  </a:lnTo>
                  <a:lnTo>
                    <a:pt x="873658" y="1050099"/>
                  </a:lnTo>
                  <a:lnTo>
                    <a:pt x="884086" y="1043753"/>
                  </a:lnTo>
                  <a:lnTo>
                    <a:pt x="894740" y="1036953"/>
                  </a:lnTo>
                  <a:lnTo>
                    <a:pt x="904941" y="1029927"/>
                  </a:lnTo>
                  <a:lnTo>
                    <a:pt x="915142" y="1022674"/>
                  </a:lnTo>
                  <a:lnTo>
                    <a:pt x="925343" y="1015194"/>
                  </a:lnTo>
                  <a:lnTo>
                    <a:pt x="935091" y="1007261"/>
                  </a:lnTo>
                  <a:lnTo>
                    <a:pt x="944839" y="999102"/>
                  </a:lnTo>
                  <a:lnTo>
                    <a:pt x="954586" y="990715"/>
                  </a:lnTo>
                  <a:lnTo>
                    <a:pt x="963880" y="982102"/>
                  </a:lnTo>
                  <a:lnTo>
                    <a:pt x="972948" y="973036"/>
                  </a:lnTo>
                  <a:lnTo>
                    <a:pt x="982017" y="963743"/>
                  </a:lnTo>
                  <a:lnTo>
                    <a:pt x="990856" y="954450"/>
                  </a:lnTo>
                  <a:lnTo>
                    <a:pt x="999244" y="944931"/>
                  </a:lnTo>
                  <a:lnTo>
                    <a:pt x="1007405" y="934958"/>
                  </a:lnTo>
                  <a:lnTo>
                    <a:pt x="1015339" y="925212"/>
                  </a:lnTo>
                  <a:lnTo>
                    <a:pt x="1022820" y="915239"/>
                  </a:lnTo>
                  <a:lnTo>
                    <a:pt x="1030074" y="904813"/>
                  </a:lnTo>
                  <a:lnTo>
                    <a:pt x="1037101" y="894613"/>
                  </a:lnTo>
                  <a:lnTo>
                    <a:pt x="1043902" y="884187"/>
                  </a:lnTo>
                  <a:lnTo>
                    <a:pt x="1050249" y="873534"/>
                  </a:lnTo>
                  <a:lnTo>
                    <a:pt x="1056370" y="862881"/>
                  </a:lnTo>
                  <a:lnTo>
                    <a:pt x="1062263" y="852002"/>
                  </a:lnTo>
                  <a:lnTo>
                    <a:pt x="1067931" y="841122"/>
                  </a:lnTo>
                  <a:lnTo>
                    <a:pt x="1073144" y="830016"/>
                  </a:lnTo>
                  <a:lnTo>
                    <a:pt x="1078132" y="819136"/>
                  </a:lnTo>
                  <a:lnTo>
                    <a:pt x="1082892" y="807804"/>
                  </a:lnTo>
                  <a:lnTo>
                    <a:pt x="1087426" y="796471"/>
                  </a:lnTo>
                  <a:lnTo>
                    <a:pt x="1091280" y="784911"/>
                  </a:lnTo>
                  <a:lnTo>
                    <a:pt x="1095360" y="773579"/>
                  </a:lnTo>
                  <a:lnTo>
                    <a:pt x="1098760" y="762019"/>
                  </a:lnTo>
                  <a:lnTo>
                    <a:pt x="1102161" y="750460"/>
                  </a:lnTo>
                  <a:lnTo>
                    <a:pt x="1105108" y="738673"/>
                  </a:lnTo>
                  <a:lnTo>
                    <a:pt x="1107828" y="726887"/>
                  </a:lnTo>
                  <a:lnTo>
                    <a:pt x="1110321" y="715328"/>
                  </a:lnTo>
                  <a:lnTo>
                    <a:pt x="1112362" y="703315"/>
                  </a:lnTo>
                  <a:lnTo>
                    <a:pt x="1114175" y="691529"/>
                  </a:lnTo>
                  <a:lnTo>
                    <a:pt x="1115762" y="679516"/>
                  </a:lnTo>
                  <a:lnTo>
                    <a:pt x="1117122" y="667503"/>
                  </a:lnTo>
                  <a:lnTo>
                    <a:pt x="1118256" y="655717"/>
                  </a:lnTo>
                  <a:lnTo>
                    <a:pt x="1118936" y="643704"/>
                  </a:lnTo>
                  <a:lnTo>
                    <a:pt x="1119389" y="631918"/>
                  </a:lnTo>
                  <a:lnTo>
                    <a:pt x="1119389" y="619905"/>
                  </a:lnTo>
                  <a:lnTo>
                    <a:pt x="1119389" y="607666"/>
                  </a:lnTo>
                  <a:lnTo>
                    <a:pt x="1118936" y="595880"/>
                  </a:lnTo>
                  <a:lnTo>
                    <a:pt x="1118256" y="583867"/>
                  </a:lnTo>
                  <a:lnTo>
                    <a:pt x="1117122" y="571854"/>
                  </a:lnTo>
                  <a:lnTo>
                    <a:pt x="1115762" y="560068"/>
                  </a:lnTo>
                  <a:lnTo>
                    <a:pt x="1114175" y="548055"/>
                  </a:lnTo>
                  <a:lnTo>
                    <a:pt x="1112362" y="536269"/>
                  </a:lnTo>
                  <a:lnTo>
                    <a:pt x="1110321" y="524256"/>
                  </a:lnTo>
                  <a:lnTo>
                    <a:pt x="1107828" y="512470"/>
                  </a:lnTo>
                  <a:lnTo>
                    <a:pt x="1105108" y="500911"/>
                  </a:lnTo>
                  <a:lnTo>
                    <a:pt x="1102161" y="489125"/>
                  </a:lnTo>
                  <a:lnTo>
                    <a:pt x="1098760" y="477565"/>
                  </a:lnTo>
                  <a:lnTo>
                    <a:pt x="1095360" y="466006"/>
                  </a:lnTo>
                  <a:lnTo>
                    <a:pt x="1091280" y="454673"/>
                  </a:lnTo>
                  <a:lnTo>
                    <a:pt x="1087426" y="443114"/>
                  </a:lnTo>
                  <a:lnTo>
                    <a:pt x="1082892" y="431554"/>
                  </a:lnTo>
                  <a:lnTo>
                    <a:pt x="1078132" y="420448"/>
                  </a:lnTo>
                  <a:lnTo>
                    <a:pt x="1073144" y="409342"/>
                  </a:lnTo>
                  <a:lnTo>
                    <a:pt x="1067931" y="398462"/>
                  </a:lnTo>
                  <a:lnTo>
                    <a:pt x="1062263" y="387583"/>
                  </a:lnTo>
                  <a:lnTo>
                    <a:pt x="1056370" y="376703"/>
                  </a:lnTo>
                  <a:lnTo>
                    <a:pt x="1050249" y="366050"/>
                  </a:lnTo>
                  <a:lnTo>
                    <a:pt x="1043902" y="355397"/>
                  </a:lnTo>
                  <a:lnTo>
                    <a:pt x="1037101" y="344971"/>
                  </a:lnTo>
                  <a:lnTo>
                    <a:pt x="1030074" y="334545"/>
                  </a:lnTo>
                  <a:lnTo>
                    <a:pt x="1022820" y="324346"/>
                  </a:lnTo>
                  <a:lnTo>
                    <a:pt x="1015339" y="314373"/>
                  </a:lnTo>
                  <a:lnTo>
                    <a:pt x="1007405" y="304400"/>
                  </a:lnTo>
                  <a:lnTo>
                    <a:pt x="999244" y="294654"/>
                  </a:lnTo>
                  <a:lnTo>
                    <a:pt x="990856" y="285134"/>
                  </a:lnTo>
                  <a:lnTo>
                    <a:pt x="982017" y="275614"/>
                  </a:lnTo>
                  <a:lnTo>
                    <a:pt x="972948" y="266548"/>
                  </a:lnTo>
                  <a:lnTo>
                    <a:pt x="963880" y="257482"/>
                  </a:lnTo>
                  <a:lnTo>
                    <a:pt x="954586" y="248869"/>
                  </a:lnTo>
                  <a:lnTo>
                    <a:pt x="944839" y="240483"/>
                  </a:lnTo>
                  <a:lnTo>
                    <a:pt x="935091" y="232323"/>
                  </a:lnTo>
                  <a:lnTo>
                    <a:pt x="925343" y="224163"/>
                  </a:lnTo>
                  <a:lnTo>
                    <a:pt x="915142" y="216684"/>
                  </a:lnTo>
                  <a:lnTo>
                    <a:pt x="904941" y="209431"/>
                  </a:lnTo>
                  <a:lnTo>
                    <a:pt x="894740" y="202631"/>
                  </a:lnTo>
                  <a:lnTo>
                    <a:pt x="884086" y="195831"/>
                  </a:lnTo>
                  <a:lnTo>
                    <a:pt x="873658" y="189485"/>
                  </a:lnTo>
                  <a:lnTo>
                    <a:pt x="862777" y="183139"/>
                  </a:lnTo>
                  <a:lnTo>
                    <a:pt x="852123" y="177246"/>
                  </a:lnTo>
                  <a:lnTo>
                    <a:pt x="841015" y="171579"/>
                  </a:lnTo>
                  <a:lnTo>
                    <a:pt x="830134" y="166593"/>
                  </a:lnTo>
                  <a:lnTo>
                    <a:pt x="819026" y="161380"/>
                  </a:lnTo>
                  <a:lnTo>
                    <a:pt x="807692" y="156620"/>
                  </a:lnTo>
                  <a:lnTo>
                    <a:pt x="796358" y="152313"/>
                  </a:lnTo>
                  <a:lnTo>
                    <a:pt x="785023" y="148234"/>
                  </a:lnTo>
                  <a:lnTo>
                    <a:pt x="773462" y="144380"/>
                  </a:lnTo>
                  <a:lnTo>
                    <a:pt x="762128" y="140754"/>
                  </a:lnTo>
                  <a:lnTo>
                    <a:pt x="750340" y="137581"/>
                  </a:lnTo>
                  <a:lnTo>
                    <a:pt x="738779" y="134407"/>
                  </a:lnTo>
                  <a:lnTo>
                    <a:pt x="726991" y="131688"/>
                  </a:lnTo>
                  <a:lnTo>
                    <a:pt x="715203" y="129421"/>
                  </a:lnTo>
                  <a:lnTo>
                    <a:pt x="703415" y="127154"/>
                  </a:lnTo>
                  <a:lnTo>
                    <a:pt x="691401" y="125341"/>
                  </a:lnTo>
                  <a:lnTo>
                    <a:pt x="679613" y="123755"/>
                  </a:lnTo>
                  <a:lnTo>
                    <a:pt x="667598" y="122621"/>
                  </a:lnTo>
                  <a:lnTo>
                    <a:pt x="655584" y="121488"/>
                  </a:lnTo>
                  <a:lnTo>
                    <a:pt x="643796" y="120581"/>
                  </a:lnTo>
                  <a:lnTo>
                    <a:pt x="631782" y="120128"/>
                  </a:lnTo>
                  <a:lnTo>
                    <a:pt x="619540" y="120128"/>
                  </a:lnTo>
                  <a:lnTo>
                    <a:pt x="607752" y="120128"/>
                  </a:lnTo>
                  <a:close/>
                  <a:moveTo>
                    <a:pt x="619540" y="0"/>
                  </a:moveTo>
                  <a:lnTo>
                    <a:pt x="634502" y="227"/>
                  </a:lnTo>
                  <a:lnTo>
                    <a:pt x="649690" y="907"/>
                  </a:lnTo>
                  <a:lnTo>
                    <a:pt x="664198" y="1587"/>
                  </a:lnTo>
                  <a:lnTo>
                    <a:pt x="678933" y="3173"/>
                  </a:lnTo>
                  <a:lnTo>
                    <a:pt x="694121" y="4533"/>
                  </a:lnTo>
                  <a:lnTo>
                    <a:pt x="708629" y="6573"/>
                  </a:lnTo>
                  <a:lnTo>
                    <a:pt x="723364" y="8840"/>
                  </a:lnTo>
                  <a:lnTo>
                    <a:pt x="738098" y="11560"/>
                  </a:lnTo>
                  <a:lnTo>
                    <a:pt x="752607" y="14506"/>
                  </a:lnTo>
                  <a:lnTo>
                    <a:pt x="767115" y="17906"/>
                  </a:lnTo>
                  <a:lnTo>
                    <a:pt x="781623" y="21533"/>
                  </a:lnTo>
                  <a:lnTo>
                    <a:pt x="796131" y="25839"/>
                  </a:lnTo>
                  <a:lnTo>
                    <a:pt x="810412" y="30146"/>
                  </a:lnTo>
                  <a:lnTo>
                    <a:pt x="824694" y="34905"/>
                  </a:lnTo>
                  <a:lnTo>
                    <a:pt x="838975" y="40118"/>
                  </a:lnTo>
                  <a:lnTo>
                    <a:pt x="853030" y="45558"/>
                  </a:lnTo>
                  <a:lnTo>
                    <a:pt x="866858" y="51451"/>
                  </a:lnTo>
                  <a:lnTo>
                    <a:pt x="880686" y="57571"/>
                  </a:lnTo>
                  <a:lnTo>
                    <a:pt x="894514" y="64144"/>
                  </a:lnTo>
                  <a:lnTo>
                    <a:pt x="907888" y="71170"/>
                  </a:lnTo>
                  <a:lnTo>
                    <a:pt x="921263" y="78423"/>
                  </a:lnTo>
                  <a:lnTo>
                    <a:pt x="934638" y="85903"/>
                  </a:lnTo>
                  <a:lnTo>
                    <a:pt x="947786" y="93836"/>
                  </a:lnTo>
                  <a:lnTo>
                    <a:pt x="960934" y="102222"/>
                  </a:lnTo>
                  <a:lnTo>
                    <a:pt x="973401" y="110835"/>
                  </a:lnTo>
                  <a:lnTo>
                    <a:pt x="986096" y="119901"/>
                  </a:lnTo>
                  <a:lnTo>
                    <a:pt x="998791" y="129421"/>
                  </a:lnTo>
                  <a:lnTo>
                    <a:pt x="1010805" y="139167"/>
                  </a:lnTo>
                  <a:lnTo>
                    <a:pt x="1023046" y="149140"/>
                  </a:lnTo>
                  <a:lnTo>
                    <a:pt x="1034607" y="159793"/>
                  </a:lnTo>
                  <a:lnTo>
                    <a:pt x="1046395" y="170446"/>
                  </a:lnTo>
                  <a:lnTo>
                    <a:pt x="1057956" y="181779"/>
                  </a:lnTo>
                  <a:lnTo>
                    <a:pt x="1067251" y="191072"/>
                  </a:lnTo>
                  <a:lnTo>
                    <a:pt x="1076318" y="200591"/>
                  </a:lnTo>
                  <a:lnTo>
                    <a:pt x="1084932" y="210564"/>
                  </a:lnTo>
                  <a:lnTo>
                    <a:pt x="1093546" y="220310"/>
                  </a:lnTo>
                  <a:lnTo>
                    <a:pt x="1101934" y="230283"/>
                  </a:lnTo>
                  <a:lnTo>
                    <a:pt x="1110095" y="240709"/>
                  </a:lnTo>
                  <a:lnTo>
                    <a:pt x="1117802" y="250909"/>
                  </a:lnTo>
                  <a:lnTo>
                    <a:pt x="1125510" y="261108"/>
                  </a:lnTo>
                  <a:lnTo>
                    <a:pt x="1132764" y="271988"/>
                  </a:lnTo>
                  <a:lnTo>
                    <a:pt x="1139791" y="282414"/>
                  </a:lnTo>
                  <a:lnTo>
                    <a:pt x="1146592" y="293294"/>
                  </a:lnTo>
                  <a:lnTo>
                    <a:pt x="1153166" y="304173"/>
                  </a:lnTo>
                  <a:lnTo>
                    <a:pt x="1159513" y="315279"/>
                  </a:lnTo>
                  <a:lnTo>
                    <a:pt x="1165634" y="326159"/>
                  </a:lnTo>
                  <a:lnTo>
                    <a:pt x="1171527" y="337492"/>
                  </a:lnTo>
                  <a:lnTo>
                    <a:pt x="1177195" y="348598"/>
                  </a:lnTo>
                  <a:lnTo>
                    <a:pt x="1182408" y="360157"/>
                  </a:lnTo>
                  <a:lnTo>
                    <a:pt x="1187622" y="371490"/>
                  </a:lnTo>
                  <a:lnTo>
                    <a:pt x="1192610" y="383050"/>
                  </a:lnTo>
                  <a:lnTo>
                    <a:pt x="1197143" y="394609"/>
                  </a:lnTo>
                  <a:lnTo>
                    <a:pt x="1201777" y="406395"/>
                  </a:lnTo>
                  <a:lnTo>
                    <a:pt x="1205984" y="418181"/>
                  </a:lnTo>
                  <a:lnTo>
                    <a:pt x="1209611" y="429741"/>
                  </a:lnTo>
                  <a:lnTo>
                    <a:pt x="1213465" y="441754"/>
                  </a:lnTo>
                  <a:lnTo>
                    <a:pt x="1216865" y="453540"/>
                  </a:lnTo>
                  <a:lnTo>
                    <a:pt x="1219812" y="465552"/>
                  </a:lnTo>
                  <a:lnTo>
                    <a:pt x="1222986" y="477792"/>
                  </a:lnTo>
                  <a:lnTo>
                    <a:pt x="1225706" y="489578"/>
                  </a:lnTo>
                  <a:lnTo>
                    <a:pt x="1228200" y="501818"/>
                  </a:lnTo>
                  <a:lnTo>
                    <a:pt x="1230240" y="514057"/>
                  </a:lnTo>
                  <a:lnTo>
                    <a:pt x="1232280" y="526070"/>
                  </a:lnTo>
                  <a:lnTo>
                    <a:pt x="1233867" y="538536"/>
                  </a:lnTo>
                  <a:lnTo>
                    <a:pt x="1235680" y="550775"/>
                  </a:lnTo>
                  <a:lnTo>
                    <a:pt x="1236814" y="563015"/>
                  </a:lnTo>
                  <a:lnTo>
                    <a:pt x="1237720" y="575254"/>
                  </a:lnTo>
                  <a:lnTo>
                    <a:pt x="1238401" y="587720"/>
                  </a:lnTo>
                  <a:lnTo>
                    <a:pt x="1239081" y="599733"/>
                  </a:lnTo>
                  <a:lnTo>
                    <a:pt x="1239307" y="612199"/>
                  </a:lnTo>
                  <a:lnTo>
                    <a:pt x="1239307" y="624665"/>
                  </a:lnTo>
                  <a:lnTo>
                    <a:pt x="1239081" y="636678"/>
                  </a:lnTo>
                  <a:lnTo>
                    <a:pt x="1238627" y="649144"/>
                  </a:lnTo>
                  <a:lnTo>
                    <a:pt x="1237947" y="661610"/>
                  </a:lnTo>
                  <a:lnTo>
                    <a:pt x="1237040" y="673623"/>
                  </a:lnTo>
                  <a:lnTo>
                    <a:pt x="1235907" y="686089"/>
                  </a:lnTo>
                  <a:lnTo>
                    <a:pt x="1234320" y="698102"/>
                  </a:lnTo>
                  <a:lnTo>
                    <a:pt x="1232507" y="710341"/>
                  </a:lnTo>
                  <a:lnTo>
                    <a:pt x="1230693" y="722807"/>
                  </a:lnTo>
                  <a:lnTo>
                    <a:pt x="1228653" y="734820"/>
                  </a:lnTo>
                  <a:lnTo>
                    <a:pt x="1226159" y="746833"/>
                  </a:lnTo>
                  <a:lnTo>
                    <a:pt x="1223439" y="759073"/>
                  </a:lnTo>
                  <a:lnTo>
                    <a:pt x="1220719" y="771085"/>
                  </a:lnTo>
                  <a:lnTo>
                    <a:pt x="1217545" y="783098"/>
                  </a:lnTo>
                  <a:lnTo>
                    <a:pt x="1214145" y="795111"/>
                  </a:lnTo>
                  <a:lnTo>
                    <a:pt x="1210518" y="806897"/>
                  </a:lnTo>
                  <a:lnTo>
                    <a:pt x="1206664" y="818683"/>
                  </a:lnTo>
                  <a:lnTo>
                    <a:pt x="1202357" y="830469"/>
                  </a:lnTo>
                  <a:lnTo>
                    <a:pt x="1198277" y="842255"/>
                  </a:lnTo>
                  <a:lnTo>
                    <a:pt x="1193516" y="853588"/>
                  </a:lnTo>
                  <a:lnTo>
                    <a:pt x="1188529" y="865374"/>
                  </a:lnTo>
                  <a:lnTo>
                    <a:pt x="1183769" y="876934"/>
                  </a:lnTo>
                  <a:lnTo>
                    <a:pt x="1178328" y="888267"/>
                  </a:lnTo>
                  <a:lnTo>
                    <a:pt x="1172661" y="899599"/>
                  </a:lnTo>
                  <a:lnTo>
                    <a:pt x="1166767" y="910706"/>
                  </a:lnTo>
                  <a:lnTo>
                    <a:pt x="1160646" y="921812"/>
                  </a:lnTo>
                  <a:lnTo>
                    <a:pt x="1534229" y="1295115"/>
                  </a:lnTo>
                  <a:lnTo>
                    <a:pt x="1540350" y="1301461"/>
                  </a:lnTo>
                  <a:lnTo>
                    <a:pt x="1545790" y="1308034"/>
                  </a:lnTo>
                  <a:lnTo>
                    <a:pt x="1551231" y="1314607"/>
                  </a:lnTo>
                  <a:lnTo>
                    <a:pt x="1556445" y="1321407"/>
                  </a:lnTo>
                  <a:lnTo>
                    <a:pt x="1560752" y="1328433"/>
                  </a:lnTo>
                  <a:lnTo>
                    <a:pt x="1565286" y="1335460"/>
                  </a:lnTo>
                  <a:lnTo>
                    <a:pt x="1569366" y="1342713"/>
                  </a:lnTo>
                  <a:lnTo>
                    <a:pt x="1572766" y="1349966"/>
                  </a:lnTo>
                  <a:lnTo>
                    <a:pt x="1576167" y="1357219"/>
                  </a:lnTo>
                  <a:lnTo>
                    <a:pt x="1578887" y="1364698"/>
                  </a:lnTo>
                  <a:lnTo>
                    <a:pt x="1581381" y="1372178"/>
                  </a:lnTo>
                  <a:lnTo>
                    <a:pt x="1583648" y="1379658"/>
                  </a:lnTo>
                  <a:lnTo>
                    <a:pt x="1585461" y="1387137"/>
                  </a:lnTo>
                  <a:lnTo>
                    <a:pt x="1586821" y="1394617"/>
                  </a:lnTo>
                  <a:lnTo>
                    <a:pt x="1587955" y="1402323"/>
                  </a:lnTo>
                  <a:lnTo>
                    <a:pt x="1588635" y="1409803"/>
                  </a:lnTo>
                  <a:lnTo>
                    <a:pt x="1589088" y="1417283"/>
                  </a:lnTo>
                  <a:lnTo>
                    <a:pt x="1589088" y="1424762"/>
                  </a:lnTo>
                  <a:lnTo>
                    <a:pt x="1588861" y="1432242"/>
                  </a:lnTo>
                  <a:lnTo>
                    <a:pt x="1588181" y="1439495"/>
                  </a:lnTo>
                  <a:lnTo>
                    <a:pt x="1587274" y="1446748"/>
                  </a:lnTo>
                  <a:lnTo>
                    <a:pt x="1585914" y="1454001"/>
                  </a:lnTo>
                  <a:lnTo>
                    <a:pt x="1584101" y="1461027"/>
                  </a:lnTo>
                  <a:lnTo>
                    <a:pt x="1581834" y="1467827"/>
                  </a:lnTo>
                  <a:lnTo>
                    <a:pt x="1579340" y="1474627"/>
                  </a:lnTo>
                  <a:lnTo>
                    <a:pt x="1576620" y="1481200"/>
                  </a:lnTo>
                  <a:lnTo>
                    <a:pt x="1573220" y="1487773"/>
                  </a:lnTo>
                  <a:lnTo>
                    <a:pt x="1569593" y="1494119"/>
                  </a:lnTo>
                  <a:lnTo>
                    <a:pt x="1565512" y="1500239"/>
                  </a:lnTo>
                  <a:lnTo>
                    <a:pt x="1561432" y="1506132"/>
                  </a:lnTo>
                  <a:lnTo>
                    <a:pt x="1556445" y="1511572"/>
                  </a:lnTo>
                  <a:lnTo>
                    <a:pt x="1551231" y="1517011"/>
                  </a:lnTo>
                  <a:lnTo>
                    <a:pt x="1517228" y="1551237"/>
                  </a:lnTo>
                  <a:lnTo>
                    <a:pt x="1511787" y="1556223"/>
                  </a:lnTo>
                  <a:lnTo>
                    <a:pt x="1506120" y="1561209"/>
                  </a:lnTo>
                  <a:lnTo>
                    <a:pt x="1500226" y="1565516"/>
                  </a:lnTo>
                  <a:lnTo>
                    <a:pt x="1494106" y="1569369"/>
                  </a:lnTo>
                  <a:lnTo>
                    <a:pt x="1487985" y="1573222"/>
                  </a:lnTo>
                  <a:lnTo>
                    <a:pt x="1481411" y="1576395"/>
                  </a:lnTo>
                  <a:lnTo>
                    <a:pt x="1474837" y="1579342"/>
                  </a:lnTo>
                  <a:lnTo>
                    <a:pt x="1468036" y="1581835"/>
                  </a:lnTo>
                  <a:lnTo>
                    <a:pt x="1461009" y="1583875"/>
                  </a:lnTo>
                  <a:lnTo>
                    <a:pt x="1453982" y="1585688"/>
                  </a:lnTo>
                  <a:lnTo>
                    <a:pt x="1446728" y="1587275"/>
                  </a:lnTo>
                  <a:lnTo>
                    <a:pt x="1439474" y="1588182"/>
                  </a:lnTo>
                  <a:lnTo>
                    <a:pt x="1432219" y="1588862"/>
                  </a:lnTo>
                  <a:lnTo>
                    <a:pt x="1424739" y="1589088"/>
                  </a:lnTo>
                  <a:lnTo>
                    <a:pt x="1417258" y="1589088"/>
                  </a:lnTo>
                  <a:lnTo>
                    <a:pt x="1409777" y="1588862"/>
                  </a:lnTo>
                  <a:lnTo>
                    <a:pt x="1402296" y="1587955"/>
                  </a:lnTo>
                  <a:lnTo>
                    <a:pt x="1394589" y="1587048"/>
                  </a:lnTo>
                  <a:lnTo>
                    <a:pt x="1387108" y="1585235"/>
                  </a:lnTo>
                  <a:lnTo>
                    <a:pt x="1379628" y="1583422"/>
                  </a:lnTo>
                  <a:lnTo>
                    <a:pt x="1372147" y="1581382"/>
                  </a:lnTo>
                  <a:lnTo>
                    <a:pt x="1364666" y="1578662"/>
                  </a:lnTo>
                  <a:lnTo>
                    <a:pt x="1357186" y="1575942"/>
                  </a:lnTo>
                  <a:lnTo>
                    <a:pt x="1349931" y="1572769"/>
                  </a:lnTo>
                  <a:lnTo>
                    <a:pt x="1342677" y="1569142"/>
                  </a:lnTo>
                  <a:lnTo>
                    <a:pt x="1335423" y="1565289"/>
                  </a:lnTo>
                  <a:lnTo>
                    <a:pt x="1328396" y="1560756"/>
                  </a:lnTo>
                  <a:lnTo>
                    <a:pt x="1321369" y="1556223"/>
                  </a:lnTo>
                  <a:lnTo>
                    <a:pt x="1314568" y="1551237"/>
                  </a:lnTo>
                  <a:lnTo>
                    <a:pt x="1307994" y="1545797"/>
                  </a:lnTo>
                  <a:lnTo>
                    <a:pt x="1301420" y="1540130"/>
                  </a:lnTo>
                  <a:lnTo>
                    <a:pt x="1295299" y="1534011"/>
                  </a:lnTo>
                  <a:lnTo>
                    <a:pt x="921716" y="1160708"/>
                  </a:lnTo>
                  <a:lnTo>
                    <a:pt x="910835" y="1166827"/>
                  </a:lnTo>
                  <a:lnTo>
                    <a:pt x="899501" y="1172720"/>
                  </a:lnTo>
                  <a:lnTo>
                    <a:pt x="888166" y="1178160"/>
                  </a:lnTo>
                  <a:lnTo>
                    <a:pt x="876832" y="1183600"/>
                  </a:lnTo>
                  <a:lnTo>
                    <a:pt x="865498" y="1188586"/>
                  </a:lnTo>
                  <a:lnTo>
                    <a:pt x="853710" y="1193346"/>
                  </a:lnTo>
                  <a:lnTo>
                    <a:pt x="842375" y="1198106"/>
                  </a:lnTo>
                  <a:lnTo>
                    <a:pt x="830588" y="1202412"/>
                  </a:lnTo>
                  <a:lnTo>
                    <a:pt x="818573" y="1206492"/>
                  </a:lnTo>
                  <a:lnTo>
                    <a:pt x="807012" y="1210572"/>
                  </a:lnTo>
                  <a:lnTo>
                    <a:pt x="794997" y="1213972"/>
                  </a:lnTo>
                  <a:lnTo>
                    <a:pt x="783210" y="1217598"/>
                  </a:lnTo>
                  <a:lnTo>
                    <a:pt x="771195" y="1220545"/>
                  </a:lnTo>
                  <a:lnTo>
                    <a:pt x="758954" y="1223265"/>
                  </a:lnTo>
                  <a:lnTo>
                    <a:pt x="746939" y="1226211"/>
                  </a:lnTo>
                  <a:lnTo>
                    <a:pt x="734698" y="1228478"/>
                  </a:lnTo>
                  <a:lnTo>
                    <a:pt x="722457" y="1230518"/>
                  </a:lnTo>
                  <a:lnTo>
                    <a:pt x="710442" y="1232784"/>
                  </a:lnTo>
                  <a:lnTo>
                    <a:pt x="698201" y="1234371"/>
                  </a:lnTo>
                  <a:lnTo>
                    <a:pt x="685960" y="1235731"/>
                  </a:lnTo>
                  <a:lnTo>
                    <a:pt x="673719" y="1236864"/>
                  </a:lnTo>
                  <a:lnTo>
                    <a:pt x="661478" y="1237771"/>
                  </a:lnTo>
                  <a:lnTo>
                    <a:pt x="649010" y="1238451"/>
                  </a:lnTo>
                  <a:lnTo>
                    <a:pt x="636769" y="1239131"/>
                  </a:lnTo>
                  <a:lnTo>
                    <a:pt x="624527" y="1239357"/>
                  </a:lnTo>
                  <a:lnTo>
                    <a:pt x="612060" y="1239357"/>
                  </a:lnTo>
                  <a:lnTo>
                    <a:pt x="599818" y="1239131"/>
                  </a:lnTo>
                  <a:lnTo>
                    <a:pt x="587577" y="1238451"/>
                  </a:lnTo>
                  <a:lnTo>
                    <a:pt x="575109" y="1237544"/>
                  </a:lnTo>
                  <a:lnTo>
                    <a:pt x="562868" y="1236638"/>
                  </a:lnTo>
                  <a:lnTo>
                    <a:pt x="550627" y="1235504"/>
                  </a:lnTo>
                  <a:lnTo>
                    <a:pt x="538612" y="1233918"/>
                  </a:lnTo>
                  <a:lnTo>
                    <a:pt x="526145" y="1232331"/>
                  </a:lnTo>
                  <a:lnTo>
                    <a:pt x="513903" y="1230291"/>
                  </a:lnTo>
                  <a:lnTo>
                    <a:pt x="501889" y="1228025"/>
                  </a:lnTo>
                  <a:lnTo>
                    <a:pt x="489648" y="1225758"/>
                  </a:lnTo>
                  <a:lnTo>
                    <a:pt x="477633" y="1222811"/>
                  </a:lnTo>
                  <a:lnTo>
                    <a:pt x="465619" y="1219865"/>
                  </a:lnTo>
                  <a:lnTo>
                    <a:pt x="453604" y="1216918"/>
                  </a:lnTo>
                  <a:lnTo>
                    <a:pt x="441590" y="1213292"/>
                  </a:lnTo>
                  <a:lnTo>
                    <a:pt x="429802" y="1209665"/>
                  </a:lnTo>
                  <a:lnTo>
                    <a:pt x="418014" y="1205812"/>
                  </a:lnTo>
                  <a:lnTo>
                    <a:pt x="406453" y="1201706"/>
                  </a:lnTo>
                  <a:lnTo>
                    <a:pt x="394665" y="1197199"/>
                  </a:lnTo>
                  <a:lnTo>
                    <a:pt x="383104" y="1192440"/>
                  </a:lnTo>
                  <a:lnTo>
                    <a:pt x="371543" y="1187680"/>
                  </a:lnTo>
                  <a:lnTo>
                    <a:pt x="359982" y="1182467"/>
                  </a:lnTo>
                  <a:lnTo>
                    <a:pt x="348647" y="1177027"/>
                  </a:lnTo>
                  <a:lnTo>
                    <a:pt x="337313" y="1171360"/>
                  </a:lnTo>
                  <a:lnTo>
                    <a:pt x="326205" y="1165694"/>
                  </a:lnTo>
                  <a:lnTo>
                    <a:pt x="315097" y="1159574"/>
                  </a:lnTo>
                  <a:lnTo>
                    <a:pt x="304216" y="1153228"/>
                  </a:lnTo>
                  <a:lnTo>
                    <a:pt x="293109" y="1146655"/>
                  </a:lnTo>
                  <a:lnTo>
                    <a:pt x="282454" y="1139629"/>
                  </a:lnTo>
                  <a:lnTo>
                    <a:pt x="272026" y="1132602"/>
                  </a:lnTo>
                  <a:lnTo>
                    <a:pt x="261145" y="1125349"/>
                  </a:lnTo>
                  <a:lnTo>
                    <a:pt x="250944" y="1117643"/>
                  </a:lnTo>
                  <a:lnTo>
                    <a:pt x="240517" y="1109937"/>
                  </a:lnTo>
                  <a:lnTo>
                    <a:pt x="230316" y="1101777"/>
                  </a:lnTo>
                  <a:lnTo>
                    <a:pt x="220341" y="1093617"/>
                  </a:lnTo>
                  <a:lnTo>
                    <a:pt x="210367" y="1085004"/>
                  </a:lnTo>
                  <a:lnTo>
                    <a:pt x="200620" y="1076391"/>
                  </a:lnTo>
                  <a:lnTo>
                    <a:pt x="191099" y="1067099"/>
                  </a:lnTo>
                  <a:lnTo>
                    <a:pt x="181578" y="1057806"/>
                  </a:lnTo>
                  <a:lnTo>
                    <a:pt x="170470" y="1046473"/>
                  </a:lnTo>
                  <a:lnTo>
                    <a:pt x="159589" y="1034913"/>
                  </a:lnTo>
                  <a:lnTo>
                    <a:pt x="149161" y="1022901"/>
                  </a:lnTo>
                  <a:lnTo>
                    <a:pt x="139187" y="1010888"/>
                  </a:lnTo>
                  <a:lnTo>
                    <a:pt x="129213" y="998648"/>
                  </a:lnTo>
                  <a:lnTo>
                    <a:pt x="119918" y="985956"/>
                  </a:lnTo>
                  <a:lnTo>
                    <a:pt x="110851" y="973489"/>
                  </a:lnTo>
                  <a:lnTo>
                    <a:pt x="102237" y="960797"/>
                  </a:lnTo>
                  <a:lnTo>
                    <a:pt x="93849" y="947651"/>
                  </a:lnTo>
                  <a:lnTo>
                    <a:pt x="85688" y="934505"/>
                  </a:lnTo>
                  <a:lnTo>
                    <a:pt x="78208" y="921358"/>
                  </a:lnTo>
                  <a:lnTo>
                    <a:pt x="70954" y="907986"/>
                  </a:lnTo>
                  <a:lnTo>
                    <a:pt x="64153" y="894386"/>
                  </a:lnTo>
                  <a:lnTo>
                    <a:pt x="57579" y="880560"/>
                  </a:lnTo>
                  <a:lnTo>
                    <a:pt x="51232" y="866734"/>
                  </a:lnTo>
                  <a:lnTo>
                    <a:pt x="45338" y="852908"/>
                  </a:lnTo>
                  <a:lnTo>
                    <a:pt x="39897" y="838856"/>
                  </a:lnTo>
                  <a:lnTo>
                    <a:pt x="34910" y="824803"/>
                  </a:lnTo>
                  <a:lnTo>
                    <a:pt x="30150" y="810524"/>
                  </a:lnTo>
                  <a:lnTo>
                    <a:pt x="25616" y="796244"/>
                  </a:lnTo>
                  <a:lnTo>
                    <a:pt x="21535" y="781738"/>
                  </a:lnTo>
                  <a:lnTo>
                    <a:pt x="17682" y="767232"/>
                  </a:lnTo>
                  <a:lnTo>
                    <a:pt x="14508" y="752726"/>
                  </a:lnTo>
                  <a:lnTo>
                    <a:pt x="11334" y="738220"/>
                  </a:lnTo>
                  <a:lnTo>
                    <a:pt x="8841" y="723487"/>
                  </a:lnTo>
                  <a:lnTo>
                    <a:pt x="6574" y="708755"/>
                  </a:lnTo>
                  <a:lnTo>
                    <a:pt x="4307" y="694022"/>
                  </a:lnTo>
                  <a:lnTo>
                    <a:pt x="2947" y="679289"/>
                  </a:lnTo>
                  <a:lnTo>
                    <a:pt x="1587" y="664330"/>
                  </a:lnTo>
                  <a:lnTo>
                    <a:pt x="680" y="649597"/>
                  </a:lnTo>
                  <a:lnTo>
                    <a:pt x="227" y="634638"/>
                  </a:lnTo>
                  <a:lnTo>
                    <a:pt x="0" y="619905"/>
                  </a:lnTo>
                  <a:lnTo>
                    <a:pt x="227" y="604946"/>
                  </a:lnTo>
                  <a:lnTo>
                    <a:pt x="680" y="589987"/>
                  </a:lnTo>
                  <a:lnTo>
                    <a:pt x="1587" y="575254"/>
                  </a:lnTo>
                  <a:lnTo>
                    <a:pt x="2947" y="560295"/>
                  </a:lnTo>
                  <a:lnTo>
                    <a:pt x="4307" y="545562"/>
                  </a:lnTo>
                  <a:lnTo>
                    <a:pt x="6574" y="530830"/>
                  </a:lnTo>
                  <a:lnTo>
                    <a:pt x="8841" y="516097"/>
                  </a:lnTo>
                  <a:lnTo>
                    <a:pt x="11334" y="501364"/>
                  </a:lnTo>
                  <a:lnTo>
                    <a:pt x="14508" y="486858"/>
                  </a:lnTo>
                  <a:lnTo>
                    <a:pt x="17682" y="472352"/>
                  </a:lnTo>
                  <a:lnTo>
                    <a:pt x="21535" y="457846"/>
                  </a:lnTo>
                  <a:lnTo>
                    <a:pt x="25616" y="443340"/>
                  </a:lnTo>
                  <a:lnTo>
                    <a:pt x="30150" y="429061"/>
                  </a:lnTo>
                  <a:lnTo>
                    <a:pt x="34910" y="414781"/>
                  </a:lnTo>
                  <a:lnTo>
                    <a:pt x="39897" y="400502"/>
                  </a:lnTo>
                  <a:lnTo>
                    <a:pt x="45338" y="386449"/>
                  </a:lnTo>
                  <a:lnTo>
                    <a:pt x="51232" y="372850"/>
                  </a:lnTo>
                  <a:lnTo>
                    <a:pt x="57579" y="359024"/>
                  </a:lnTo>
                  <a:lnTo>
                    <a:pt x="64153" y="345198"/>
                  </a:lnTo>
                  <a:lnTo>
                    <a:pt x="70954" y="331599"/>
                  </a:lnTo>
                  <a:lnTo>
                    <a:pt x="78208" y="318226"/>
                  </a:lnTo>
                  <a:lnTo>
                    <a:pt x="85688" y="304853"/>
                  </a:lnTo>
                  <a:lnTo>
                    <a:pt x="93849" y="291934"/>
                  </a:lnTo>
                  <a:lnTo>
                    <a:pt x="102237" y="278788"/>
                  </a:lnTo>
                  <a:lnTo>
                    <a:pt x="110851" y="266095"/>
                  </a:lnTo>
                  <a:lnTo>
                    <a:pt x="119918" y="253402"/>
                  </a:lnTo>
                  <a:lnTo>
                    <a:pt x="129213" y="240936"/>
                  </a:lnTo>
                  <a:lnTo>
                    <a:pt x="139187" y="228697"/>
                  </a:lnTo>
                  <a:lnTo>
                    <a:pt x="149161" y="216457"/>
                  </a:lnTo>
                  <a:lnTo>
                    <a:pt x="159589" y="204671"/>
                  </a:lnTo>
                  <a:lnTo>
                    <a:pt x="170470" y="193111"/>
                  </a:lnTo>
                  <a:lnTo>
                    <a:pt x="181578" y="181779"/>
                  </a:lnTo>
                  <a:lnTo>
                    <a:pt x="193139" y="170446"/>
                  </a:lnTo>
                  <a:lnTo>
                    <a:pt x="204473" y="159793"/>
                  </a:lnTo>
                  <a:lnTo>
                    <a:pt x="216488" y="149140"/>
                  </a:lnTo>
                  <a:lnTo>
                    <a:pt x="228729" y="139167"/>
                  </a:lnTo>
                  <a:lnTo>
                    <a:pt x="240743" y="129421"/>
                  </a:lnTo>
                  <a:lnTo>
                    <a:pt x="253438" y="119901"/>
                  </a:lnTo>
                  <a:lnTo>
                    <a:pt x="266133" y="110835"/>
                  </a:lnTo>
                  <a:lnTo>
                    <a:pt x="278600" y="102222"/>
                  </a:lnTo>
                  <a:lnTo>
                    <a:pt x="291748" y="93836"/>
                  </a:lnTo>
                  <a:lnTo>
                    <a:pt x="304896" y="85903"/>
                  </a:lnTo>
                  <a:lnTo>
                    <a:pt x="318271" y="78423"/>
                  </a:lnTo>
                  <a:lnTo>
                    <a:pt x="331646" y="71170"/>
                  </a:lnTo>
                  <a:lnTo>
                    <a:pt x="345020" y="64144"/>
                  </a:lnTo>
                  <a:lnTo>
                    <a:pt x="358848" y="57571"/>
                  </a:lnTo>
                  <a:lnTo>
                    <a:pt x="372676" y="51451"/>
                  </a:lnTo>
                  <a:lnTo>
                    <a:pt x="386504" y="45558"/>
                  </a:lnTo>
                  <a:lnTo>
                    <a:pt x="400559" y="40118"/>
                  </a:lnTo>
                  <a:lnTo>
                    <a:pt x="414840" y="34905"/>
                  </a:lnTo>
                  <a:lnTo>
                    <a:pt x="429122" y="30146"/>
                  </a:lnTo>
                  <a:lnTo>
                    <a:pt x="443403" y="25839"/>
                  </a:lnTo>
                  <a:lnTo>
                    <a:pt x="457911" y="21533"/>
                  </a:lnTo>
                  <a:lnTo>
                    <a:pt x="472419" y="17906"/>
                  </a:lnTo>
                  <a:lnTo>
                    <a:pt x="486927" y="14506"/>
                  </a:lnTo>
                  <a:lnTo>
                    <a:pt x="501435" y="11560"/>
                  </a:lnTo>
                  <a:lnTo>
                    <a:pt x="515944" y="8840"/>
                  </a:lnTo>
                  <a:lnTo>
                    <a:pt x="530678" y="6573"/>
                  </a:lnTo>
                  <a:lnTo>
                    <a:pt x="545413" y="4533"/>
                  </a:lnTo>
                  <a:lnTo>
                    <a:pt x="560148" y="3173"/>
                  </a:lnTo>
                  <a:lnTo>
                    <a:pt x="575109" y="1587"/>
                  </a:lnTo>
                  <a:lnTo>
                    <a:pt x="589844" y="907"/>
                  </a:lnTo>
                  <a:lnTo>
                    <a:pt x="604806" y="227"/>
                  </a:lnTo>
                  <a:lnTo>
                    <a:pt x="61954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dir="t" rig="threePt"/>
              </a:scene3d>
              <a:sp3d>
                <a:contourClr>
                  <a:srgbClr val="FFFFFF"/>
                </a:contourClr>
              </a:sp3d>
            </a:bodyPr>
            <a:p>
              <a:pPr algn="ctr"/>
              <a:endParaRPr altLang="en-US" b="1" lang="zh-CN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48948" name="文本框 86"/>
            <p:cNvSpPr txBox="1"/>
            <p:nvPr/>
          </p:nvSpPr>
          <p:spPr>
            <a:xfrm>
              <a:off x="3494041" y="4712872"/>
              <a:ext cx="1193800" cy="553303"/>
            </a:xfrm>
            <a:prstGeom prst="rect"/>
            <a:noFill/>
          </p:spPr>
          <p:txBody>
            <a:bodyPr rtlCol="0" wrap="square">
              <a:spAutoFit/>
            </a:bodyPr>
            <a:p>
              <a:pPr algn="ctr"/>
              <a:r>
                <a:rPr altLang="zh-CN" dirty="0" lang="en-US" err="1">
                  <a:solidFill>
                    <a:schemeClr val="bg1"/>
                  </a:solidFill>
                  <a:cs typeface="+mn-ea"/>
                </a:rPr>
                <a:t>Tilemap</a:t>
              </a:r>
              <a:r>
                <a:rPr altLang="en-US" dirty="0" lang="zh-CN">
                  <a:solidFill>
                    <a:schemeClr val="bg1"/>
                  </a:solidFill>
                  <a:cs typeface="+mn-ea"/>
                </a:rPr>
                <a:t>系统</a:t>
              </a:r>
              <a:endParaRPr altLang="en-US" dirty="0" lang="zh-CN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145739" name="直接连接符 23"/>
          <p:cNvCxnSpPr>
            <a:cxnSpLocks/>
          </p:cNvCxnSpPr>
          <p:nvPr/>
        </p:nvCxnSpPr>
        <p:spPr>
          <a:xfrm>
            <a:off x="6287559" y="4930915"/>
            <a:ext cx="972791" cy="0"/>
          </a:xfrm>
          <a:prstGeom prst="line"/>
          <a:ln>
            <a:solidFill>
              <a:srgbClr val="1B3378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9" name="文本框 91"/>
          <p:cNvSpPr txBox="1"/>
          <p:nvPr/>
        </p:nvSpPr>
        <p:spPr>
          <a:xfrm>
            <a:off x="7288890" y="4637302"/>
            <a:ext cx="4817766" cy="846001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20000"/>
              </a:lnSpc>
            </a:pPr>
            <a:r>
              <a:rPr altLang="en-US" dirty="0" sz="1400" lang="zh-CN"/>
              <a:t>通过像素瓦片拼接生成大型关卡，支持碰撞、自定义层级、隐藏区域和动态加载。用于绘制主关卡、设置可破坏墙体、隐藏房间入口、替换地图素材扩展内容。</a:t>
            </a:r>
            <a:endParaRPr altLang="en-US" dirty="0" sz="14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grpSp>
        <p:nvGrpSpPr>
          <p:cNvPr id="146" name="组合 25"/>
          <p:cNvGrpSpPr/>
          <p:nvPr/>
        </p:nvGrpSpPr>
        <p:grpSpPr>
          <a:xfrm>
            <a:off x="3598607" y="3104526"/>
            <a:ext cx="1436856" cy="1972078"/>
            <a:chOff x="3937449" y="3388370"/>
            <a:chExt cx="1230525" cy="1688231"/>
          </a:xfrm>
        </p:grpSpPr>
        <p:grpSp>
          <p:nvGrpSpPr>
            <p:cNvPr id="147" name="组合 26"/>
            <p:cNvGrpSpPr/>
            <p:nvPr/>
          </p:nvGrpSpPr>
          <p:grpSpPr>
            <a:xfrm>
              <a:off x="3937449" y="3388370"/>
              <a:ext cx="1230525" cy="1688231"/>
              <a:chOff x="3494041" y="3716886"/>
              <a:chExt cx="1230525" cy="1688231"/>
            </a:xfrm>
            <a:solidFill>
              <a:srgbClr val="FC4B41"/>
            </a:solidFill>
          </p:grpSpPr>
          <p:sp>
            <p:nvSpPr>
              <p:cNvPr id="1048950" name="任意多边形 39"/>
              <p:cNvSpPr/>
              <p:nvPr/>
            </p:nvSpPr>
            <p:spPr>
              <a:xfrm flipH="1">
                <a:off x="3528835" y="3716886"/>
                <a:ext cx="1195731" cy="1688231"/>
              </a:xfrm>
              <a:custGeom>
                <a:avLst/>
                <a:gdLst>
                  <a:gd name="connsiteX0" fmla="*/ 602108 w 1364578"/>
                  <a:gd name="connsiteY0" fmla="*/ 0 h 1926623"/>
                  <a:gd name="connsiteX1" fmla="*/ 1364578 w 1364578"/>
                  <a:gd name="connsiteY1" fmla="*/ 0 h 1926623"/>
                  <a:gd name="connsiteX2" fmla="*/ 1364578 w 1364578"/>
                  <a:gd name="connsiteY2" fmla="*/ 1926623 h 1926623"/>
                  <a:gd name="connsiteX3" fmla="*/ 0 w 1364578"/>
                  <a:gd name="connsiteY3" fmla="*/ 1926623 h 1926623"/>
                  <a:gd name="connsiteX4" fmla="*/ 0 w 1364578"/>
                  <a:gd name="connsiteY4" fmla="*/ 602108 h 1926623"/>
                  <a:gd name="connsiteX5" fmla="*/ 602108 w 1364578"/>
                  <a:gd name="connsiteY5" fmla="*/ 0 h 192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4578" h="1926623">
                    <a:moveTo>
                      <a:pt x="602108" y="0"/>
                    </a:moveTo>
                    <a:lnTo>
                      <a:pt x="1364578" y="0"/>
                    </a:lnTo>
                    <a:lnTo>
                      <a:pt x="1364578" y="1926623"/>
                    </a:lnTo>
                    <a:lnTo>
                      <a:pt x="0" y="1926623"/>
                    </a:lnTo>
                    <a:lnTo>
                      <a:pt x="0" y="602108"/>
                    </a:lnTo>
                    <a:cubicBezTo>
                      <a:pt x="0" y="269573"/>
                      <a:pt x="269573" y="0"/>
                      <a:pt x="602108" y="0"/>
                    </a:cubicBezTo>
                    <a:close/>
                  </a:path>
                </a:pathLst>
              </a:custGeom>
              <a:solidFill>
                <a:srgbClr val="344F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altLang="en-US" b="1" lang="zh-CN">
                  <a:cs typeface="+mn-ea"/>
                  <a:sym typeface="+mn-lt"/>
                </a:endParaRPr>
              </a:p>
            </p:txBody>
          </p:sp>
          <p:sp>
            <p:nvSpPr>
              <p:cNvPr id="1048951" name="文本框 86"/>
              <p:cNvSpPr txBox="1"/>
              <p:nvPr/>
            </p:nvSpPr>
            <p:spPr>
              <a:xfrm>
                <a:off x="3494041" y="4712872"/>
                <a:ext cx="1193800" cy="316173"/>
              </a:xfrm>
              <a:prstGeom prst="rect"/>
              <a:noFill/>
            </p:spPr>
            <p:txBody>
              <a:bodyPr rtlCol="0" wrap="square">
                <a:spAutoFit/>
              </a:bodyPr>
              <a:p>
                <a:pPr algn="ctr"/>
                <a:r>
                  <a:rPr altLang="en-US" dirty="0" lang="zh-CN">
                    <a:solidFill>
                      <a:schemeClr val="bg1"/>
                    </a:solidFill>
                    <a:cs typeface="+mn-ea"/>
                    <a:sym typeface="+mn-lt"/>
                  </a:rPr>
                  <a:t>状态机系统</a:t>
                </a:r>
              </a:p>
            </p:txBody>
          </p:sp>
        </p:grpSp>
        <p:sp>
          <p:nvSpPr>
            <p:cNvPr id="1048952" name="Freeform 126"/>
            <p:cNvSpPr>
              <a:spLocks noChangeAspect="1" noEditPoints="1"/>
            </p:cNvSpPr>
            <p:nvPr/>
          </p:nvSpPr>
          <p:spPr bwMode="auto">
            <a:xfrm>
              <a:off x="4385843" y="3856787"/>
              <a:ext cx="297012" cy="371653"/>
            </a:xfrm>
            <a:custGeom>
              <a:avLst/>
              <a:gdLst>
                <a:gd name="T0" fmla="*/ 48 w 81"/>
                <a:gd name="T1" fmla="*/ 27 h 101"/>
                <a:gd name="T2" fmla="*/ 4 w 81"/>
                <a:gd name="T3" fmla="*/ 48 h 101"/>
                <a:gd name="T4" fmla="*/ 0 w 81"/>
                <a:gd name="T5" fmla="*/ 31 h 101"/>
                <a:gd name="T6" fmla="*/ 58 w 81"/>
                <a:gd name="T7" fmla="*/ 90 h 101"/>
                <a:gd name="T8" fmla="*/ 81 w 81"/>
                <a:gd name="T9" fmla="*/ 98 h 101"/>
                <a:gd name="T10" fmla="*/ 58 w 81"/>
                <a:gd name="T11" fmla="*/ 90 h 101"/>
                <a:gd name="T12" fmla="*/ 53 w 81"/>
                <a:gd name="T13" fmla="*/ 101 h 101"/>
                <a:gd name="T14" fmla="*/ 29 w 81"/>
                <a:gd name="T15" fmla="*/ 98 h 101"/>
                <a:gd name="T16" fmla="*/ 0 w 81"/>
                <a:gd name="T17" fmla="*/ 90 h 101"/>
                <a:gd name="T18" fmla="*/ 29 w 81"/>
                <a:gd name="T19" fmla="*/ 87 h 101"/>
                <a:gd name="T20" fmla="*/ 38 w 81"/>
                <a:gd name="T21" fmla="*/ 76 h 101"/>
                <a:gd name="T22" fmla="*/ 0 w 81"/>
                <a:gd name="T23" fmla="*/ 72 h 101"/>
                <a:gd name="T24" fmla="*/ 4 w 81"/>
                <a:gd name="T25" fmla="*/ 54 h 101"/>
                <a:gd name="T26" fmla="*/ 48 w 81"/>
                <a:gd name="T27" fmla="*/ 76 h 101"/>
                <a:gd name="T28" fmla="*/ 44 w 81"/>
                <a:gd name="T29" fmla="*/ 87 h 101"/>
                <a:gd name="T30" fmla="*/ 53 w 81"/>
                <a:gd name="T31" fmla="*/ 90 h 101"/>
                <a:gd name="T32" fmla="*/ 4 w 81"/>
                <a:gd name="T33" fmla="*/ 0 h 101"/>
                <a:gd name="T34" fmla="*/ 48 w 81"/>
                <a:gd name="T35" fmla="*/ 21 h 101"/>
                <a:gd name="T36" fmla="*/ 0 w 81"/>
                <a:gd name="T37" fmla="*/ 17 h 101"/>
                <a:gd name="T38" fmla="*/ 4 w 81"/>
                <a:gd name="T39" fmla="*/ 0 h 101"/>
                <a:gd name="T40" fmla="*/ 53 w 81"/>
                <a:gd name="T41" fmla="*/ 76 h 101"/>
                <a:gd name="T42" fmla="*/ 81 w 81"/>
                <a:gd name="T43" fmla="*/ 72 h 101"/>
                <a:gd name="T44" fmla="*/ 77 w 81"/>
                <a:gd name="T45" fmla="*/ 54 h 101"/>
                <a:gd name="T46" fmla="*/ 59 w 81"/>
                <a:gd name="T47" fmla="*/ 8 h 101"/>
                <a:gd name="T48" fmla="*/ 69 w 81"/>
                <a:gd name="T49" fmla="*/ 13 h 101"/>
                <a:gd name="T50" fmla="*/ 59 w 81"/>
                <a:gd name="T51" fmla="*/ 8 h 101"/>
                <a:gd name="T52" fmla="*/ 69 w 81"/>
                <a:gd name="T53" fmla="*/ 63 h 101"/>
                <a:gd name="T54" fmla="*/ 59 w 81"/>
                <a:gd name="T55" fmla="*/ 67 h 101"/>
                <a:gd name="T56" fmla="*/ 59 w 81"/>
                <a:gd name="T57" fmla="*/ 35 h 101"/>
                <a:gd name="T58" fmla="*/ 69 w 81"/>
                <a:gd name="T59" fmla="*/ 40 h 101"/>
                <a:gd name="T60" fmla="*/ 59 w 81"/>
                <a:gd name="T61" fmla="*/ 35 h 101"/>
                <a:gd name="T62" fmla="*/ 53 w 81"/>
                <a:gd name="T63" fmla="*/ 21 h 101"/>
                <a:gd name="T64" fmla="*/ 81 w 81"/>
                <a:gd name="T65" fmla="*/ 17 h 101"/>
                <a:gd name="T66" fmla="*/ 77 w 81"/>
                <a:gd name="T67" fmla="*/ 0 h 101"/>
                <a:gd name="T68" fmla="*/ 53 w 81"/>
                <a:gd name="T69" fmla="*/ 27 h 101"/>
                <a:gd name="T70" fmla="*/ 77 w 81"/>
                <a:gd name="T71" fmla="*/ 48 h 101"/>
                <a:gd name="T72" fmla="*/ 81 w 81"/>
                <a:gd name="T73" fmla="*/ 31 h 101"/>
                <a:gd name="T74" fmla="*/ 53 w 81"/>
                <a:gd name="T75" fmla="*/ 2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101">
                  <a:moveTo>
                    <a:pt x="4" y="27"/>
                  </a:moveTo>
                  <a:cubicBezTo>
                    <a:pt x="48" y="27"/>
                    <a:pt x="48" y="27"/>
                    <a:pt x="48" y="2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9"/>
                    <a:pt x="2" y="27"/>
                    <a:pt x="4" y="27"/>
                  </a:cubicBezTo>
                  <a:close/>
                  <a:moveTo>
                    <a:pt x="58" y="90"/>
                  </a:moveTo>
                  <a:cubicBezTo>
                    <a:pt x="81" y="90"/>
                    <a:pt x="81" y="90"/>
                    <a:pt x="81" y="90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8" y="90"/>
                    <a:pt x="58" y="90"/>
                    <a:pt x="58" y="90"/>
                  </a:cubicBezTo>
                  <a:close/>
                  <a:moveTo>
                    <a:pt x="53" y="98"/>
                  </a:moveTo>
                  <a:cubicBezTo>
                    <a:pt x="53" y="101"/>
                    <a:pt x="53" y="101"/>
                    <a:pt x="53" y="101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9" y="87"/>
                    <a:pt x="29" y="87"/>
                    <a:pt x="29" y="87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2" y="76"/>
                    <a:pt x="0" y="74"/>
                    <a:pt x="0" y="7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6"/>
                    <a:pt x="2" y="54"/>
                    <a:pt x="4" y="54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87"/>
                    <a:pt x="44" y="87"/>
                    <a:pt x="44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3" y="98"/>
                    <a:pt x="53" y="98"/>
                    <a:pt x="53" y="98"/>
                  </a:cubicBezTo>
                  <a:close/>
                  <a:moveTo>
                    <a:pt x="4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" y="21"/>
                    <a:pt x="0" y="19"/>
                    <a:pt x="0" y="1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  <a:moveTo>
                    <a:pt x="53" y="54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77" y="76"/>
                    <a:pt x="77" y="76"/>
                    <a:pt x="77" y="76"/>
                  </a:cubicBezTo>
                  <a:cubicBezTo>
                    <a:pt x="79" y="76"/>
                    <a:pt x="81" y="74"/>
                    <a:pt x="81" y="72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56"/>
                    <a:pt x="79" y="54"/>
                    <a:pt x="77" y="54"/>
                  </a:cubicBezTo>
                  <a:cubicBezTo>
                    <a:pt x="53" y="54"/>
                    <a:pt x="53" y="54"/>
                    <a:pt x="53" y="54"/>
                  </a:cubicBezTo>
                  <a:close/>
                  <a:moveTo>
                    <a:pt x="59" y="8"/>
                  </a:moveTo>
                  <a:cubicBezTo>
                    <a:pt x="69" y="8"/>
                    <a:pt x="69" y="8"/>
                    <a:pt x="69" y="8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8"/>
                    <a:pt x="59" y="8"/>
                    <a:pt x="59" y="8"/>
                  </a:cubicBezTo>
                  <a:close/>
                  <a:moveTo>
                    <a:pt x="59" y="63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3"/>
                    <a:pt x="59" y="63"/>
                    <a:pt x="59" y="63"/>
                  </a:cubicBezTo>
                  <a:close/>
                  <a:moveTo>
                    <a:pt x="59" y="35"/>
                  </a:moveTo>
                  <a:cubicBezTo>
                    <a:pt x="69" y="35"/>
                    <a:pt x="69" y="35"/>
                    <a:pt x="69" y="35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53" y="0"/>
                  </a:moveTo>
                  <a:cubicBezTo>
                    <a:pt x="53" y="21"/>
                    <a:pt x="53" y="21"/>
                    <a:pt x="53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9" y="21"/>
                    <a:pt x="81" y="19"/>
                    <a:pt x="81" y="17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81" y="2"/>
                    <a:pt x="79" y="0"/>
                    <a:pt x="77" y="0"/>
                  </a:cubicBezTo>
                  <a:cubicBezTo>
                    <a:pt x="53" y="0"/>
                    <a:pt x="53" y="0"/>
                    <a:pt x="53" y="0"/>
                  </a:cubicBezTo>
                  <a:close/>
                  <a:moveTo>
                    <a:pt x="53" y="27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9" y="48"/>
                    <a:pt x="81" y="46"/>
                    <a:pt x="81" y="44"/>
                  </a:cubicBezTo>
                  <a:cubicBezTo>
                    <a:pt x="81" y="31"/>
                    <a:pt x="81" y="31"/>
                    <a:pt x="81" y="31"/>
                  </a:cubicBezTo>
                  <a:cubicBezTo>
                    <a:pt x="81" y="29"/>
                    <a:pt x="79" y="27"/>
                    <a:pt x="77" y="27"/>
                  </a:cubicBezTo>
                  <a:lnTo>
                    <a:pt x="53" y="2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endParaRPr altLang="en-US" sz="1600" lang="zh-CN">
                <a:solidFill>
                  <a:srgbClr val="0EDEBA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48953" name="TextBox 42"/>
          <p:cNvSpPr txBox="1"/>
          <p:nvPr/>
        </p:nvSpPr>
        <p:spPr>
          <a:xfrm>
            <a:off x="1311470" y="315858"/>
            <a:ext cx="3649369" cy="430887"/>
          </a:xfrm>
          <a:prstGeom prst="rect"/>
          <a:noFill/>
          <a:ln>
            <a:noFill/>
          </a:ln>
        </p:spPr>
        <p:txBody>
          <a:bodyPr anchor="t" anchorCtr="0" bIns="0" compatLnSpc="1" lIns="0" numCol="1" rIns="0" tIns="0" vert="horz" wrap="square">
            <a:spAutoFit/>
          </a:bodyPr>
          <a:lstStyle>
            <a:defPPr>
              <a:defRPr lang="zh-CN"/>
            </a:defPPr>
            <a:lvl1pPr defTabSz="914400" eaLnBrk="1" hangingPunct="1" indent="0" latinLnBrk="0" lvl="0" marL="0" marR="0">
              <a:lnSpc>
                <a:spcPct val="100000"/>
              </a:lnSpc>
              <a:buClrTx/>
              <a:buSzTx/>
              <a:buFontTx/>
              <a:buNone/>
              <a:defRPr baseline="0" b="1" cap="none" sz="2800" i="0" kumimoji="0" normalizeH="0" strike="noStrike" u="none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4.1 </a:t>
            </a:r>
            <a:r>
              <a:rPr altLang="en-US" b="0" dirty="0" lang="zh-CN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技术路线</a:t>
            </a:r>
          </a:p>
        </p:txBody>
      </p:sp>
      <p:pic>
        <p:nvPicPr>
          <p:cNvPr id="2097199" name="图片 3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">
                            <p:stCondLst>
                              <p:cond delay="500"/>
                            </p:stCondLst>
                            <p:childTnLst>
                              <p:par>
                                <p:cTn fill="hold" id="12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750" id="14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750" fill="hold" id="15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50" fill="hold" id="16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7">
                            <p:stCondLst>
                              <p:cond delay="1250"/>
                            </p:stCondLst>
                            <p:childTnLst>
                              <p:par>
                                <p:cTn fill="hold" id="18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0"/>
                                        <p:tgtEl>
                                          <p:spTgt spid="314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1">
                            <p:stCondLst>
                              <p:cond delay="1750"/>
                            </p:stCondLst>
                            <p:childTnLst>
                              <p:par>
                                <p:cTn fill="hold" grpId="0" id="22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4"/>
                                        <p:tgtEl>
                                          <p:spTgt spid="104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5">
                            <p:stCondLst>
                              <p:cond delay="2250"/>
                            </p:stCondLst>
                            <p:childTnLst>
                              <p:par>
                                <p:cTn fill="hold" grpId="0" id="26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8"/>
                                        <p:tgtEl>
                                          <p:spTgt spid="104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9">
                            <p:stCondLst>
                              <p:cond delay="2750"/>
                            </p:stCondLst>
                            <p:childTnLst>
                              <p:par>
                                <p:cTn fill="hold" id="30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32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33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4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5">
                            <p:stCondLst>
                              <p:cond delay="3750"/>
                            </p:stCondLst>
                            <p:childTnLst>
                              <p:par>
                                <p:cTn fill="hold" id="36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8"/>
                                        <p:tgtEl>
                                          <p:spTgt spid="314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9">
                            <p:stCondLst>
                              <p:cond delay="4250"/>
                            </p:stCondLst>
                            <p:childTnLst>
                              <p:par>
                                <p:cTn fill="hold" grpId="0" id="40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2"/>
                                        <p:tgtEl>
                                          <p:spTgt spid="104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3">
                            <p:stCondLst>
                              <p:cond delay="4750"/>
                            </p:stCondLst>
                            <p:childTnLst>
                              <p:par>
                                <p:cTn fill="hold" grpId="0" id="44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6"/>
                                        <p:tgtEl>
                                          <p:spTgt spid="1048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7">
                            <p:stCondLst>
                              <p:cond delay="5250"/>
                            </p:stCondLst>
                            <p:childTnLst>
                              <p:par>
                                <p:cTn fill="hold" id="48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51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52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3">
                            <p:stCondLst>
                              <p:cond delay="6250"/>
                            </p:stCondLst>
                            <p:childTnLst>
                              <p:par>
                                <p:cTn fill="hold" id="54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56"/>
                                        <p:tgtEl>
                                          <p:spTgt spid="314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7">
                            <p:stCondLst>
                              <p:cond delay="6750"/>
                            </p:stCondLst>
                            <p:childTnLst>
                              <p:par>
                                <p:cTn fill="hold" grpId="0" id="58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60"/>
                                        <p:tgtEl>
                                          <p:spTgt spid="104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1">
                            <p:stCondLst>
                              <p:cond delay="7250"/>
                            </p:stCondLst>
                            <p:childTnLst>
                              <p:par>
                                <p:cTn fill="hold" grpId="0" id="62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64"/>
                                        <p:tgtEl>
                                          <p:spTgt spid="104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5">
                            <p:stCondLst>
                              <p:cond delay="7750"/>
                            </p:stCondLst>
                            <p:childTnLst>
                              <p:par>
                                <p:cTn fill="hold" id="66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68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69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7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1">
                            <p:stCondLst>
                              <p:cond delay="8750"/>
                            </p:stCondLst>
                            <p:childTnLst>
                              <p:par>
                                <p:cTn fill="hold" id="72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4"/>
                                        <p:tgtEl>
                                          <p:spTgt spid="3145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5">
                            <p:stCondLst>
                              <p:cond delay="9250"/>
                            </p:stCondLst>
                            <p:childTnLst>
                              <p:par>
                                <p:cTn fill="hold" grpId="0" id="76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8"/>
                                        <p:tgtEl>
                                          <p:spTgt spid="104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9">
                            <p:stCondLst>
                              <p:cond delay="9750"/>
                            </p:stCondLst>
                            <p:childTnLst>
                              <p:par>
                                <p:cTn fill="hold" grpId="0" id="80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82"/>
                                        <p:tgtEl>
                                          <p:spTgt spid="104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33" grpId="0" animBg="1"/>
      <p:bldP spid="1048934" grpId="0" animBg="1"/>
      <p:bldP spid="1048941" grpId="0" animBg="1"/>
      <p:bldP spid="1048942" grpId="0" animBg="1"/>
      <p:bldP spid="1048943" grpId="0"/>
      <p:bldP spid="1048944" grpId="0"/>
      <p:bldP spid="1048945" grpId="0"/>
      <p:bldP spid="1048949" grpId="0"/>
      <p:bldP spid="10489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4" name="等腰三角形 6"/>
          <p:cNvSpPr/>
          <p:nvPr/>
        </p:nvSpPr>
        <p:spPr>
          <a:xfrm>
            <a:off x="2451066" y="1875754"/>
            <a:ext cx="1452571" cy="1047756"/>
          </a:xfrm>
          <a:prstGeom prst="triangle"/>
          <a:solidFill>
            <a:srgbClr val="344F66"/>
          </a:solidFill>
          <a:ln>
            <a:noFill/>
          </a:ln>
          <a:effectLst>
            <a:reflection algn="bl" blurRad="6350" dir="5400000" endA="300" endPos="55000" rotWithShape="0" stA="50000" sy="-10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+mn-ea"/>
              <a:sym typeface="+mn-lt"/>
            </a:endParaRPr>
          </a:p>
        </p:txBody>
      </p:sp>
      <p:sp>
        <p:nvSpPr>
          <p:cNvPr id="1048955" name="梯形 2"/>
          <p:cNvSpPr/>
          <p:nvPr/>
        </p:nvSpPr>
        <p:spPr>
          <a:xfrm>
            <a:off x="1912681" y="3140832"/>
            <a:ext cx="2514834" cy="679731"/>
          </a:xfrm>
          <a:prstGeom prst="trapezoid">
            <a:avLst>
              <a:gd name="adj" fmla="val 66428"/>
            </a:avLst>
          </a:prstGeom>
          <a:solidFill>
            <a:srgbClr val="CF3B4C"/>
          </a:solidFill>
          <a:ln>
            <a:noFill/>
          </a:ln>
          <a:effectLst>
            <a:reflection algn="bl" blurRad="6350" dir="5400000" endA="300" endPos="55000" rotWithShape="0" stA="50000" sy="-10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+mn-ea"/>
              <a:sym typeface="+mn-lt"/>
            </a:endParaRPr>
          </a:p>
        </p:txBody>
      </p:sp>
      <p:sp>
        <p:nvSpPr>
          <p:cNvPr id="1048956" name="梯形 3"/>
          <p:cNvSpPr/>
          <p:nvPr/>
        </p:nvSpPr>
        <p:spPr>
          <a:xfrm>
            <a:off x="1329560" y="4037886"/>
            <a:ext cx="3722246" cy="725959"/>
          </a:xfrm>
          <a:prstGeom prst="trapezoid">
            <a:avLst>
              <a:gd name="adj" fmla="val 66428"/>
            </a:avLst>
          </a:prstGeom>
          <a:solidFill>
            <a:srgbClr val="344F66"/>
          </a:solidFill>
          <a:ln>
            <a:noFill/>
          </a:ln>
          <a:effectLst>
            <a:reflection algn="bl" blurRad="6350" dir="5400000" endA="300" endPos="55000" rotWithShape="0" stA="50000" sy="-10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+mn-ea"/>
              <a:sym typeface="+mn-lt"/>
            </a:endParaRPr>
          </a:p>
        </p:txBody>
      </p:sp>
      <p:sp>
        <p:nvSpPr>
          <p:cNvPr id="1048957" name="梯形 4"/>
          <p:cNvSpPr/>
          <p:nvPr/>
        </p:nvSpPr>
        <p:spPr>
          <a:xfrm>
            <a:off x="641307" y="4966419"/>
            <a:ext cx="5127653" cy="815243"/>
          </a:xfrm>
          <a:prstGeom prst="trapezoid">
            <a:avLst>
              <a:gd name="adj" fmla="val 66428"/>
            </a:avLst>
          </a:prstGeom>
          <a:solidFill>
            <a:srgbClr val="CF3B4C"/>
          </a:solidFill>
          <a:ln>
            <a:noFill/>
          </a:ln>
          <a:effectLst>
            <a:reflection algn="bl" blurRad="6350" dir="5400000" endA="300" endPos="55000" rotWithShape="0" stA="50000" sy="-10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+mn-ea"/>
              <a:sym typeface="+mn-lt"/>
            </a:endParaRPr>
          </a:p>
        </p:txBody>
      </p:sp>
      <p:cxnSp>
        <p:nvCxnSpPr>
          <p:cNvPr id="3145740" name="直接连接符 11"/>
          <p:cNvCxnSpPr>
            <a:cxnSpLocks/>
          </p:cNvCxnSpPr>
          <p:nvPr/>
        </p:nvCxnSpPr>
        <p:spPr>
          <a:xfrm>
            <a:off x="3846754" y="2380247"/>
            <a:ext cx="1592943" cy="0"/>
          </a:xfrm>
          <a:prstGeom prst="line"/>
          <a:ln w="12700">
            <a:solidFill>
              <a:schemeClr val="bg1">
                <a:lumMod val="65000"/>
              </a:schemeClr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58" name="TextBox 17"/>
          <p:cNvSpPr txBox="1"/>
          <p:nvPr/>
        </p:nvSpPr>
        <p:spPr>
          <a:xfrm>
            <a:off x="5561755" y="2195581"/>
            <a:ext cx="1800493" cy="369332"/>
          </a:xfrm>
          <a:prstGeom prst="rect"/>
          <a:solidFill>
            <a:srgbClr val="344F66"/>
          </a:solidFill>
        </p:spPr>
        <p:txBody>
          <a:bodyPr rtlCol="0" wrap="none">
            <a:spAutoFit/>
          </a:bodyPr>
          <a:p>
            <a:r>
              <a:rPr altLang="en-US" b="1" dirty="0" lang="zh-CN">
                <a:solidFill>
                  <a:schemeClr val="bg1"/>
                </a:solidFill>
                <a:cs typeface="+mn-ea"/>
              </a:rPr>
              <a:t>调研与需求分析</a:t>
            </a:r>
            <a:endParaRPr altLang="en-US" b="1" dirty="0" lang="zh-CN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959" name="TextBox 22"/>
          <p:cNvSpPr txBox="1"/>
          <p:nvPr/>
        </p:nvSpPr>
        <p:spPr>
          <a:xfrm>
            <a:off x="5561755" y="2511464"/>
            <a:ext cx="4198141" cy="549061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30000"/>
              </a:lnSpc>
            </a:pPr>
            <a:r>
              <a:rPr altLang="en-US" dirty="0" sz="1200" lang="zh-CN">
                <a:solidFill>
                  <a:srgbClr val="555555"/>
                </a:solidFill>
                <a:cs typeface="+mn-ea"/>
              </a:rPr>
              <a:t>查阅文献与资料、确定系统功能需求、分析可行性、撰写开题报告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cxnSp>
        <p:nvCxnSpPr>
          <p:cNvPr id="3145741" name="直接连接符 11"/>
          <p:cNvCxnSpPr>
            <a:cxnSpLocks/>
          </p:cNvCxnSpPr>
          <p:nvPr/>
        </p:nvCxnSpPr>
        <p:spPr>
          <a:xfrm>
            <a:off x="4487489" y="3255304"/>
            <a:ext cx="1592943" cy="0"/>
          </a:xfrm>
          <a:prstGeom prst="line"/>
          <a:ln w="12700">
            <a:solidFill>
              <a:schemeClr val="bg1">
                <a:lumMod val="65000"/>
              </a:schemeClr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60" name="TextBox 17"/>
          <p:cNvSpPr txBox="1"/>
          <p:nvPr/>
        </p:nvSpPr>
        <p:spPr>
          <a:xfrm>
            <a:off x="6202490" y="3070638"/>
            <a:ext cx="2262158" cy="369332"/>
          </a:xfrm>
          <a:prstGeom prst="rect"/>
          <a:solidFill>
            <a:srgbClr val="CF3B4C"/>
          </a:solidFill>
        </p:spPr>
        <p:txBody>
          <a:bodyPr rtlCol="0" wrap="none">
            <a:spAutoFit/>
          </a:bodyPr>
          <a:p>
            <a:r>
              <a:rPr altLang="en-US" b="1" dirty="0" lang="zh-CN">
                <a:solidFill>
                  <a:schemeClr val="bg1"/>
                </a:solidFill>
                <a:cs typeface="+mn-ea"/>
              </a:rPr>
              <a:t>系统设计与环境搭建</a:t>
            </a:r>
            <a:endParaRPr altLang="en-US" b="1" dirty="0" lang="zh-CN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961" name="TextBox 22"/>
          <p:cNvSpPr txBox="1"/>
          <p:nvPr/>
        </p:nvSpPr>
        <p:spPr>
          <a:xfrm>
            <a:off x="6202490" y="3386521"/>
            <a:ext cx="4198141" cy="549061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30000"/>
              </a:lnSpc>
            </a:pPr>
            <a:r>
              <a:rPr altLang="en-US" dirty="0" sz="1200" lang="zh-CN"/>
              <a:t>设计系统架构、搭建开发环境、数据库设计、</a:t>
            </a:r>
            <a:r>
              <a:rPr altLang="zh-CN" dirty="0" sz="1200" lang="en-US"/>
              <a:t>UI</a:t>
            </a:r>
            <a:r>
              <a:rPr altLang="en-US" dirty="0" sz="1200" lang="zh-CN"/>
              <a:t>原型绘制、关键技术实验验证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cxnSp>
        <p:nvCxnSpPr>
          <p:cNvPr id="3145742" name="直接连接符 11"/>
          <p:cNvCxnSpPr>
            <a:cxnSpLocks/>
          </p:cNvCxnSpPr>
          <p:nvPr/>
        </p:nvCxnSpPr>
        <p:spPr>
          <a:xfrm>
            <a:off x="5128224" y="4130361"/>
            <a:ext cx="1592943" cy="0"/>
          </a:xfrm>
          <a:prstGeom prst="line"/>
          <a:ln w="12700">
            <a:solidFill>
              <a:schemeClr val="bg1">
                <a:lumMod val="65000"/>
              </a:schemeClr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62" name="TextBox 17"/>
          <p:cNvSpPr txBox="1"/>
          <p:nvPr/>
        </p:nvSpPr>
        <p:spPr>
          <a:xfrm>
            <a:off x="6843225" y="3945695"/>
            <a:ext cx="2262158" cy="369332"/>
          </a:xfrm>
          <a:prstGeom prst="rect"/>
          <a:solidFill>
            <a:srgbClr val="344F66"/>
          </a:solidFill>
        </p:spPr>
        <p:txBody>
          <a:bodyPr rtlCol="0" wrap="none">
            <a:spAutoFit/>
          </a:bodyPr>
          <a:p>
            <a:r>
              <a:rPr altLang="en-US" b="1" dirty="0" lang="zh-CN">
                <a:solidFill>
                  <a:schemeClr val="bg1"/>
                </a:solidFill>
                <a:cs typeface="+mn-ea"/>
              </a:rPr>
              <a:t>系统实现与功能开发</a:t>
            </a:r>
            <a:endParaRPr altLang="en-US" b="1" dirty="0" lang="zh-CN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963" name="TextBox 22"/>
          <p:cNvSpPr txBox="1"/>
          <p:nvPr/>
        </p:nvSpPr>
        <p:spPr>
          <a:xfrm>
            <a:off x="6843225" y="4261578"/>
            <a:ext cx="4198141" cy="549061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30000"/>
              </a:lnSpc>
            </a:pPr>
            <a:r>
              <a:rPr altLang="en-US" dirty="0" sz="1200" lang="zh-CN"/>
              <a:t>核心模块编写、前后端功能实现、联调测试、优化性能、完善文档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cxnSp>
        <p:nvCxnSpPr>
          <p:cNvPr id="3145743" name="直接连接符 11"/>
          <p:cNvCxnSpPr>
            <a:cxnSpLocks/>
          </p:cNvCxnSpPr>
          <p:nvPr/>
        </p:nvCxnSpPr>
        <p:spPr>
          <a:xfrm>
            <a:off x="5768960" y="5005419"/>
            <a:ext cx="1592943" cy="0"/>
          </a:xfrm>
          <a:prstGeom prst="line"/>
          <a:ln w="12700">
            <a:solidFill>
              <a:schemeClr val="bg1">
                <a:lumMod val="65000"/>
              </a:schemeClr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64" name="TextBox 17"/>
          <p:cNvSpPr txBox="1"/>
          <p:nvPr/>
        </p:nvSpPr>
        <p:spPr>
          <a:xfrm>
            <a:off x="7483961" y="4820753"/>
            <a:ext cx="2262158" cy="369332"/>
          </a:xfrm>
          <a:prstGeom prst="rect"/>
          <a:solidFill>
            <a:srgbClr val="CF3B4C"/>
          </a:solidFill>
        </p:spPr>
        <p:txBody>
          <a:bodyPr rtlCol="0" wrap="none">
            <a:spAutoFit/>
          </a:bodyPr>
          <a:p>
            <a:r>
              <a:rPr altLang="en-US" b="1" dirty="0" lang="zh-CN">
                <a:solidFill>
                  <a:schemeClr val="bg1"/>
                </a:solidFill>
                <a:cs typeface="+mn-ea"/>
              </a:rPr>
              <a:t>测试完善与论文撰写</a:t>
            </a:r>
            <a:endParaRPr altLang="en-US" b="1" dirty="0" lang="zh-CN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965" name="TextBox 22"/>
          <p:cNvSpPr txBox="1"/>
          <p:nvPr/>
        </p:nvSpPr>
        <p:spPr>
          <a:xfrm>
            <a:off x="7483961" y="5136636"/>
            <a:ext cx="4198141" cy="322580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30000"/>
              </a:lnSpc>
            </a:pPr>
            <a:r>
              <a:rPr altLang="en-US" dirty="0" sz="1200" lang="zh-CN"/>
              <a:t>系统测试与修复 </a:t>
            </a:r>
            <a:r>
              <a:rPr altLang="zh-CN" dirty="0" sz="1200" lang="en-US"/>
              <a:t>BUG</a:t>
            </a:r>
            <a:r>
              <a:rPr altLang="en-US" dirty="0" sz="1200" lang="zh-CN"/>
              <a:t>、撰写论文、准备答辩材料、最终演示</a:t>
            </a:r>
            <a:endParaRPr altLang="en-US" dirty="0" sz="1200" lang="zh-CN">
              <a:solidFill>
                <a:srgbClr val="555555"/>
              </a:solidFill>
              <a:cs typeface="+mn-ea"/>
              <a:sym typeface="+mn-lt"/>
            </a:endParaRPr>
          </a:p>
        </p:txBody>
      </p:sp>
      <p:sp>
        <p:nvSpPr>
          <p:cNvPr id="1048966" name="TextBox 42"/>
          <p:cNvSpPr txBox="1"/>
          <p:nvPr/>
        </p:nvSpPr>
        <p:spPr>
          <a:xfrm>
            <a:off x="1311470" y="315858"/>
            <a:ext cx="3649369" cy="430887"/>
          </a:xfrm>
          <a:prstGeom prst="rect"/>
          <a:noFill/>
          <a:ln>
            <a:noFill/>
          </a:ln>
        </p:spPr>
        <p:txBody>
          <a:bodyPr anchor="t" anchorCtr="0" bIns="0" compatLnSpc="1" lIns="0" numCol="1" rIns="0" tIns="0" vert="horz" wrap="square">
            <a:spAutoFit/>
          </a:bodyPr>
          <a:lstStyle>
            <a:defPPr>
              <a:defRPr lang="zh-CN"/>
            </a:defPPr>
            <a:lvl1pPr defTabSz="914400" eaLnBrk="1" hangingPunct="1" indent="0" latinLnBrk="0" lvl="0" marL="0" marR="0">
              <a:lnSpc>
                <a:spcPct val="100000"/>
              </a:lnSpc>
              <a:buClrTx/>
              <a:buSzTx/>
              <a:buFontTx/>
              <a:buNone/>
              <a:defRPr baseline="0" b="1" cap="none" sz="2800" i="0" kumimoji="0" normalizeH="0" strike="noStrike" u="none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4.2 </a:t>
            </a:r>
            <a:r>
              <a:rPr altLang="en-US" b="0" dirty="0" lang="zh-CN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进度安排</a:t>
            </a:r>
            <a:r>
              <a:rPr altLang="zh-CN" b="0" dirty="0" lang="en-US">
                <a:solidFill>
                  <a:srgbClr val="444444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endParaRPr altLang="en-US" b="0" dirty="0" lang="zh-CN">
              <a:solidFill>
                <a:srgbClr val="444444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967" name="文本框 19"/>
          <p:cNvSpPr txBox="1"/>
          <p:nvPr/>
        </p:nvSpPr>
        <p:spPr>
          <a:xfrm>
            <a:off x="7483961" y="2163800"/>
            <a:ext cx="1361459" cy="369332"/>
          </a:xfrm>
          <a:prstGeom prst="rect"/>
          <a:noFill/>
        </p:spPr>
        <p:txBody>
          <a:bodyPr wrap="square">
            <a:spAutoFit/>
          </a:bodyPr>
          <a:p>
            <a:r>
              <a:rPr altLang="en-US" dirty="0" lang="zh-CN"/>
              <a:t>第</a:t>
            </a:r>
            <a:r>
              <a:rPr altLang="zh-CN" dirty="0" lang="en-US"/>
              <a:t>1—3</a:t>
            </a:r>
            <a:r>
              <a:rPr altLang="en-US" dirty="0" lang="zh-CN"/>
              <a:t>周</a:t>
            </a:r>
          </a:p>
        </p:txBody>
      </p:sp>
      <p:sp>
        <p:nvSpPr>
          <p:cNvPr id="1048968" name="文本框 21"/>
          <p:cNvSpPr txBox="1"/>
          <p:nvPr/>
        </p:nvSpPr>
        <p:spPr>
          <a:xfrm>
            <a:off x="8586706" y="3073378"/>
            <a:ext cx="1361459" cy="369332"/>
          </a:xfrm>
          <a:prstGeom prst="rect"/>
          <a:noFill/>
        </p:spPr>
        <p:txBody>
          <a:bodyPr wrap="square">
            <a:spAutoFit/>
          </a:bodyPr>
          <a:p>
            <a:r>
              <a:rPr altLang="en-US" dirty="0" lang="zh-CN"/>
              <a:t>第</a:t>
            </a:r>
            <a:r>
              <a:rPr altLang="zh-CN" dirty="0" lang="en-US"/>
              <a:t>4—7</a:t>
            </a:r>
            <a:r>
              <a:rPr altLang="en-US" dirty="0" lang="zh-CN"/>
              <a:t>周</a:t>
            </a:r>
          </a:p>
        </p:txBody>
      </p:sp>
      <p:sp>
        <p:nvSpPr>
          <p:cNvPr id="1048969" name="文本框 22"/>
          <p:cNvSpPr txBox="1"/>
          <p:nvPr/>
        </p:nvSpPr>
        <p:spPr>
          <a:xfrm>
            <a:off x="9823927" y="4820753"/>
            <a:ext cx="1595459" cy="369332"/>
          </a:xfrm>
          <a:prstGeom prst="rect"/>
          <a:noFill/>
        </p:spPr>
        <p:txBody>
          <a:bodyPr wrap="square">
            <a:spAutoFit/>
          </a:bodyPr>
          <a:p>
            <a:r>
              <a:rPr altLang="en-US" dirty="0" lang="zh-CN"/>
              <a:t>第</a:t>
            </a:r>
            <a:r>
              <a:rPr altLang="zh-CN" dirty="0" lang="en-US"/>
              <a:t>13—15</a:t>
            </a:r>
            <a:r>
              <a:rPr altLang="en-US" dirty="0" lang="zh-CN"/>
              <a:t>周</a:t>
            </a:r>
          </a:p>
        </p:txBody>
      </p:sp>
      <p:sp>
        <p:nvSpPr>
          <p:cNvPr id="1048970" name="文本框 23"/>
          <p:cNvSpPr txBox="1"/>
          <p:nvPr/>
        </p:nvSpPr>
        <p:spPr>
          <a:xfrm>
            <a:off x="9227441" y="3913914"/>
            <a:ext cx="1361459" cy="369332"/>
          </a:xfrm>
          <a:prstGeom prst="rect"/>
          <a:noFill/>
        </p:spPr>
        <p:txBody>
          <a:bodyPr wrap="square">
            <a:spAutoFit/>
          </a:bodyPr>
          <a:p>
            <a:r>
              <a:rPr altLang="en-US" dirty="0" lang="zh-CN"/>
              <a:t>第</a:t>
            </a:r>
            <a:r>
              <a:rPr altLang="zh-CN" dirty="0" lang="en-US"/>
              <a:t>8—12</a:t>
            </a:r>
            <a:r>
              <a:rPr altLang="en-US" dirty="0" lang="zh-CN"/>
              <a:t>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2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5"/>
                                        <p:tgtEl>
                                          <p:spTgt spid="1048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6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48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0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48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3"/>
                                        <p:tgtEl>
                                          <p:spTgt spid="1048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4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7"/>
                                        <p:tgtEl>
                                          <p:spTgt spid="1048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8">
                            <p:stCondLst>
                              <p:cond delay="1000"/>
                            </p:stCondLst>
                            <p:childTnLst>
                              <p:par>
                                <p:cTn fill="hold" id="29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1"/>
                                        <p:tgtEl>
                                          <p:spTgt spid="3145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2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4"/>
                                        <p:tgtEl>
                                          <p:spTgt spid="3145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5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7"/>
                                        <p:tgtEl>
                                          <p:spTgt spid="314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8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0"/>
                                        <p:tgtEl>
                                          <p:spTgt spid="3145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1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42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5"/>
                                        <p:tgtEl>
                                          <p:spTgt spid="1048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46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8"/>
                                        <p:tgtEl>
                                          <p:spTgt spid="1048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9"/>
                                        <p:tgtEl>
                                          <p:spTgt spid="1048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50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2"/>
                                        <p:tgtEl>
                                          <p:spTgt spid="104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3"/>
                                        <p:tgtEl>
                                          <p:spTgt spid="104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54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7"/>
                                        <p:tgtEl>
                                          <p:spTgt spid="104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8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59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61"/>
                                        <p:tgtEl>
                                          <p:spTgt spid="104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62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64"/>
                                        <p:tgtEl>
                                          <p:spTgt spid="104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65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67"/>
                                        <p:tgtEl>
                                          <p:spTgt spid="104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68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0"/>
                                        <p:tgtEl>
                                          <p:spTgt spid="104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54" grpId="0" animBg="1"/>
      <p:bldP spid="1048955" grpId="0" animBg="1"/>
      <p:bldP spid="1048956" grpId="0" animBg="1"/>
      <p:bldP spid="1048957" grpId="0" animBg="1"/>
      <p:bldP spid="1048958" grpId="0" animBg="1"/>
      <p:bldP spid="1048959" grpId="0"/>
      <p:bldP spid="1048960" grpId="0" animBg="1"/>
      <p:bldP spid="1048961" grpId="0"/>
      <p:bldP spid="1048962" grpId="0" animBg="1"/>
      <p:bldP spid="1048963" grpId="0"/>
      <p:bldP spid="1048964" grpId="0" animBg="1"/>
      <p:bldP spid="1048965" grpId="0"/>
      <p:bldP spid="104896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0" name="图片 3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l="6659" t="6677" r="6720" b="6693"/>
          <a:stretch>
            <a:fillRect/>
          </a:stretch>
        </p:blipFill>
        <p:spPr>
          <a:xfrm>
            <a:off x="-1" y="0"/>
            <a:ext cx="12192001" cy="6858000"/>
          </a:xfrm>
          <a:prstGeom prst="rect"/>
        </p:spPr>
      </p:pic>
      <p:pic>
        <p:nvPicPr>
          <p:cNvPr id="2097201" name="图片 6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2" cstate="print"/>
          <a:srcRect l="37397" t="24071" r="37290" b="24627"/>
          <a:stretch>
            <a:fillRect/>
          </a:stretch>
        </p:blipFill>
        <p:spPr>
          <a:xfrm>
            <a:off x="5359400" y="536575"/>
            <a:ext cx="1473200" cy="1679326"/>
          </a:xfrm>
          <a:prstGeom prst="rect"/>
        </p:spPr>
      </p:pic>
      <p:sp>
        <p:nvSpPr>
          <p:cNvPr id="1048971" name="文本框 16"/>
          <p:cNvSpPr txBox="1"/>
          <p:nvPr/>
        </p:nvSpPr>
        <p:spPr>
          <a:xfrm>
            <a:off x="1545219" y="2509773"/>
            <a:ext cx="9101555" cy="1069340"/>
          </a:xfrm>
          <a:prstGeom prst="rect"/>
          <a:noFill/>
        </p:spPr>
        <p:txBody>
          <a:bodyPr rtlCol="0" wrap="square">
            <a:spAutoFit/>
          </a:bodyPr>
          <a:p>
            <a:pPr algn="dist"/>
            <a:r>
              <a:rPr altLang="en-US" b="1" dirty="0" sz="6600" lang="zh-CN">
                <a:solidFill>
                  <a:srgbClr val="484848"/>
                </a:solidFill>
                <a:cs typeface="+mn-ea"/>
                <a:sym typeface="+mn-lt"/>
              </a:rPr>
              <a:t>恳请各位老师批评指正</a:t>
            </a:r>
          </a:p>
        </p:txBody>
      </p:sp>
      <p:sp>
        <p:nvSpPr>
          <p:cNvPr id="1048972" name="文本框 17"/>
          <p:cNvSpPr txBox="1"/>
          <p:nvPr/>
        </p:nvSpPr>
        <p:spPr>
          <a:xfrm>
            <a:off x="2477070" y="4026902"/>
            <a:ext cx="7237857" cy="400110"/>
          </a:xfrm>
          <a:prstGeom prst="rect"/>
          <a:noFill/>
        </p:spPr>
        <p:txBody>
          <a:bodyPr rtlCol="0" wrap="square">
            <a:spAutoFit/>
          </a:bodyPr>
          <a:p>
            <a:pPr algn="dist"/>
            <a:r>
              <a:rPr altLang="zh-CN" dirty="0" sz="2000" lang="en-US">
                <a:solidFill>
                  <a:srgbClr val="484848"/>
                </a:solidFill>
                <a:cs typeface="+mn-ea"/>
              </a:rPr>
              <a:t>PLEASE GIVE ME AS MUCH CRITICISM AS POSSIBLE</a:t>
            </a:r>
            <a:endParaRPr altLang="en-US" dirty="0" sz="2000" lang="zh-CN">
              <a:solidFill>
                <a:srgbClr val="484848"/>
              </a:solidFill>
              <a:cs typeface="+mn-ea"/>
            </a:endParaRPr>
          </a:p>
        </p:txBody>
      </p:sp>
      <p:sp>
        <p:nvSpPr>
          <p:cNvPr id="1048973" name="文本框 18"/>
          <p:cNvSpPr txBox="1"/>
          <p:nvPr/>
        </p:nvSpPr>
        <p:spPr>
          <a:xfrm>
            <a:off x="4155731" y="4743276"/>
            <a:ext cx="3880529" cy="954107"/>
          </a:xfrm>
          <a:prstGeom prst="rect"/>
          <a:noFill/>
        </p:spPr>
        <p:txBody>
          <a:bodyPr rtlCol="0" wrap="square">
            <a:spAutoFit/>
          </a:bodyPr>
          <a:p>
            <a:pPr algn="dist"/>
            <a:r>
              <a:rPr altLang="en-US" dirty="0" sz="2800" lang="zh-CN">
                <a:solidFill>
                  <a:srgbClr val="484848"/>
                </a:solidFill>
                <a:cs typeface="+mn-ea"/>
                <a:sym typeface="+mn-lt"/>
              </a:rPr>
              <a:t>计算机科学学院 软工</a:t>
            </a:r>
            <a:r>
              <a:rPr altLang="zh-CN" dirty="0" sz="2800" lang="en-US">
                <a:solidFill>
                  <a:srgbClr val="484848"/>
                </a:solidFill>
                <a:cs typeface="+mn-ea"/>
                <a:sym typeface="+mn-lt"/>
              </a:rPr>
              <a:t>12202</a:t>
            </a:r>
            <a:r>
              <a:rPr altLang="en-US" dirty="0" sz="2800" lang="zh-CN">
                <a:solidFill>
                  <a:srgbClr val="484848"/>
                </a:solidFill>
                <a:cs typeface="+mn-ea"/>
                <a:sym typeface="+mn-lt"/>
              </a:rPr>
              <a:t>班</a:t>
            </a:r>
          </a:p>
        </p:txBody>
      </p:sp>
      <p:sp>
        <p:nvSpPr>
          <p:cNvPr id="1048974" name="文本框 19"/>
          <p:cNvSpPr txBox="1"/>
          <p:nvPr/>
        </p:nvSpPr>
        <p:spPr>
          <a:xfrm>
            <a:off x="4451878" y="6013245"/>
            <a:ext cx="1717900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1400" lang="zh-CN">
                <a:solidFill>
                  <a:srgbClr val="484848"/>
                </a:solidFill>
                <a:cs typeface="+mn-ea"/>
                <a:sym typeface="+mn-lt"/>
              </a:rPr>
              <a:t>答辩人：吴奇迅</a:t>
            </a:r>
          </a:p>
        </p:txBody>
      </p:sp>
      <p:sp>
        <p:nvSpPr>
          <p:cNvPr id="1048975" name="文本框 20"/>
          <p:cNvSpPr txBox="1"/>
          <p:nvPr/>
        </p:nvSpPr>
        <p:spPr>
          <a:xfrm>
            <a:off x="7162416" y="6013245"/>
            <a:ext cx="1282465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dirty="0" sz="1400" lang="zh-CN">
                <a:solidFill>
                  <a:srgbClr val="484848"/>
                </a:solidFill>
                <a:cs typeface="+mn-ea"/>
                <a:sym typeface="+mn-lt"/>
              </a:rPr>
              <a:t>导师：陈应霞</a:t>
            </a:r>
          </a:p>
        </p:txBody>
      </p:sp>
      <p:pic>
        <p:nvPicPr>
          <p:cNvPr id="2097202" name="图片 22"/>
          <p:cNvPicPr>
            <a:picLocks noChangeAspect="1"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6579442" y="5888366"/>
            <a:ext cx="769973" cy="433059"/>
          </a:xfrm>
          <a:prstGeom prst="rect"/>
        </p:spPr>
      </p:pic>
      <p:pic>
        <p:nvPicPr>
          <p:cNvPr id="2097203" name="图片 24"/>
          <p:cNvPicPr>
            <a:picLocks noChangeAspect="1"/>
          </p:cNvPicPr>
          <p:nvPr/>
        </p:nvPicPr>
        <p:blipFill>
          <a:blip xmlns:r="http://schemas.openxmlformats.org/officeDocument/2006/relationships" r:embed="rId4" cstate="print"/>
          <a:stretch>
            <a:fillRect/>
          </a:stretch>
        </p:blipFill>
        <p:spPr>
          <a:xfrm>
            <a:off x="3803948" y="5888366"/>
            <a:ext cx="769257" cy="432656"/>
          </a:xfrm>
          <a:prstGeom prst="rect"/>
        </p:spPr>
      </p:pic>
      <p:grpSp>
        <p:nvGrpSpPr>
          <p:cNvPr id="150" name="组合 1"/>
          <p:cNvGrpSpPr/>
          <p:nvPr/>
        </p:nvGrpSpPr>
        <p:grpSpPr>
          <a:xfrm>
            <a:off x="-1" y="3794229"/>
            <a:ext cx="12195977" cy="71730"/>
            <a:chOff x="-1" y="3794229"/>
            <a:chExt cx="12195977" cy="71730"/>
          </a:xfrm>
        </p:grpSpPr>
        <p:sp>
          <p:nvSpPr>
            <p:cNvPr id="1048976" name="矩形 8"/>
            <p:cNvSpPr/>
            <p:nvPr/>
          </p:nvSpPr>
          <p:spPr>
            <a:xfrm>
              <a:off x="-1" y="3794229"/>
              <a:ext cx="1316485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977" name="矩形 9"/>
            <p:cNvSpPr/>
            <p:nvPr/>
          </p:nvSpPr>
          <p:spPr>
            <a:xfrm>
              <a:off x="1304630" y="3794229"/>
              <a:ext cx="1572388" cy="71730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978" name="矩形 25"/>
            <p:cNvSpPr/>
            <p:nvPr/>
          </p:nvSpPr>
          <p:spPr>
            <a:xfrm>
              <a:off x="2877018" y="3794229"/>
              <a:ext cx="1316485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979" name="矩形 26"/>
            <p:cNvSpPr/>
            <p:nvPr/>
          </p:nvSpPr>
          <p:spPr>
            <a:xfrm>
              <a:off x="4181649" y="3794229"/>
              <a:ext cx="1572388" cy="71730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980" name="矩形 27"/>
            <p:cNvSpPr/>
            <p:nvPr/>
          </p:nvSpPr>
          <p:spPr>
            <a:xfrm>
              <a:off x="5754037" y="3794229"/>
              <a:ext cx="1316485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981" name="矩形 28"/>
            <p:cNvSpPr/>
            <p:nvPr/>
          </p:nvSpPr>
          <p:spPr>
            <a:xfrm>
              <a:off x="7058668" y="3794229"/>
              <a:ext cx="1572388" cy="71730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982" name="矩形 29"/>
            <p:cNvSpPr/>
            <p:nvPr/>
          </p:nvSpPr>
          <p:spPr>
            <a:xfrm>
              <a:off x="8631056" y="3794229"/>
              <a:ext cx="1316485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983" name="矩形 30"/>
            <p:cNvSpPr/>
            <p:nvPr/>
          </p:nvSpPr>
          <p:spPr>
            <a:xfrm>
              <a:off x="9935687" y="3794229"/>
              <a:ext cx="1572388" cy="71730"/>
            </a:xfrm>
            <a:prstGeom prst="rect"/>
            <a:solidFill>
              <a:srgbClr val="C70E2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  <p:sp>
          <p:nvSpPr>
            <p:cNvPr id="1048984" name="矩形 31"/>
            <p:cNvSpPr/>
            <p:nvPr/>
          </p:nvSpPr>
          <p:spPr>
            <a:xfrm>
              <a:off x="11508076" y="3794229"/>
              <a:ext cx="687900" cy="71730"/>
            </a:xfrm>
            <a:prstGeom prst="rect"/>
            <a:solidFill>
              <a:srgbClr val="06284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>
                <a:cs typeface="+mn-ea"/>
                <a:sym typeface="+mn-lt"/>
              </a:endParaRPr>
            </a:p>
          </p:txBody>
        </p:sp>
      </p:grpSp>
      <p:pic>
        <p:nvPicPr>
          <p:cNvPr id="2097204" name="图片 5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1124333" y="118670"/>
            <a:ext cx="949638" cy="949638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2097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2097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209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1" nodeType="afterEffect" presetClass="entr" presetID="41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7" tmFilter="0,0; .5, 1; 1, 1"/>
                                        <p:tgtEl>
                                          <p:spTgt spid="104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8">
                            <p:stCondLst>
                              <p:cond delay="1450"/>
                            </p:stCondLst>
                            <p:childTnLst>
                              <p:par>
                                <p:cTn fill="hold" id="19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1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>
                            <p:stCondLst>
                              <p:cond delay="1950"/>
                            </p:stCondLst>
                            <p:childTnLst>
                              <p:par>
                                <p:cTn fill="hold" grpId="0" id="23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5"/>
                                        <p:tgtEl>
                                          <p:spTgt spid="104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6">
                            <p:stCondLst>
                              <p:cond delay="2450"/>
                            </p:stCondLst>
                            <p:childTnLst>
                              <p:par>
                                <p:cTn fill="hold" grpId="0" id="27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9"/>
                                        <p:tgtEl>
                                          <p:spTgt spid="1048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1">
                            <p:stCondLst>
                              <p:cond delay="2950"/>
                            </p:stCondLst>
                            <p:childTnLst>
                              <p:par>
                                <p:cTn fill="hold" grpId="0" id="32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4"/>
                                        <p:tgtEl>
                                          <p:spTgt spid="1048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5"/>
                                        <p:tgtEl>
                                          <p:spTgt spid="1048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6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8"/>
                                        <p:tgtEl>
                                          <p:spTgt spid="2097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9"/>
                                        <p:tgtEl>
                                          <p:spTgt spid="2097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0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2"/>
                                        <p:tgtEl>
                                          <p:spTgt spid="2097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2097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44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6"/>
                                        <p:tgtEl>
                                          <p:spTgt spid="1048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7"/>
                                        <p:tgtEl>
                                          <p:spTgt spid="1048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71" grpId="0"/>
      <p:bldP spid="1048972" grpId="0"/>
      <p:bldP spid="1048973" grpId="0"/>
      <p:bldP spid="1048974" grpId="0"/>
      <p:bldP spid="104897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4qj3hy4w">
      <a:majorFont>
        <a:latin typeface="Microsoft YaHei" panose="020F0302020204030204"/>
        <a:ea typeface="Microsoft YaHei"/>
        <a:cs typeface=""/>
      </a:majorFont>
      <a:minorFont>
        <a:latin typeface="Microsoft YaHei" panose="020F0502020204030204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演示文稿</dc:title>
  <dc:creator>Haibara Ai</dc:creator>
  <cp:lastModifiedBy>Haibara Ai</cp:lastModifiedBy>
  <dcterms:created xsi:type="dcterms:W3CDTF">2019-03-06T13:23:18Z</dcterms:created>
  <dcterms:modified xsi:type="dcterms:W3CDTF">2025-12-11T01:05:44Z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117442fae5fe4959aab6766685ac69c7_22</vt:lpwstr>
  </property>
</Properties>
</file>